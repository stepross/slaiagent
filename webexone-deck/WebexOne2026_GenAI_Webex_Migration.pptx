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237" r:id="rId4"/>
  </p:sldMasterIdLst>
  <p:notesMasterIdLst>
    <p:notesMasterId r:id="rId21"/>
  </p:notesMasterIdLst>
  <p:sldIdLst>
    <p:sldId id="256" r:id="rId20"/>
    <p:sldId id="257" r:id="rId19"/>
    <p:sldId id="258" r:id="rId18"/>
    <p:sldId id="259" r:id="rId17"/>
    <p:sldId id="260" r:id="rId16"/>
    <p:sldId id="261" r:id="rId15"/>
    <p:sldId id="262" r:id="rId14"/>
    <p:sldId id="263" r:id="rId13"/>
    <p:sldId id="264" r:id="rId12"/>
    <p:sldId id="265" r:id="rId11"/>
    <p:sldId id="266" r:id="rId10"/>
    <p:sldId id="267" r:id="rId9"/>
    <p:sldId id="268" r:id="rId8"/>
    <p:sldId id="269" r:id="rId7"/>
    <p:sldId id="270" r:id="rId6"/>
    <p:sldId id="271" r:id="rId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  <p:sldId id="282" r:id="rId56"/>
    <p:sldId id="283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292" r:id="rId66"/>
    <p:sldId id="293" r:id="rId67"/>
    <p:sldId id="294" r:id="rId68"/>
  </p:sldIdLst>
  <p:sldSz cx="12192000" cy="6858000"/>
  <p:notesSz cx="6858000" cy="9144000"/>
  <p:embeddedFontLst>
    <p:embeddedFont>
      <p:font typeface="CiscoSansTT" panose="020B0503020201020303" pitchFamily="34" charset="0"/>
      <p:regular r:id="rId22"/>
      <p:bold r:id="rId23"/>
      <p:italic r:id="rId24"/>
      <p:boldItalic r:id="rId25"/>
    </p:embeddedFont>
    <p:embeddedFont>
      <p:font typeface="CiscoSansTT Light" panose="020B0503020201020303" pitchFamily="34" charset="0"/>
      <p:regular r:id="rId26"/>
      <p:italic r:id="rId27"/>
    </p:embeddedFont>
    <p:embeddedFont>
      <p:font typeface="Inter" panose="02000503000000020004" pitchFamily="2" charset="0"/>
      <p:regular r:id="rId28"/>
      <p:bold r:id="rId29"/>
      <p:italic r:id="rId30"/>
      <p:boldItalic r:id="rId31"/>
    </p:embeddedFont>
    <p:embeddedFont>
      <p:font typeface="Inter Light" panose="02000403000000020004" pitchFamily="2" charset="0"/>
      <p:regular r:id="rId32"/>
      <p:italic r:id="rId33"/>
    </p:embeddedFont>
    <p:embeddedFont>
      <p:font typeface="Inter Medium" panose="02000603000000020004" pitchFamily="2" charset="0"/>
      <p:regular r:id="rId34"/>
      <p:italic r:id="rId35"/>
    </p:embeddedFont>
    <p:embeddedFont>
      <p:font typeface="Inter Semi Bold" panose="02000503000000020004" pitchFamily="2" charset="0"/>
      <p:regular r:id="rId36"/>
      <p:bold r:id="rId37"/>
      <p:italic r:id="rId38"/>
      <p:boldItalic r:id="rId39"/>
    </p:embeddedFont>
    <p:embeddedFont>
      <p:font typeface="MS PGothic" panose="020B0600070205080204" pitchFamily="34" charset="-128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bexOne 2026 PowerPoint Light Template" id="{5885CD09-E5F4-40A1-B261-A4CD8C7D6290}">
          <p14:sldIdLst>
            <p14:sldId id="2147482598"/>
            <p14:sldId id="2147482600"/>
          </p14:sldIdLst>
        </p14:section>
        <p14:section name="About the templates" id="{E2E77393-D283-4E8B-99DA-7516125BB0CE}">
          <p14:sldIdLst>
            <p14:sldId id="2147482571"/>
            <p14:sldId id="2147482570"/>
            <p14:sldId id="2147482654"/>
          </p14:sldIdLst>
        </p14:section>
        <p14:section name="Promo Slides" id="{A717AA93-501B-4EAE-A76D-10CF7C8B99E0}">
          <p14:sldIdLst>
            <p14:sldId id="2147482601"/>
          </p14:sldIdLst>
        </p14:section>
        <p14:section name="Template Slides" id="{C1BCE04F-6A4B-4D61-8F5F-B258FADF4936}">
          <p14:sldIdLst>
            <p14:sldId id="2147482574"/>
            <p14:sldId id="2147482635"/>
            <p14:sldId id="2147482616"/>
            <p14:sldId id="2147482657"/>
            <p14:sldId id="2147482625"/>
          </p14:sldIdLst>
        </p14:section>
        <p14:section name="Section Slides" id="{5E1F1D9B-F022-45ED-A813-8E2898F21F12}">
          <p14:sldIdLst>
            <p14:sldId id="2147482584"/>
            <p14:sldId id="2147482580"/>
          </p14:sldIdLst>
        </p14:section>
        <p14:section name="Resources" id="{81B83DB4-231E-477D-A7CC-2EEADDFBC705}">
          <p14:sldIdLst>
            <p14:sldId id="2147482583"/>
            <p14:sldId id="2147482586"/>
            <p14:sldId id="2147482581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9DE2"/>
    <a:srgbClr val="7F7F7F"/>
    <a:srgbClr val="EB4651"/>
    <a:srgbClr val="07182D"/>
    <a:srgbClr val="45991F"/>
    <a:srgbClr val="16BDEB"/>
    <a:srgbClr val="6A7481"/>
    <a:srgbClr val="525E6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7.xml"/><Relationship Id="rId15" Type="http://schemas.openxmlformats.org/officeDocument/2006/relationships/slide" Target="slides/slide6.xml"/><Relationship Id="rId16" Type="http://schemas.openxmlformats.org/officeDocument/2006/relationships/slide" Target="slides/slide5.xml"/><Relationship Id="rId17" Type="http://schemas.openxmlformats.org/officeDocument/2006/relationships/slide" Target="slides/slide4.xml"/><Relationship Id="rId18" Type="http://schemas.openxmlformats.org/officeDocument/2006/relationships/slide" Target="slides/slide3.xml"/><Relationship Id="rId19" Type="http://schemas.openxmlformats.org/officeDocument/2006/relationships/slide" Target="slides/slide2.xml"/><Relationship Id="rId20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font" Target="fonts/font13.fntdata"/><Relationship Id="rId35" Type="http://schemas.openxmlformats.org/officeDocument/2006/relationships/font" Target="fonts/font14.fntdata"/><Relationship Id="rId36" Type="http://schemas.openxmlformats.org/officeDocument/2006/relationships/font" Target="fonts/font15.fntdata"/><Relationship Id="rId37" Type="http://schemas.openxmlformats.org/officeDocument/2006/relationships/font" Target="fonts/font16.fntdata"/><Relationship Id="rId38" Type="http://schemas.openxmlformats.org/officeDocument/2006/relationships/font" Target="fonts/font17.fntdata"/><Relationship Id="rId39" Type="http://schemas.openxmlformats.org/officeDocument/2006/relationships/font" Target="fonts/font18.fntdata"/><Relationship Id="rId40" Type="http://schemas.openxmlformats.org/officeDocument/2006/relationships/font" Target="fonts/font19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8/10/relationships/authors" Target="authors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Relationship Id="rId51" Type="http://schemas.openxmlformats.org/officeDocument/2006/relationships/slide" Target="slides/slide22.xml"/><Relationship Id="rId52" Type="http://schemas.openxmlformats.org/officeDocument/2006/relationships/slide" Target="slides/slide23.xml"/><Relationship Id="rId53" Type="http://schemas.openxmlformats.org/officeDocument/2006/relationships/slide" Target="slides/slide24.xml"/><Relationship Id="rId54" Type="http://schemas.openxmlformats.org/officeDocument/2006/relationships/slide" Target="slides/slide25.xml"/><Relationship Id="rId55" Type="http://schemas.openxmlformats.org/officeDocument/2006/relationships/slide" Target="slides/slide26.xml"/><Relationship Id="rId56" Type="http://schemas.openxmlformats.org/officeDocument/2006/relationships/slide" Target="slides/slide27.xml"/><Relationship Id="rId57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slide" Target="slides/slide38.xml"/><Relationship Id="rId68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Walk-in slide. Leave this up while the room fills.</a:t>
            </a:r>
          </a:p>
          <a:p>
            <a:r>
              <a:t>Optional: play the session title and your name on the confidence 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 is about moving five entrenched on-prem Cisco workloads - UCCX, CUCM Hunt Pilots, Unity Connection, CUCM dial plans, and Collaboration Endpoints - into their cloud-native Webex counterparts.</a:t>
            </a:r>
          </a:p>
          <a:p>
            <a:r>
              <a:t>The twist: AI shows up twice. First as the engineering copilot that parses and translates legacy configuration. Then as the destination - Webex AI Agent, AI Receptionist, Voicemail AI Transcription, and the Webex AI Assistant.</a:t>
            </a:r>
          </a:p>
          <a:p>
            <a:r>
              <a:t>Attendees leave with prompt-driven frameworks and blueprints they can use on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stops:</a:t>
            </a:r>
          </a:p>
          <a:p>
            <a:r>
              <a:t>1. Why the legacy stack is holding us back.</a:t>
            </a:r>
          </a:p>
          <a:p>
            <a:r>
              <a:t>2. The two roles AI plays - during the migration and after it.</a:t>
            </a:r>
          </a:p>
          <a:p>
            <a:r>
              <a:t>3. The five-step method: Extract, Sanitize, Analyze, Transform, Validate.</a:t>
            </a:r>
          </a:p>
          <a:p>
            <a:r>
              <a:t>4. Five migration plays: UCCX, Hunt Pilots, Unity, Dial Plan, Devices.</a:t>
            </a:r>
          </a:p>
          <a:p>
            <a:r>
              <a:t>5. Guardrails that keep AI honest, and the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message of this session. A like-for-like lift of a 15-year-old IVR tree or a tangle of Hunt Pilots just moves technical debt to the cloud.</a:t>
            </a:r>
          </a:p>
          <a:p>
            <a:r>
              <a:t>The migration is the moment to modernize the customer and employee experience - and to land on Cisco's native AI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architectures span five rigid domains. Extracting routing logic from them and adapting it to cloud formats is slow and error-prone:</a:t>
            </a:r>
          </a:p>
          <a:p>
            <a:r>
              <a:t>- UCCX: Application Editor Format (.aef) scripts are Java-serialized - standard text tools can't read them.</a:t>
            </a:r>
          </a:p>
          <a:p>
            <a:r>
              <a:t>- CUCM Hunt Pilots: years of "dead" pilots, hunt lists and line groups nobody owns.</a:t>
            </a:r>
          </a:p>
          <a:p>
            <a:r>
              <a:t>- Unity Connection: multi-level DTMF call-handler trees, exported as massive CSVs.</a:t>
            </a:r>
          </a:p>
          <a:p>
            <a:r>
              <a:t>- CUCM dial plan: partitions, calling search spaces, route patterns and shared lines - traditionally managed through SQL or BAT.</a:t>
            </a:r>
          </a:p>
          <a:p>
            <a:r>
              <a:t>- CE endpoints: JavaScript macros and UI Extensions written against CE 9.x.</a:t>
            </a:r>
          </a:p>
          <a:p>
            <a:r>
              <a:t>Manual porting stifles agility and delays cloud adoption. That's the 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central theme: AI plays two distinct roles.</a:t>
            </a:r>
          </a:p>
          <a:p>
            <a:r>
              <a:t>Role 1 - AI during the transition: LLMs analyze configuration exports, summarize routing behavior, discover dependencies, detect conflicts, recommend mappings and generate draft artifacts (CSV, JSON, code, test plans).</a:t>
            </a:r>
          </a:p>
          <a:p>
            <a:r>
              <a:t>Role 2 - AI enabled by the transition: once you land in the cloud you unlock Webex AI Agent, AI Receptionist, Voicemail AI Transcription, and Webex AI Assistant / GenAI on RoomOS.</a:t>
            </a:r>
          </a:p>
          <a:p>
            <a:r>
              <a:t>This dual approach is how organizations get to an "AI-first" operating state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Section: the repeatable five-step method we apply to every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 five plays follows the same pattern:</a:t>
            </a:r>
          </a:p>
          <a:p>
            <a:r>
              <a:t>1. Extract - pull supported source data reliably (BAT exports, CallHandlerDataDump, AEF XML, device inventory).</a:t>
            </a:r>
          </a:p>
          <a:p>
            <a:r>
              <a:t>2. Sanitize - strip sensitive information before anything touches an LLM.</a:t>
            </a:r>
          </a:p>
          <a:p>
            <a:r>
              <a:t>3. Analyze - recover behavior, relationships and intent, not just objects.</a:t>
            </a:r>
          </a:p>
          <a:p>
            <a:r>
              <a:t>4. Transform - turn findings into target-state recommendations and draft artifacts (Webex Calling CSVs, WxCC flow JSON, RoomOS macros).</a:t>
            </a:r>
          </a:p>
          <a:p>
            <a:r>
              <a:t>5. Validate - every artifact is tested before deployment. When it fails, loop back to analysis.</a:t>
            </a:r>
          </a:p>
          <a:p>
            <a:r>
              <a:t>Humans stay accountable at every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map - parity preservation plus immediate access to Cisco's native AI portfolio.</a:t>
            </a:r>
          </a:p>
          <a:p>
            <a:r>
              <a:t>- UCCX -&gt; Webex Contact Center. Automated extraction of CSQs, agents, skills and prompts into WxCC entry points and queues. Destination: Webex AI Agent, a conversational omnichannel digital front door replacing legacy IVR.</a:t>
            </a:r>
          </a:p>
          <a:p>
            <a:r>
              <a:t>- CUCM Hunt Pilot -&gt; Webex Customer Assist. Control Hub bulk provisioning maps Hunt Pilots/Lists to Customer Assist queues; Local Gateway handles hybrid routing. Destination: AI Agent summaries - real-time and post-call summaries, sentiment scoring (2025-26 roadmap).</a:t>
            </a:r>
          </a:p>
          <a:p>
            <a:r>
              <a:t>- Unity Connection -&gt; Webex Calling Auto Attendants. CallHandlerDataDump (via Informix ODBC) extracts zip/CSVs for Control Hub bulk import. Destination: Webex AI Receptionist - 24/7 NLP intent routing replacing DTMF menus.</a:t>
            </a:r>
          </a:p>
          <a:p>
            <a:r>
              <a:t>- CUCM Dial Plan -&gt; Webex Calling. Control Hub migration wizards map route patterns and DNs using E.164 normalization and flat extensions. Destination: Voicemail AI Transcription in the Webex App.</a:t>
            </a:r>
          </a:p>
          <a:p>
            <a:r>
              <a:t>- CE devices -&gt; Webex Cloud (RoomOS). Webex Device Connector transfers and centralizes management as Workspaces in Control Hub. Destination: Webex AI Assistant, real-time captioning, and LLM-assisted macro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a copilot, not an authority:</a:t>
            </a:r>
          </a:p>
          <a:p>
            <a:r>
              <a:t>- Summarize large configuration sets to accelerate analysis.</a:t>
            </a:r>
          </a:p>
          <a:p>
            <a:r>
              <a:t>- Identify patterns and map relationships.</a:t>
            </a:r>
          </a:p>
          <a:p>
            <a:r>
              <a:t>- Draft technical documentation and test cases.</a:t>
            </a:r>
          </a:p>
          <a:p>
            <a:r>
              <a:t>- But validate every generated configuration - engineering accountability stays with us.</a:t>
            </a:r>
          </a:p>
          <a:p>
            <a:r>
              <a:t>- Protect production data: never upload it without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architecture for reliable results - five layers:</a:t>
            </a:r>
          </a:p>
          <a:p>
            <a:r>
              <a:t>1. Define role, source and goal - establish context so the model reasons like a specialist.</a:t>
            </a:r>
          </a:p>
          <a:p>
            <a:r>
              <a:t>2. State the source - sanitized configuration, with product and version.</a:t>
            </a:r>
          </a:p>
          <a:p>
            <a:r>
              <a:t>3. State schema and privacy constraints - protect data while keeping structure; use only documented APIs and fields.</a:t>
            </a:r>
          </a:p>
          <a:p>
            <a:r>
              <a:t>4. Specify the output format - machine-readable JSON/CSV plus a human-readable mapping table and reasoning artifacts, so you can trace logic.</a:t>
            </a:r>
          </a:p>
          <a:p>
            <a:r>
              <a:t>5. Specify uncertainty handling - anything the model is unsure about is labeled REQUIRES_VALIDATION instead of silently guessed.</a:t>
            </a:r>
          </a:p>
          <a:p>
            <a:r>
              <a:t>The example on the right is the skeleton we use for UCCX; swap the role/source/goal for each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guardrails. Before any configuration goes to an LLM:</a:t>
            </a:r>
          </a:p>
          <a:p>
            <a:r>
              <a:t>- Tokenize phone numbers, user identities, site names and anything sensitive - consistently, so relationships survive (the same site always becomes SITE_A).</a:t>
            </a:r>
          </a:p>
          <a:p>
            <a:r>
              <a:t>- Keep the mapping key inside your network. The model only ever sees tokens.</a:t>
            </a:r>
          </a:p>
          <a:p>
            <a:r>
              <a:t>- After analysis, re-hydrate the output locally.</a:t>
            </a:r>
          </a:p>
          <a:p>
            <a:r>
              <a:t>- Use an approved enterprise model/tenant; never upload production data without authorization.</a:t>
            </a:r>
          </a:p>
          <a:p>
            <a:r>
              <a:t>Bonus: consistent tokens also make LLM outputs easier to diff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Section: five migration plays - UCCX, Hunt Pilots, Unity, Dial Plan,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1 - UCCX to Webex Contact Center.</a:t>
            </a:r>
          </a:p>
          <a:p>
            <a:r>
              <a:t>- UCCX Application Editor Format (.aef) files are Java-serialized and hard to parse with standard text tools.</a:t>
            </a:r>
          </a:p>
          <a:p>
            <a:r>
              <a:t>- Engineers copy the encoded XML into an LLM (Claude, ChatGPT, Gemini) and prompt it to act as a UCCX analyst.</a:t>
            </a:r>
          </a:p>
          <a:p>
            <a:r>
              <a:t>- The LLM identifies legacy nodes (Select Resource, Menu, etc.), recovers entry points and triggers, menu options and retry logic, business-hours and holiday routing, CSQ/skill dependencies, and error/timeout treatment.</a:t>
            </a:r>
          </a:p>
          <a:p>
            <a:r>
              <a:t>- It generates Webex Contact Center-compatible JSON for import into Flow Designer.</a:t>
            </a:r>
          </a:p>
          <a:p>
            <a:r>
              <a:t>- In parallel, the automated migration tooling extracts CSQs, agents, skills, prompts and wrap-up codes into WxCC entry points and queue objects - bridging static rule-based routing and dynamic cloud entry points.</a:t>
            </a:r>
          </a:p>
          <a:p>
            <a:r>
              <a:t>End state: deploy the Webex AI Agent as the omnichannel digital front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LLM's job is to recover the business purpose of each step, then propose a WxCC treatment:</a:t>
            </a:r>
          </a:p>
          <a:p>
            <a:r>
              <a:t>- Menu: capture caller choice -&gt; Menu activity, or better, an AI Agent intent.</a:t>
            </a:r>
          </a:p>
          <a:p>
            <a:r>
              <a:t>- Select Resource: route to agent -&gt; queue with skill matching.</a:t>
            </a:r>
          </a:p>
          <a:p>
            <a:r>
              <a:t>- Day of Week: apply schedule -&gt; business-hours logic.</a:t>
            </a:r>
          </a:p>
          <a:p>
            <a:r>
              <a:t>- Get Contact Info: read attributes -&gt; flow variables.</a:t>
            </a:r>
          </a:p>
          <a:p>
            <a:r>
              <a:t>- Database step: retrieve data -&gt; HTTP request / API integration.</a:t>
            </a:r>
          </a:p>
          <a:p>
            <a:r>
              <a:t>- Prompt: give information -&gt; TTS or AI response.</a:t>
            </a:r>
          </a:p>
          <a:p>
            <a:r>
              <a:t>- Exception branch: handle failure -&gt; error path.</a:t>
            </a:r>
          </a:p>
          <a:p>
            <a:r>
              <a:t>Target design principles: preserve valid experiences, simplify by removing unnecessary menus, transform rigid interactions with AI, and provide alternatives - not silent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Cisco is phasing out touch-tone and rigid scripted voice menus - including Nuance-based IVR - in favor of conversational AI.</a:t>
            </a:r>
          </a:p>
          <a:p>
            <a:r>
              <a:t>Webex AI Agent is the "digital front door":</a:t>
            </a:r>
          </a:p>
          <a:p>
            <a:r>
              <a:t>- Runs in autonomous (LLM-driven) and scripted modes.</a:t>
            </a:r>
          </a:p>
          <a:p>
            <a:r>
              <a:t>- Integrates with back-end systems like Epic EHR and Salesforce for appointment scheduling, triage and other tasks.</a:t>
            </a:r>
          </a:p>
          <a:p>
            <a:r>
              <a:t>- Uses ElevenLabs voices (from mid-2025) for empathetic, multilingual text-to-speech.</a:t>
            </a:r>
          </a:p>
          <a:p>
            <a:r>
              <a:t>- AI Agent Studio in Control Hub ingests documents using parent-child chunking to generate grounded answers.</a:t>
            </a:r>
          </a:p>
          <a:p>
            <a:r>
              <a:t>- On escalation, Real-Time Assist hands a generated interaction summary to the human agent.</a:t>
            </a:r>
          </a:p>
          <a:p>
            <a:r>
              <a:t>Implementation: extracted UCCX logic and Nuance static database dips move into Webex Connect Flow Builder as intent-based natural-language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2 - CUCM Hunt Pilots.</a:t>
            </a:r>
          </a:p>
          <a:p>
            <a:r>
              <a:t>Review the call-flow chain end to end: Hunt Pilot (entry point) -&gt; Hunt List (ordered destinations) -&gt; Line Groups (member grouping, distribution algorithm) -&gt; member DNs. Also check CSS/partitions, no-answer timers, overflow and schedules.</a:t>
            </a:r>
          </a:p>
          <a:p>
            <a:r>
              <a:t>Then right-size the destination:</a:t>
            </a:r>
          </a:p>
          <a:p>
            <a:r>
              <a:t>- Simple ringing -&gt; Webex Calling Hunt Group.</a:t>
            </a:r>
          </a:p>
          <a:p>
            <a:r>
              <a:t>- Basic queuing -&gt; Webex Calling Call Queue.</a:t>
            </a:r>
          </a:p>
          <a:p>
            <a:r>
              <a:t>- Frontline staff / branch teams -&gt; Webex Customer Assist - the sweet spot for organizations that don't need a full contact center: advanced queuing, skill-based routing, supervisor dashboards in the Webex App. Requires the Webex Calling Professional license.</a:t>
            </a:r>
          </a:p>
          <a:p>
            <a:r>
              <a:t>- Advanced routing and omnichannel -&gt; Webex Contact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Rationalizing Hunt Pilots with GenAI:</a:t>
            </a:r>
          </a:p>
          <a:p>
            <a:r>
              <a:t>1. Upload a sanitized CUCM BAT extract.</a:t>
            </a:r>
          </a:p>
          <a:p>
            <a:r>
              <a:t>2. Have the LLM reconstruct Hunt Pilot -&gt; Hunt List -&gt; Line Group -&gt; member relationships.</a:t>
            </a:r>
          </a:p>
          <a:p>
            <a:r>
              <a:t>3. Flag empty, inconsistent or inactive ("dead") groups - clean these up in CUCM before transition so you don't import redundant data.</a:t>
            </a:r>
          </a:p>
          <a:p>
            <a:r>
              <a:t>4. Classify each group: Preserve, Simplify, Modernize, Retire, or Need more information. (Example: a 5-member help desk might be preserved; a 20-member service team simplified; a pilot inactive for six months retired.)</a:t>
            </a:r>
          </a:p>
          <a:p>
            <a:r>
              <a:t>5. Generate business-owner questions to validate requirements.</a:t>
            </a:r>
          </a:p>
          <a:p>
            <a:r>
              <a:t>Payoff on Customer Assist: real-time and post-call AI summaries and sentiment scoring (2025-26 roadmap), plus supervisor dashboards.</a:t>
            </a:r>
          </a:p>
          <a:p>
            <a:r>
              <a:t>Hybrid safety: Control Hub bulk provisioning maps Hunt Pilots/Lists to Customer Assist queues, while Local Gateway handles hybrid routing during the phased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3 - Unity Connection call handlers.</a:t>
            </a:r>
          </a:p>
          <a:p>
            <a:r>
              <a:t>- Extraction: the CallHandlerDataDump Windows utility. It requires a 32-bit Informix ODBC driver and the Remote Database Proxy service enabled on Unity Connection. Output is a zip of CSVs.</a:t>
            </a:r>
          </a:p>
          <a:p>
            <a:r>
              <a:t>- The CSVs are massive and complex. The LLM maps the multi-level IVR tree, identifies abandoned/unreferenced call handlers, routing loops and missing destinations, and translates the active data into the exact CSV format Control Hub expects for bulk-provisioning Webex Calling Auto Attendants.</a:t>
            </a:r>
          </a:p>
          <a:p>
            <a:r>
              <a:t>- Touchpoints to preserve: handler data, caller-input key mappings, transfer rules, standard/closed/holiday greetings, schedules, interview and directory handlers, extension relationships.</a:t>
            </a:r>
          </a:p>
          <a:p>
            <a:r>
              <a:t>- Watch-out: audio greetings (.wav) are not parsed automatically - plan to re-upload them into Webex Calling.</a:t>
            </a:r>
          </a:p>
          <a:p>
            <a:r>
              <a:t>End state: upgrade to the NLP-driven Webex AI Receptionist.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AI output as a design worksheet, not a copy job:</a:t>
            </a:r>
          </a:p>
          <a:p>
            <a:r>
              <a:t>- Main greeting -&gt; What should the caller be able to request?</a:t>
            </a:r>
          </a:p>
          <a:p>
            <a:r>
              <a:t>- Key mappings -&gt; What intents do these represent?</a:t>
            </a:r>
          </a:p>
          <a:p>
            <a:r>
              <a:t>- Call handler -&gt; Which owner owns the outcome?</a:t>
            </a:r>
          </a:p>
          <a:p>
            <a:r>
              <a:t>- Closed greeting -&gt; Information, or escalation?</a:t>
            </a:r>
          </a:p>
          <a:p>
            <a:r>
              <a:t>- Recorded FAQ -&gt; Can this become knowledge?</a:t>
            </a:r>
          </a:p>
          <a:p>
            <a:r>
              <a:t>- Operator transfer -&gt; Fallback for low confidence.</a:t>
            </a:r>
          </a:p>
          <a:p>
            <a:r>
              <a:t>Direct Inward Dial numbers from legacy Unity are ported to the AI Receptionist. Instead of WAV prompts and button mappings, admins define multilingual natural-language personas in Control Hub, with fallback and escalation driven by NLP intent detection rather than key 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Webex AI Receptionist - built for corporate environments, replacing Unity Connection touch-tone auto-attendants.</a:t>
            </a:r>
          </a:p>
          <a:p>
            <a:r>
              <a:t>- Managed through a no-code interface in Control Hub.</a:t>
            </a:r>
          </a:p>
          <a:p>
            <a:r>
              <a:t>- Uses NLP to discern caller intent, answer FAQs from loaded knowledge bases, and route intelligently based on business hours.</a:t>
            </a:r>
          </a:p>
          <a:p>
            <a:r>
              <a:t>- Customizable multilingual, natural-language personas and voices.</a:t>
            </a:r>
          </a:p>
          <a:p>
            <a:r>
              <a:t>- Available 24/7 - no more "please listen carefully as our menu options have changed".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4 - CUCM dial plan to Webex Calling.</a:t>
            </a:r>
          </a:p>
          <a:p>
            <a:r>
              <a:t>A dial plan is a dependency map: numbering (DNs, devices, shared lines) feeds policy (partitions, CSS, calling privileges), which feeds routing (route patterns, translation patterns, route lists/groups, locations, voicemail profiles). A change in one object cascades.</a:t>
            </a:r>
          </a:p>
          <a:p>
            <a:r>
              <a:t>Review sequence: DNs and devices -&gt; shared lines and partitions -&gt; CSS -&gt; route and translation patterns -&gt; route lists/groups and locations -&gt; voicemail profiles and calling privileges.</a:t>
            </a:r>
          </a:p>
          <a:p>
            <a:r>
              <a:t>GenAI accelerates the tracing on a sanitized BAT export: flag duplicate extensions before they cause routing failures, explain conflicts in plain language, group records for normalization/redesign/retirement, and generate E.164 normalization tables and test plans.</a:t>
            </a:r>
          </a:p>
          <a:p>
            <a:r>
              <a:t>Control Hub migration wizards then map route patterns and DNs to Webex Calling using E.164 normalization and flat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prevent downtime during phased CUCM and Hunt Pilot migrations, establish Local Gateways and a unified hybrid dial plan. This lets remaining legacy extensions and newly provisioned cloud users/queues interact fluidly.</a:t>
            </a:r>
          </a:p>
          <a:p>
            <a:r>
              <a:t>Validate before each wave: on-prem &lt;-&gt; cloud calls, extension reachability, PSTN ingress/egress, emergency calling, voicemail routing, shared-line behavior, calling permissions, caller ID, and a tested failover/rollback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Migrating the CUCM dial plan to Webex Calling unlocks native Voicemail AI Transcription.</a:t>
            </a:r>
          </a:p>
          <a:p>
            <a:r>
              <a:t>- Enabled at the Location level in Control Hub.</a:t>
            </a:r>
          </a:p>
          <a:p>
            <a:r>
              <a:t>- Speech-to-text delivered directly in the Webex App and via email.</a:t>
            </a:r>
          </a:p>
          <a:p>
            <a:r>
              <a:t>- Natively supports English, French, German, Italian, Japanese and Spanish.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lines are rarely "just" shared lines - they're signals of a workflow:</a:t>
            </a:r>
          </a:p>
          <a:p>
            <a:r>
              <a:t>- Executive/assistant coverage -&gt; Webex Calling Executive Assistant.</a:t>
            </a:r>
          </a:p>
          <a:p>
            <a:r>
              <a:t>- Informal queuing -&gt; a real Call Queue, or Customer Assist for frontline teams.</a:t>
            </a:r>
          </a:p>
          <a:p>
            <a:r>
              <a:t>- Multiple-device mobility -&gt; multiple devices per user in Webex Calling.</a:t>
            </a:r>
          </a:p>
          <a:p>
            <a:r>
              <a:t>- Departmental ownership / shared responsibility -&gt; Hunt Group or virtual line.</a:t>
            </a:r>
          </a:p>
          <a:p>
            <a:r>
              <a:t>- Legacy workarounds -&gt; retire.</a:t>
            </a:r>
          </a:p>
          <a:p>
            <a:r>
              <a:t>Have the LLM classify each shared-line appearance from the sanitized export, then confirm with the business owner. Validate the target feature fit for your tenant before you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5 - Collaboration Endpoints (CE) to RoomOS.</a:t>
            </a:r>
          </a:p>
          <a:p>
            <a:r>
              <a:t>- The Webex Device Connector transfers devices and centralizes management as Workspaces in Control Hub. Existing JavaScript macros and UI Extensions are preserved.</a:t>
            </a:r>
          </a:p>
          <a:p>
            <a:r>
              <a:t>- As devices are reorganized into unified Workspaces, legacy macros often need updates. Admins use LLMs (via Webex Connect's Evaluate node or external APIs) to translate legacy CE macro code into RoomOS-compatible scripts. Input: a natural-language description or legacy snippet. Output: modernized xAPI commands.</a:t>
            </a:r>
          </a:p>
          <a:p>
            <a:r>
              <a:t>- Limitation: xAPI event mappings between CE 9.x and RoomOS are not always 1:1. LLM-generated JavaScript must be tested in the local Macro Editor so hardware integrations (HVAC sensors, AV controllers) still work after migration.</a:t>
            </a:r>
          </a:p>
          <a:p>
            <a:r>
              <a:t>Assessment first: inventory and models, registration state, UI extensions and macros, xAPI integrations, workspace utilization.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devices land on RoomOS as cloud-managed Workspaces, they pick up Webex AI Assistant capabilities and real-time audio captioning, and are managed from the same Control Hub as calling and contact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LLM categorize the inventory (sanitized), identify aging hardware, summarize macros, document xAPI usage and flag hard-coded addresses. Then act:</a:t>
            </a:r>
          </a:p>
          <a:p>
            <a:r>
              <a:t>- Supported device -&gt; migrate. Legacy macro -&gt; refactor and test. Unsupported endpoint -&gt; replace or retain.</a:t>
            </a:r>
          </a:p>
          <a:p>
            <a:r>
              <a:t>- Unused UI Extension -&gt; remove. Hard-coded integration -&gt; redesign. Duplicate naming -&gt; normalize.</a:t>
            </a:r>
          </a:p>
          <a:p>
            <a:r>
              <a:t>- Low utilization -&gt; re-evaluate placement. Complex room control -&gt; validate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Section: how we keep AI output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levels of AI output:</a:t>
            </a:r>
          </a:p>
          <a:p>
            <a:r>
              <a:t>- Level 1, Advisory: summaries, diagrams and questions that accelerate informed decisions.</a:t>
            </a:r>
          </a:p>
          <a:p>
            <a:r>
              <a:t>- Level 2, Draft artifacts: mapping tables, CSV/JSON, code and test plans that speed delivery.</a:t>
            </a:r>
          </a:p>
          <a:p>
            <a:r>
              <a:t>- Level 3, Controlled automation: API retrieval, schema validation and pipeline integration for reliable execution.</a:t>
            </a:r>
          </a:p>
          <a:p>
            <a:r>
              <a:t>Start with advisory outputs. Prove reliability before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 AI outputs through four gates:</a:t>
            </a:r>
          </a:p>
          <a:p>
            <a:r>
              <a:t>1. Syntax - correct data format (valid JSON/CSV/JS).</a:t>
            </a:r>
          </a:p>
          <a:p>
            <a:r>
              <a:t>2. Schema - confirm fields and types against current Webex import schemas.</a:t>
            </a:r>
          </a:p>
          <a:p>
            <a:r>
              <a:t>3. Platform - confirm the target platform actually supports the feature/service.</a:t>
            </a:r>
          </a:p>
          <a:p>
            <a:r>
              <a:t>4. Intent - align with business intent and the desired user experience.</a:t>
            </a:r>
          </a:p>
          <a:p>
            <a:r>
              <a:t>Checklist examples for UCCX -&gt; WxCC: caller paths, business hours, prompts, database/API dependencies, queue/skill behavior, RONA/agent state, timeout/error paths, simplification approval, AI Agent escalation, schema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failure modes and mitigations:</a:t>
            </a:r>
          </a:p>
          <a:p>
            <a:r>
              <a:t>- Hallucinated API -&gt; supply the documentation in context.</a:t>
            </a:r>
          </a:p>
          <a:p>
            <a:r>
              <a:t>- Outdated terminology -&gt; put today's date and product versions in the prompt.</a:t>
            </a:r>
          </a:p>
          <a:p>
            <a:r>
              <a:t>- Incorrect mapping -&gt; require explicit classification with rationale.</a:t>
            </a:r>
          </a:p>
          <a:p>
            <a:r>
              <a:t>- Lost leading "+" on E.164 numbers -&gt; treat numbers as strings.</a:t>
            </a:r>
          </a:p>
          <a:p>
            <a:r>
              <a:t>- Modified CSV -&gt; lock the headers to the Control Hub template.</a:t>
            </a:r>
          </a:p>
          <a:p>
            <a:r>
              <a:t>- Missing relationships -&gt; provide a data dictionary.</a:t>
            </a:r>
          </a:p>
          <a:p>
            <a:r>
              <a:t>- PII included -&gt; sanitize before sending.</a:t>
            </a:r>
          </a:p>
          <a:p>
            <a:r>
              <a:t>- Overconfidence -&gt; require confidence labels / REQUIRES_VALIDATION.</a:t>
            </a:r>
          </a:p>
          <a:p>
            <a:r>
              <a:t>- And always: incorrect behavior is caught by running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Selecting the right AI model:</a:t>
            </a:r>
          </a:p>
          <a:p>
            <a:r>
              <a:t>1. Data-protection requirements - where prompts and outputs are processed and stored.</a:t>
            </a:r>
          </a:p>
          <a:p>
            <a:r>
              <a:t>2. Context-window needs - large AEF scripts and DataDump CSVs need room.</a:t>
            </a:r>
          </a:p>
          <a:p>
            <a:r>
              <a:t>3. Structured-output reliability - consistent, machine-readable JSON/CSV.</a:t>
            </a:r>
          </a:p>
          <a:p>
            <a:r>
              <a:t>4. Coding and reasoning performance - routing logic and macro translation.</a:t>
            </a:r>
          </a:p>
          <a:p>
            <a:r>
              <a:t>5. Audit and retention compliance - meet enterprise governance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migration wave produces a package, not just a config file:</a:t>
            </a:r>
          </a:p>
          <a:p>
            <a:r>
              <a:t>Discover - inventory, sanitization record, behavior summary, dependency map.</a:t>
            </a:r>
          </a:p>
          <a:p>
            <a:r>
              <a:t>Design - assumptions, target mapping, exception list, draft artifacts.</a:t>
            </a:r>
          </a:p>
          <a:p>
            <a:r>
              <a:t>Deliver - validation results, rollback plan, approval, documentation.</a:t>
            </a:r>
          </a:p>
          <a:p>
            <a:r>
              <a:t>This is what makes AI-assisted work auditable and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plays, one pattern - extract, analyze, modernize:</a:t>
            </a:r>
          </a:p>
          <a:p>
            <a:r>
              <a:t>- UCCX: script -&gt; caller paths -&gt; WxCC / AI Agent.</a:t>
            </a:r>
          </a:p>
          <a:p>
            <a:r>
              <a:t>- Hunt Pilots: BAT -&gt; queue behavior -&gt; Customer Assist.</a:t>
            </a:r>
          </a:p>
          <a:p>
            <a:r>
              <a:t>- Unity: exports -&gt; menu hierarchy -&gt; AI Receptionist.</a:t>
            </a:r>
          </a:p>
          <a:p>
            <a:r>
              <a:t>- CUCM: dial plan -&gt; conflicts -&gt; Webex Calling.</a:t>
            </a:r>
          </a:p>
          <a:p>
            <a:r>
              <a:t>- Devices: inventory -&gt; readiness -&gt; cloud-managed RoomOS.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Recover intent before mapping - understand what the legacy config was trying to do.</a:t>
            </a:r>
          </a:p>
          <a:p>
            <a:r>
              <a:t>2. Sanitize data before AI.</a:t>
            </a:r>
          </a:p>
          <a:p>
            <a:r>
              <a:t>3. Expose assumptions and exceptions - REQUIRES_VALIDATION is a feature.</a:t>
            </a:r>
          </a:p>
          <a:p>
            <a:r>
              <a:t>4. Validate against current schemas - four gates, every time.</a:t>
            </a:r>
          </a:p>
          <a:p>
            <a:r>
              <a:t>5. Transform, don't just migrate - land on AI Agent, AI Receptionist, Voicemail AI Transcription, and RoomOS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message.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citations from the research:</a:t>
            </a:r>
          </a:p>
          <a:p>
            <a:r>
              <a:t>Webex AI Agent: personalize every interaction; Webex AI Agent At-a-Glance; Cisco Collaboration Flex 3.0 Contact Center Data Sheet; UCCE 15.0(1) Features Guide - Webex AI Agent; Webex What's New Spring 2025; the AI-first front door; Webex Calling Customer Assist Solution Overview and FAQ; Understand Routing and Queueing in Webex Contact Center; Webex Calling Call Queue vs. Customer Assist feature comparison; Configure Webex Calling Customer Assist for Unified CM; Migrate from Cisco Customer Journey Platform (R10) and CC-One (R9) to Webex Contact Center; Configure Call Queuing (CUCM 12.5); AI Receptionist for Webex Calling (and At-a-Glance); Collaboration Flex Plan 3.0 and Webex Suite Data Sheet; Voicemail transcription for Webex Calling; Troubleshoot Voicemail Issues in Webex Calling; Configure and manage voicemail settings for a Webex Calling user; Configure Unified CM for Webex Calling; Migrate Unified CM data to Webex Calling; Webex Calling Migration Journeys; Transitioning from Unified CM to Webex Calling; Manage auto attendants; Cisco Unity Connection 15 System Administration Guide - Tools; CUPI API - Call Handler; Webex Attendant Console overview and FAQ; RoomOS for Cisco devices; CE 9.9 / 9.14 Customization Guides; Cisco Desk, Board and Room Series WLAN Deployment Guide; CiscoDevNet/roomdevices-macros-samples; Webex Devices xAPI docs.</a:t>
            </a:r>
          </a:p>
          <a:p>
            <a:r>
              <a:t>Cisco Live: BRKCOL-2043 (2025 US), BRKCOL-2076 (2026 EMEA), BRKCOL-2084, BRKCOL-2185, BRKCOL-2530 (2025 Melbourne), BRKCCT-1512, CLS-2221 (Customer Assist).</a:t>
            </a:r>
          </a:p>
          <a:p>
            <a:r>
              <a:t>Internal partner enablement (not for public slides): PIW and EMEA Collab PVT sessions on Customer Assist, One-Click UCCX Migration, Webex Suite Cloud &amp; AI, Calling Hybrid &amp; Cloud-Connected UC, Calling Migration Bootcamp / Setup Assist, Programmability Workshops.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74E5E-9251-F0EA-2BB9-CE195548D6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07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533525"/>
            <a:ext cx="8119872" cy="1593855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3133725"/>
            <a:ext cx="8119872" cy="246221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965575"/>
            <a:ext cx="3593592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64571" y="3965575"/>
            <a:ext cx="359359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8BE50A-FC3C-8632-8507-5D2E162AF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06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579557"/>
            <a:ext cx="8119872" cy="1554169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133726"/>
            <a:ext cx="8119872" cy="276999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976325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8" y="3976325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732562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732562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FE01332-C819-25C6-31CD-B1DFEB2215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5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WebexOne 2026 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339908"/>
            <a:ext cx="8119872" cy="1554169"/>
          </a:xfrm>
        </p:spPr>
        <p:txBody>
          <a:bodyPr anchor="b" anchorCtr="0"/>
          <a:lstStyle>
            <a:lvl1pPr>
              <a:defRPr sz="40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894077"/>
            <a:ext cx="8119872" cy="276999"/>
          </a:xfrm>
          <a:noFill/>
        </p:spPr>
        <p:txBody>
          <a:bodyPr>
            <a:spAutoFit/>
          </a:bodyPr>
          <a:lstStyle>
            <a:lvl1pPr marL="0" indent="0">
              <a:buNone/>
              <a:defRPr lang="en-US" sz="18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3667126"/>
            <a:ext cx="3597274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7" y="3667126"/>
            <a:ext cx="3459163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414170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414170"/>
            <a:ext cx="3459162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5161214"/>
            <a:ext cx="3597275" cy="492443"/>
          </a:xfrm>
          <a:noFill/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6438" y="5161214"/>
            <a:ext cx="3468690" cy="492443"/>
          </a:xfrm>
        </p:spPr>
        <p:txBody>
          <a:bodyPr>
            <a:spAutoFit/>
          </a:bodyPr>
          <a:lstStyle>
            <a:lvl1pPr marL="0" indent="0">
              <a:spcAft>
                <a:spcPts val="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3906838" cy="548640"/>
          </a:xfrm>
          <a:noFill/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CFE968-78FB-E5F6-DFD3-8A2E5500B8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599" y="513994"/>
            <a:ext cx="2981499" cy="4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4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98488"/>
            <a:ext cx="2780324" cy="51625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1551" y="598488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264" y="598488"/>
            <a:ext cx="565150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604962"/>
            <a:ext cx="4710113" cy="3648075"/>
          </a:xfrm>
        </p:spPr>
        <p:txBody>
          <a:bodyPr rIns="0" anchor="ctr" anchorCtr="0"/>
          <a:lstStyle>
            <a:lvl1pPr>
              <a:defRPr/>
            </a:lvl1pPr>
          </a:lstStyle>
          <a:p>
            <a:r>
              <a:rPr lang="en-US"/>
              <a:t>Agenda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1650" y="996156"/>
            <a:ext cx="4710113" cy="4865688"/>
          </a:xfrm>
          <a:noFill/>
        </p:spPr>
        <p:txBody>
          <a:bodyPr anchor="ctr" anchorCtr="0"/>
          <a:lstStyle>
            <a:lvl1pPr marL="640080" indent="-64008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>
                <a:schemeClr val="tx2">
                  <a:lumMod val="50000"/>
                </a:schemeClr>
              </a:buClr>
              <a:buSzPct val="100000"/>
              <a:buFont typeface="+mj-lt"/>
              <a:buAutoNum type="arabicPeriod"/>
              <a:defRPr lang="en-US" sz="24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2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58A35-AF6F-1BDB-E549-D72809E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512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58A35-AF6F-1BDB-E549-D72809E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317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071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7862C-3CAA-E974-BA59-E1617CAB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08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2414" y="598488"/>
            <a:ext cx="62293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60DFE2-2A80-39EE-DC76-5F876869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4357687" cy="92392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434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764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69300-713C-B484-3118-78688CA2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1095216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828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96583"/>
            <a:ext cx="5486400" cy="443331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91B70-B6FD-B992-F7B8-1F4F0B5C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964"/>
            <a:ext cx="1095216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907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5300663" cy="1247775"/>
          </a:xfrm>
        </p:spPr>
        <p:txBody>
          <a:bodyPr wrap="square"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8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2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1650" y="1244600"/>
            <a:ext cx="4710113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4149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33525"/>
            <a:ext cx="10952163" cy="454183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99C22-B329-0767-B70E-5DCF991C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F527-D3DE-AC74-81B7-3FA95B30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4722813" cy="93471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622300"/>
            <a:ext cx="5454333" cy="5473699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4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EB9F-E393-766C-F86A-CC59CC81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6424613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93038" y="628650"/>
            <a:ext cx="3768725" cy="546735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0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0A44-9147-6EC4-DA39-B28EB961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3416300" cy="154272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2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16187"/>
            <a:ext cx="4722813" cy="1825625"/>
          </a:xfrm>
        </p:spPr>
        <p:txBody>
          <a:bodyPr wrap="square" anchor="ctr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622300"/>
            <a:ext cx="5465763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-2"/>
            <a:ext cx="3416299" cy="76809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3416300" cy="184943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2" y="3054350"/>
            <a:ext cx="3416298" cy="3041650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8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4722813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4722813" cy="1247775"/>
          </a:xfrm>
        </p:spPr>
        <p:txBody>
          <a:bodyPr wrap="square" anchor="t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622300"/>
            <a:ext cx="5465762" cy="5473700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</a:t>
            </a:r>
            <a:br>
              <a:rPr lang="en-US"/>
            </a:br>
            <a:r>
              <a:rPr lang="en-US"/>
              <a:t>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8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3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2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CAC73-12F8-86AD-1D7A-9913DB28D827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13EF545-8C2F-956E-0CDE-AB9B07F17C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2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Center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79D48-FE5D-A65B-67C8-07534C1A4115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09F66C-F73D-9418-B63E-B864393D7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enter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7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79D48-FE5D-A65B-67C8-07534C1A4115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9A30A31-C977-C0C7-01AD-C96DE8E14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9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581525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To add your image, drag and drop it here </a:t>
            </a:r>
            <a:br>
              <a:rPr lang="en-US"/>
            </a:br>
            <a:r>
              <a:rPr lang="en-US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-7937"/>
            <a:ext cx="8326438" cy="768096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8388"/>
            <a:ext cx="8326438" cy="1196975"/>
          </a:xfrm>
        </p:spPr>
        <p:txBody>
          <a:bodyPr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836738"/>
            <a:ext cx="9050337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raphic 4" descr="Quotation Mark">
            <a:extLst>
              <a:ext uri="{FF2B5EF4-FFF2-40B4-BE49-F238E27FC236}">
                <a16:creationId xmlns:a16="http://schemas.microsoft.com/office/drawing/2014/main" id="{F8EEB664-6ACB-664C-2FCD-B74DB9945242}"/>
              </a:ext>
            </a:extLst>
          </p:cNvPr>
          <p:cNvSpPr/>
          <p:nvPr userDrawn="1"/>
        </p:nvSpPr>
        <p:spPr>
          <a:xfrm>
            <a:off x="5783956" y="1066705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DB6F20F-A11C-BA1F-0D67-545AAB0B44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6863" y="4271963"/>
            <a:ext cx="9050337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</p:spTree>
    <p:extLst>
      <p:ext uri="{BB962C8B-B14F-4D97-AF65-F5344CB8AC3E}">
        <p14:creationId xmlns:p14="http://schemas.microsoft.com/office/powerpoint/2010/main" val="5080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836738"/>
            <a:ext cx="9050337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dolore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6863" y="4271963"/>
            <a:ext cx="9050337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raphic 4" descr="Quotation Mark">
            <a:extLst>
              <a:ext uri="{FF2B5EF4-FFF2-40B4-BE49-F238E27FC236}">
                <a16:creationId xmlns:a16="http://schemas.microsoft.com/office/drawing/2014/main" id="{C9D20DE9-4EB5-2E91-CA0A-EE3C98C58DD2}"/>
              </a:ext>
            </a:extLst>
          </p:cNvPr>
          <p:cNvSpPr/>
          <p:nvPr userDrawn="1"/>
        </p:nvSpPr>
        <p:spPr>
          <a:xfrm>
            <a:off x="5783956" y="1066705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7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 userDrawn="1"/>
        </p:nvSpPr>
        <p:spPr>
          <a:xfrm>
            <a:off x="3838783" y="1145283"/>
            <a:ext cx="411104" cy="331544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9733" y="1706879"/>
            <a:ext cx="7444615" cy="2441051"/>
          </a:xfrm>
        </p:spPr>
        <p:txBody>
          <a:bodyPr/>
          <a:lstStyle>
            <a:lvl1pPr algn="l">
              <a:defRPr sz="3600"/>
            </a:lvl1pPr>
          </a:lstStyle>
          <a:p>
            <a:r>
              <a:rPr lang="en-US"/>
              <a:t>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dolore.”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9733" y="4265766"/>
            <a:ext cx="7444615" cy="383456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First LastName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6AED0D-72C1-167D-66DB-8391E3109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9733" y="4707228"/>
            <a:ext cx="7444615" cy="625475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Job Title Goes Here</a:t>
            </a:r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D0F5A78-ABEA-CC04-DE38-1A4EE04742BA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5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6693" y="987949"/>
            <a:ext cx="7637655" cy="2441051"/>
          </a:xfrm>
        </p:spPr>
        <p:txBody>
          <a:bodyPr/>
          <a:lstStyle>
            <a:lvl1pPr marL="182880" indent="-457200" algn="l">
              <a:defRPr lang="en-US" sz="36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nonummy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dolore.”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9733" y="3546836"/>
            <a:ext cx="7444615" cy="383456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j-lt"/>
              </a:defRPr>
            </a:lvl1pPr>
          </a:lstStyle>
          <a:p>
            <a:pPr lvl="0"/>
            <a:r>
              <a:rPr lang="en-US"/>
              <a:t>First LastName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86AED0D-72C1-167D-66DB-8391E3109B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9733" y="3988298"/>
            <a:ext cx="7444615" cy="625475"/>
          </a:xfrm>
        </p:spPr>
        <p:txBody>
          <a:bodyPr/>
          <a:lstStyle>
            <a:lvl1pPr marL="0" indent="0" algn="l">
              <a:lnSpc>
                <a:spcPct val="110000"/>
              </a:lnSpc>
              <a:spcAft>
                <a:spcPts val="0"/>
              </a:spcAft>
              <a:buNone/>
              <a:defRPr sz="2000">
                <a:latin typeface="+mn-lt"/>
              </a:defRPr>
            </a:lvl1pPr>
          </a:lstStyle>
          <a:p>
            <a:pPr lvl="0"/>
            <a:r>
              <a:rPr lang="en-US"/>
              <a:t>Job Title Goes Here</a:t>
            </a:r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4E8FC3B-0B83-BC74-24E3-14919B815C88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22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449705"/>
            <a:ext cx="5465763" cy="3283903"/>
          </a:xfrm>
        </p:spPr>
        <p:txBody>
          <a:bodyPr anchor="b" anchorCtr="0"/>
          <a:lstStyle>
            <a:lvl1pPr algn="l">
              <a:defRPr sz="4000"/>
            </a:lvl1pPr>
          </a:lstStyle>
          <a:p>
            <a:r>
              <a:rPr lang="en-US"/>
              <a:t>“Quote slide 1, </a:t>
            </a: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no </a:t>
            </a:r>
            <a:r>
              <a:rPr lang="en-GB" err="1"/>
              <a:t>nummy</a:t>
            </a:r>
            <a:r>
              <a:rPr lang="en-GB"/>
              <a:t> </a:t>
            </a:r>
            <a:r>
              <a:rPr lang="en-GB" err="1"/>
              <a:t>nibh</a:t>
            </a:r>
            <a:r>
              <a:rPr lang="en-GB"/>
              <a:t> </a:t>
            </a:r>
            <a:r>
              <a:rPr lang="en-GB" err="1"/>
              <a:t>euismod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4733608"/>
            <a:ext cx="5465763" cy="673417"/>
          </a:xfrm>
        </p:spPr>
        <p:txBody>
          <a:bodyPr tIns="91440"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C7252D7-21C0-547A-7B00-7ED60451CB6D}"/>
              </a:ext>
            </a:extLst>
          </p:cNvPr>
          <p:cNvSpPr/>
          <p:nvPr userDrawn="1"/>
        </p:nvSpPr>
        <p:spPr>
          <a:xfrm>
            <a:off x="0" y="6143625"/>
            <a:ext cx="3286125" cy="712566"/>
          </a:xfrm>
          <a:prstGeom prst="rect">
            <a:avLst/>
          </a:prstGeom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02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952501"/>
            <a:ext cx="7954962" cy="1493838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2446339"/>
            <a:ext cx="7954961" cy="982661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680" y="1836738"/>
            <a:ext cx="5295583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15741-2370-FD45-DBFB-7AEDA1F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5300662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385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 Slide, Title, Body Copy,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680" y="1836738"/>
            <a:ext cx="5295583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15741-2370-FD45-DBFB-7AEDA1F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5300662" cy="49244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540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320189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374877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81723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37552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897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252622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577850"/>
            <a:ext cx="7954962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3054350"/>
            <a:ext cx="7954961" cy="936625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2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2446339"/>
            <a:ext cx="7162799" cy="1916906"/>
          </a:xfrm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437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10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87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114676"/>
            <a:ext cx="5300663" cy="623888"/>
          </a:xfr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009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theme" Target="../theme/theme1.xml"/><Relationship Id="rId51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598811"/>
            <a:ext cx="10952163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09600" y="1545265"/>
            <a:ext cx="10937489" cy="455073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211637" y="6400165"/>
            <a:ext cx="3763963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9115425" y="6398991"/>
            <a:ext cx="1773238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B647726-7CF0-1E16-E4CE-1BFE4C8B5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121806" y="6338412"/>
            <a:ext cx="503671" cy="2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3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4" r:id="rId1"/>
    <p:sldLayoutId id="2147484294" r:id="rId2"/>
    <p:sldLayoutId id="2147484295" r:id="rId3"/>
    <p:sldLayoutId id="2147484296" r:id="rId4"/>
    <p:sldLayoutId id="2147484246" r:id="rId5"/>
    <p:sldLayoutId id="2147484299" r:id="rId6"/>
    <p:sldLayoutId id="2147484247" r:id="rId7"/>
    <p:sldLayoutId id="2147484305" r:id="rId8"/>
    <p:sldLayoutId id="2147484248" r:id="rId9"/>
    <p:sldLayoutId id="2147484249" r:id="rId10"/>
    <p:sldLayoutId id="2147484250" r:id="rId11"/>
    <p:sldLayoutId id="2147484251" r:id="rId12"/>
    <p:sldLayoutId id="2147484253" r:id="rId13"/>
    <p:sldLayoutId id="2147484254" r:id="rId14"/>
    <p:sldLayoutId id="2147484256" r:id="rId15"/>
    <p:sldLayoutId id="2147484252" r:id="rId16"/>
    <p:sldLayoutId id="2147484257" r:id="rId17"/>
    <p:sldLayoutId id="2147484263" r:id="rId18"/>
    <p:sldLayoutId id="2147484264" r:id="rId19"/>
    <p:sldLayoutId id="2147484265" r:id="rId20"/>
    <p:sldLayoutId id="2147484266" r:id="rId21"/>
    <p:sldLayoutId id="2147484267" r:id="rId22"/>
    <p:sldLayoutId id="2147484268" r:id="rId23"/>
    <p:sldLayoutId id="2147484307" r:id="rId24"/>
    <p:sldLayoutId id="2147484308" r:id="rId25"/>
    <p:sldLayoutId id="2147484272" r:id="rId26"/>
    <p:sldLayoutId id="2147484274" r:id="rId27"/>
    <p:sldLayoutId id="2147484309" r:id="rId28"/>
    <p:sldLayoutId id="2147484310" r:id="rId29"/>
    <p:sldLayoutId id="2147484276" r:id="rId30"/>
    <p:sldLayoutId id="2147484277" r:id="rId31"/>
    <p:sldLayoutId id="2147484278" r:id="rId32"/>
    <p:sldLayoutId id="2147484315" r:id="rId33"/>
    <p:sldLayoutId id="2147484316" r:id="rId34"/>
    <p:sldLayoutId id="2147484279" r:id="rId35"/>
    <p:sldLayoutId id="2147484286" r:id="rId36"/>
    <p:sldLayoutId id="2147484280" r:id="rId37"/>
    <p:sldLayoutId id="2147484317" r:id="rId38"/>
    <p:sldLayoutId id="2147484281" r:id="rId39"/>
    <p:sldLayoutId id="2147484311" r:id="rId40"/>
    <p:sldLayoutId id="2147484312" r:id="rId41"/>
    <p:sldLayoutId id="2147484313" r:id="rId42"/>
    <p:sldLayoutId id="2147484318" r:id="rId43"/>
    <p:sldLayoutId id="2147484319" r:id="rId44"/>
    <p:sldLayoutId id="2147484285" r:id="rId45"/>
    <p:sldLayoutId id="2147484297" r:id="rId46"/>
    <p:sldLayoutId id="2147484288" r:id="rId47"/>
    <p:sldLayoutId id="2147484289" r:id="rId48"/>
    <p:sldLayoutId id="2147484298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2160" userDrawn="1">
          <p15:clr>
            <a:srgbClr val="F26B43"/>
          </p15:clr>
        </p15:guide>
        <p15:guide id="67" pos="384" userDrawn="1">
          <p15:clr>
            <a:srgbClr val="F26B43"/>
          </p15:clr>
        </p15:guide>
        <p15:guide id="68" pos="7283" userDrawn="1">
          <p15:clr>
            <a:srgbClr val="F26B43"/>
          </p15:clr>
        </p15:guide>
        <p15:guide id="69" pos="3840" userDrawn="1">
          <p15:clr>
            <a:srgbClr val="F26B43"/>
          </p15:clr>
        </p15:guide>
        <p15:guide id="70" orient="horz" pos="3840" userDrawn="1">
          <p15:clr>
            <a:srgbClr val="9FCC3B"/>
          </p15:clr>
        </p15:guide>
        <p15:guide id="71" orient="horz" pos="392" userDrawn="1">
          <p15:clr>
            <a:srgbClr val="F26B43"/>
          </p15:clr>
        </p15:guide>
        <p15:guide id="73" orient="horz" pos="2691" userDrawn="1">
          <p15:clr>
            <a:srgbClr val="A4A3A4"/>
          </p15:clr>
        </p15:guide>
        <p15:guide id="74" orient="horz" pos="583" userDrawn="1">
          <p15:clr>
            <a:srgbClr val="A4A3A4"/>
          </p15:clr>
        </p15:guide>
        <p15:guide id="75" orient="horz" pos="1732" userDrawn="1">
          <p15:clr>
            <a:srgbClr val="A4A3A4"/>
          </p15:clr>
        </p15:guide>
        <p15:guide id="76" orient="horz" pos="2307" userDrawn="1">
          <p15:clr>
            <a:srgbClr val="A4A3A4"/>
          </p15:clr>
        </p15:guide>
        <p15:guide id="77" orient="horz" pos="4090" userDrawn="1">
          <p15:clr>
            <a:srgbClr val="F26B43"/>
          </p15:clr>
        </p15:guide>
        <p15:guide id="78" orient="horz" pos="1157" userDrawn="1">
          <p15:clr>
            <a:srgbClr val="A4A3A4"/>
          </p15:clr>
        </p15:guide>
        <p15:guide id="79" orient="horz" pos="1349" userDrawn="1">
          <p15:clr>
            <a:srgbClr val="A4A3A4"/>
          </p15:clr>
        </p15:guide>
        <p15:guide id="80" orient="horz" pos="1541" userDrawn="1">
          <p15:clr>
            <a:srgbClr val="A4A3A4"/>
          </p15:clr>
        </p15:guide>
        <p15:guide id="81" pos="755" userDrawn="1">
          <p15:clr>
            <a:srgbClr val="A4A3A4"/>
          </p15:clr>
        </p15:guide>
        <p15:guide id="82" pos="987" userDrawn="1">
          <p15:clr>
            <a:srgbClr val="A4A3A4"/>
          </p15:clr>
        </p15:guide>
        <p15:guide id="83" pos="1349" userDrawn="1">
          <p15:clr>
            <a:srgbClr val="A4A3A4"/>
          </p15:clr>
        </p15:guide>
        <p15:guide id="84" pos="1584" userDrawn="1">
          <p15:clr>
            <a:srgbClr val="A4A3A4"/>
          </p15:clr>
        </p15:guide>
        <p15:guide id="85" pos="1941" userDrawn="1">
          <p15:clr>
            <a:srgbClr val="A4A3A4"/>
          </p15:clr>
        </p15:guide>
        <p15:guide id="86" pos="2172" userDrawn="1">
          <p15:clr>
            <a:srgbClr val="A4A3A4"/>
          </p15:clr>
        </p15:guide>
        <p15:guide id="87" pos="2536" userDrawn="1">
          <p15:clr>
            <a:srgbClr val="A4A3A4"/>
          </p15:clr>
        </p15:guide>
        <p15:guide id="88" pos="2767" userDrawn="1">
          <p15:clr>
            <a:srgbClr val="A4A3A4"/>
          </p15:clr>
        </p15:guide>
        <p15:guide id="89" pos="3129" userDrawn="1">
          <p15:clr>
            <a:srgbClr val="A4A3A4"/>
          </p15:clr>
        </p15:guide>
        <p15:guide id="90" pos="3359" userDrawn="1">
          <p15:clr>
            <a:srgbClr val="A4A3A4"/>
          </p15:clr>
        </p15:guide>
        <p15:guide id="91" pos="3723" userDrawn="1">
          <p15:clr>
            <a:srgbClr val="A4A3A4"/>
          </p15:clr>
        </p15:guide>
        <p15:guide id="92" pos="3952" userDrawn="1">
          <p15:clr>
            <a:srgbClr val="A4A3A4"/>
          </p15:clr>
        </p15:guide>
        <p15:guide id="93" pos="4316" userDrawn="1">
          <p15:clr>
            <a:srgbClr val="A4A3A4"/>
          </p15:clr>
        </p15:guide>
        <p15:guide id="94" pos="4546" userDrawn="1">
          <p15:clr>
            <a:srgbClr val="A4A3A4"/>
          </p15:clr>
        </p15:guide>
        <p15:guide id="95" pos="4909" userDrawn="1">
          <p15:clr>
            <a:srgbClr val="A4A3A4"/>
          </p15:clr>
        </p15:guide>
        <p15:guide id="96" pos="5139" userDrawn="1">
          <p15:clr>
            <a:srgbClr val="A4A3A4"/>
          </p15:clr>
        </p15:guide>
        <p15:guide id="97" pos="5496" userDrawn="1">
          <p15:clr>
            <a:srgbClr val="A4A3A4"/>
          </p15:clr>
        </p15:guide>
        <p15:guide id="98" pos="5742" userDrawn="1">
          <p15:clr>
            <a:srgbClr val="A4A3A4"/>
          </p15:clr>
        </p15:guide>
        <p15:guide id="99" pos="6360" userDrawn="1">
          <p15:clr>
            <a:srgbClr val="A4A3A4"/>
          </p15:clr>
        </p15:guide>
        <p15:guide id="101" pos="6688" userDrawn="1">
          <p15:clr>
            <a:srgbClr val="A4A3A4"/>
          </p15:clr>
        </p15:guide>
        <p15:guide id="102" pos="6919" userDrawn="1">
          <p15:clr>
            <a:srgbClr val="A4A3A4"/>
          </p15:clr>
        </p15:guide>
        <p15:guide id="103" orient="horz" pos="774" userDrawn="1">
          <p15:clr>
            <a:srgbClr val="A4A3A4"/>
          </p15:clr>
        </p15:guide>
        <p15:guide id="104" orient="horz" pos="966" userDrawn="1">
          <p15:clr>
            <a:srgbClr val="A4A3A4"/>
          </p15:clr>
        </p15:guide>
        <p15:guide id="105" orient="horz" pos="1924" userDrawn="1">
          <p15:clr>
            <a:srgbClr val="A4A3A4"/>
          </p15:clr>
        </p15:guide>
        <p15:guide id="106" orient="horz" pos="2881" userDrawn="1">
          <p15:clr>
            <a:srgbClr val="A4A3A4"/>
          </p15:clr>
        </p15:guide>
        <p15:guide id="107" orient="horz" pos="3073" userDrawn="1">
          <p15:clr>
            <a:srgbClr val="A4A3A4"/>
          </p15:clr>
        </p15:guide>
        <p15:guide id="108" orient="horz" pos="3264" userDrawn="1">
          <p15:clr>
            <a:srgbClr val="A4A3A4"/>
          </p15:clr>
        </p15:guide>
        <p15:guide id="109" orient="horz" pos="3456" userDrawn="1">
          <p15:clr>
            <a:srgbClr val="A4A3A4"/>
          </p15:clr>
        </p15:guide>
        <p15:guide id="110" orient="horz" pos="3648" userDrawn="1">
          <p15:clr>
            <a:srgbClr val="A4A3A4"/>
          </p15:clr>
        </p15:guide>
        <p15:guide id="111" orient="horz" pos="2115" userDrawn="1">
          <p15:clr>
            <a:srgbClr val="A4A3A4"/>
          </p15:clr>
        </p15:guide>
        <p15:guide id="112" orient="horz" pos="3925" userDrawn="1">
          <p15:clr>
            <a:srgbClr val="A4A3A4"/>
          </p15:clr>
        </p15:guide>
        <p15:guide id="113" orient="horz" pos="377" userDrawn="1">
          <p15:clr>
            <a:srgbClr val="9FCC3B"/>
          </p15:clr>
        </p15:guide>
        <p15:guide id="115" pos="870" userDrawn="1">
          <p15:clr>
            <a:srgbClr val="9FCC3B"/>
          </p15:clr>
        </p15:guide>
        <p15:guide id="116" pos="1467" userDrawn="1">
          <p15:clr>
            <a:srgbClr val="9FCC3B"/>
          </p15:clr>
        </p15:guide>
        <p15:guide id="117" pos="2057" userDrawn="1">
          <p15:clr>
            <a:srgbClr val="9FCC3B"/>
          </p15:clr>
        </p15:guide>
        <p15:guide id="118" pos="2650" userDrawn="1">
          <p15:clr>
            <a:srgbClr val="9FCC3B"/>
          </p15:clr>
        </p15:guide>
        <p15:guide id="119" pos="3243" userDrawn="1">
          <p15:clr>
            <a:srgbClr val="9FCC3B"/>
          </p15:clr>
        </p15:guide>
        <p15:guide id="120" pos="4431" userDrawn="1">
          <p15:clr>
            <a:srgbClr val="9FCC3B"/>
          </p15:clr>
        </p15:guide>
        <p15:guide id="121" pos="5024" userDrawn="1">
          <p15:clr>
            <a:srgbClr val="9FCC3B"/>
          </p15:clr>
        </p15:guide>
        <p15:guide id="122" pos="5616" userDrawn="1">
          <p15:clr>
            <a:srgbClr val="9FCC3B"/>
          </p15:clr>
        </p15:guide>
        <p15:guide id="123" pos="6801" userDrawn="1">
          <p15:clr>
            <a:srgbClr val="9FCC3B"/>
          </p15:clr>
        </p15:guide>
        <p15:guide id="124" pos="6210" userDrawn="1">
          <p15:clr>
            <a:srgbClr val="9FCC3B"/>
          </p15:clr>
        </p15:guide>
        <p15:guide id="126" orient="horz" pos="229" userDrawn="1">
          <p15:clr>
            <a:srgbClr val="A4A3A4"/>
          </p15:clr>
        </p15:guide>
        <p15:guide id="127" orient="horz" pos="2498" userDrawn="1">
          <p15:clr>
            <a:srgbClr val="A4A3A4"/>
          </p15:clr>
        </p15:guide>
        <p15:guide id="128" pos="6096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32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18.png"/><Relationship Id="rId5" Type="http://schemas.openxmlformats.org/officeDocument/2006/relationships/image" Target="../media/image46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55.png"/><Relationship Id="rId4" Type="http://schemas.openxmlformats.org/officeDocument/2006/relationships/image" Target="../media/image18.png"/><Relationship Id="rId5" Type="http://schemas.openxmlformats.org/officeDocument/2006/relationships/image" Target="../media/image56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Relationship Id="rId3" Type="http://schemas.openxmlformats.org/officeDocument/2006/relationships/image" Target="../media/image57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58.png"/><Relationship Id="rId4" Type="http://schemas.openxmlformats.org/officeDocument/2006/relationships/image" Target="../media/image25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46.png"/><Relationship Id="rId8" Type="http://schemas.openxmlformats.org/officeDocument/2006/relationships/image" Target="../media/image30.png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46.png"/><Relationship Id="rId7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to AI-First:</a:t>
            </a:r>
          </a:p>
          <a:p>
            <a:r>
              <a:t>GenAI-Powered Migrations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Five on-prem workloads to Webex. One repeatable pattern. AI at both ends.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Speaker Name</a:t>
            </a:r>
          </a:p>
          <a:p>
            <a:r>
              <a:t>Title, Company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WebexOne 2026  |  Technical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81397" y="566928"/>
            <a:ext cx="822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10224" y="566928"/>
            <a:ext cx="56692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Inter Semi Bold"/>
              </a:rPr>
              <a:t>Why migrate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1397" y="1298448"/>
            <a:ext cx="822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0224" y="1298448"/>
            <a:ext cx="56692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Inter Semi Bold"/>
              </a:rPr>
              <a:t>AI works twice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81397" y="2029968"/>
            <a:ext cx="822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0224" y="2029968"/>
            <a:ext cx="56692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Inter Semi Bold"/>
              </a:rPr>
              <a:t>The five-step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1397" y="2761488"/>
            <a:ext cx="822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0224" y="2761488"/>
            <a:ext cx="56692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Inter Semi Bold"/>
              </a:rPr>
              <a:t>Five plays, one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397" y="3493008"/>
            <a:ext cx="822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0224" y="3493008"/>
            <a:ext cx="566928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0A0A0A"/>
                </a:solidFill>
                <a:latin typeface="Inter Semi Bold"/>
              </a:rPr>
              <a:t>Guardrails &amp; takeaways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Don't just migrate.</a:t>
            </a:r>
          </a:p>
          <a:p>
            <a:r>
              <a:t>Transform.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legacy 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01 · WHY MIGRATE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2011680" cy="306324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417320"/>
            <a:ext cx="2011680" cy="91440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112824" y="1783080"/>
            <a:ext cx="1005840" cy="1005840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7" name="Picture 6" descr="heads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09" y="2004364"/>
            <a:ext cx="563270" cy="5632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624" y="2971800"/>
            <a:ext cx="192024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UCCX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" y="352044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Java-serialized AEF 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0184" y="1417320"/>
            <a:ext cx="2011680" cy="306324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850184" y="1417320"/>
            <a:ext cx="2011680" cy="91440"/>
          </a:xfrm>
          <a:prstGeom prst="rect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3353104" y="1783080"/>
            <a:ext cx="1005840" cy="100584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3" name="Picture 12" descr="peop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389" y="2004364"/>
            <a:ext cx="563270" cy="5632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95904" y="2971800"/>
            <a:ext cx="192024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Hunt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7344" y="352044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Dead pilots, tangled lists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0464" y="1417320"/>
            <a:ext cx="2011680" cy="306324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090464" y="1417320"/>
            <a:ext cx="2011680" cy="91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5593384" y="1783080"/>
            <a:ext cx="1005840" cy="100584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9" name="Picture 18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669" y="2004364"/>
            <a:ext cx="563270" cy="5632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36184" y="2971800"/>
            <a:ext cx="192024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Unity Connection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7624" y="352044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Deep touch-tone trees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30744" y="1417320"/>
            <a:ext cx="2011680" cy="306324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330744" y="1417320"/>
            <a:ext cx="2011680" cy="91440"/>
          </a:xfrm>
          <a:prstGeom prst="rect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7833664" y="1783080"/>
            <a:ext cx="1005840" cy="1005840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5" name="Picture 24" descr="grap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949" y="2004364"/>
            <a:ext cx="563270" cy="5632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76464" y="2971800"/>
            <a:ext cx="192024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CUCM Dial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7904" y="352044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CSS &amp; partition sprawl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71024" y="1417320"/>
            <a:ext cx="2011680" cy="306324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9571024" y="1417320"/>
            <a:ext cx="2011680" cy="914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0073944" y="1783080"/>
            <a:ext cx="1005840" cy="1005840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1" name="Picture 30" descr="device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29" y="2004364"/>
            <a:ext cx="563270" cy="5632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6744" y="2971800"/>
            <a:ext cx="192024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CE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08184" y="352044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Aging macros &amp; xAPI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" y="4892040"/>
            <a:ext cx="10972800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4400" b="0" i="0">
                <a:solidFill>
                  <a:srgbClr val="0A60FF"/>
                </a:solidFill>
                <a:latin typeface="Inter Semi Bold"/>
              </a:rPr>
              <a:t>Opaque.   </a:t>
            </a:r>
            <a:r>
              <a:rPr sz="4400" b="0" i="0">
                <a:solidFill>
                  <a:srgbClr val="FF007F"/>
                </a:solidFill>
                <a:latin typeface="Inter Semi Bold"/>
              </a:rPr>
              <a:t>Manual.   </a:t>
            </a:r>
            <a:r>
              <a:rPr sz="4400" b="0" i="0">
                <a:solidFill>
                  <a:srgbClr val="FF9000"/>
                </a:solidFill>
                <a:latin typeface="Inter Semi Bold"/>
              </a:rPr>
              <a:t>Error-prone.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works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02 · TWO ROLES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371600"/>
            <a:ext cx="4297680" cy="4526280"/>
          </a:xfrm>
          <a:prstGeom prst="roundRect">
            <a:avLst>
              <a:gd name="adj" fmla="val 425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38404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A60FF"/>
                </a:solidFill>
                <a:latin typeface="Inter Semi Bold"/>
              </a:rPr>
              <a:t>DURING THE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384048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0A0A0A"/>
                </a:solidFill>
                <a:latin typeface="Inter Semi Bold"/>
              </a:rPr>
              <a:t>AI as your copilot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06040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8" name="Picture 7" descr="docs_0A60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15768"/>
            <a:ext cx="42062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2606040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Parse legacy configs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392424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1" name="Picture 10" descr="link_0A60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02152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00200" y="3392424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Map to cloud objects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178808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4" name="Picture 13" descr="download_0A60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88536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4178808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Draft CSV &amp;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965192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7" name="Picture 16" descr="analytics_0A60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74920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4965192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Generate test plans</a:t>
            </a:r>
          </a:p>
        </p:txBody>
      </p:sp>
      <p:sp>
        <p:nvSpPr>
          <p:cNvPr id="19" name="Oval 18"/>
          <p:cNvSpPr/>
          <p:nvPr/>
        </p:nvSpPr>
        <p:spPr>
          <a:xfrm>
            <a:off x="5367528" y="2697480"/>
            <a:ext cx="1463040" cy="1463040"/>
          </a:xfrm>
          <a:prstGeom prst="ellipse">
            <a:avLst/>
          </a:prstGeom>
          <a:gradFill rotWithShape="1">
            <a:gsLst>
              <a:gs pos="0">
                <a:srgbClr val="00C8FF"/>
              </a:gs>
              <a:gs pos="100000">
                <a:srgbClr val="0A60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0" name="Picture 19" descr="clou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6712" y="3026664"/>
            <a:ext cx="804672" cy="8046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01768" y="425196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Webex Cloud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56048" y="342900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76288" y="342900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5024" y="1371600"/>
            <a:ext cx="4297680" cy="4526280"/>
          </a:xfrm>
          <a:prstGeom prst="roundRect">
            <a:avLst>
              <a:gd name="adj" fmla="val 4255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554480"/>
            <a:ext cx="384048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AFTER THE MIGRATION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874519"/>
            <a:ext cx="3840480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FFFFFF"/>
                </a:solidFill>
                <a:latin typeface="Inter Semi Bold"/>
              </a:rPr>
              <a:t>AI as your product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606040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8" name="Picture 27" descr="cc_ai_FF00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715768"/>
            <a:ext cx="420624" cy="42062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5320" y="2606040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Webex AI Agent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3392424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1" name="Picture 30" descr="mic_FF007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3502152"/>
            <a:ext cx="420624" cy="4206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75320" y="3392424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AI Receptionist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4178808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4" name="Picture 33" descr="transcript_FF007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4288536"/>
            <a:ext cx="420624" cy="42062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75320" y="4178808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Voicemail Transcription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4965192"/>
            <a:ext cx="3794760" cy="64008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7" name="Picture 36" descr="devices_FF007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5074920"/>
            <a:ext cx="420624" cy="42062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75320" y="4965192"/>
            <a:ext cx="3017520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AI Assistant on RoomOS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</a:t>
            </a:r>
            <a:br/>
            <a:r>
              <a:t>The Method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method. Every workload.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THE FIVE-STEP METHOD</a:t>
            </a:r>
          </a:p>
        </p:txBody>
      </p:sp>
      <p:sp>
        <p:nvSpPr>
          <p:cNvPr id="4" name="Oval 3"/>
          <p:cNvSpPr/>
          <p:nvPr/>
        </p:nvSpPr>
        <p:spPr>
          <a:xfrm>
            <a:off x="1318564" y="1417320"/>
            <a:ext cx="914400" cy="91440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downloa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32" y="1618488"/>
            <a:ext cx="512064" cy="512064"/>
          </a:xfrm>
          <a:prstGeom prst="rect">
            <a:avLst/>
          </a:prstGeom>
        </p:spPr>
      </p:pic>
      <p:sp>
        <p:nvSpPr>
          <p:cNvPr id="6" name="Pentagon 5"/>
          <p:cNvSpPr/>
          <p:nvPr/>
        </p:nvSpPr>
        <p:spPr>
          <a:xfrm>
            <a:off x="609904" y="2560320"/>
            <a:ext cx="2331720" cy="1097280"/>
          </a:xfrm>
          <a:prstGeom prst="homePlate">
            <a:avLst>
              <a:gd name="adj" fmla="val 32000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4572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" y="3794760"/>
            <a:ext cx="20574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Pull source data</a:t>
            </a:r>
          </a:p>
        </p:txBody>
      </p:sp>
      <p:sp>
        <p:nvSpPr>
          <p:cNvPr id="8" name="Oval 7"/>
          <p:cNvSpPr/>
          <p:nvPr/>
        </p:nvSpPr>
        <p:spPr>
          <a:xfrm>
            <a:off x="3485692" y="1417320"/>
            <a:ext cx="914400" cy="914400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9" name="Picture 8" descr="privac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860" y="1618488"/>
            <a:ext cx="512064" cy="512064"/>
          </a:xfrm>
          <a:prstGeom prst="rect">
            <a:avLst/>
          </a:prstGeom>
        </p:spPr>
      </p:pic>
      <p:sp>
        <p:nvSpPr>
          <p:cNvPr id="10" name="Chevron 9"/>
          <p:cNvSpPr/>
          <p:nvPr/>
        </p:nvSpPr>
        <p:spPr>
          <a:xfrm>
            <a:off x="2777032" y="2560320"/>
            <a:ext cx="2331720" cy="1097280"/>
          </a:xfrm>
          <a:prstGeom prst="chevron">
            <a:avLst>
              <a:gd name="adj" fmla="val 32000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7432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Sanitize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8472" y="3794760"/>
            <a:ext cx="20574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Strip PII &amp; secrets</a:t>
            </a:r>
          </a:p>
        </p:txBody>
      </p:sp>
      <p:sp>
        <p:nvSpPr>
          <p:cNvPr id="12" name="Oval 11"/>
          <p:cNvSpPr/>
          <p:nvPr/>
        </p:nvSpPr>
        <p:spPr>
          <a:xfrm>
            <a:off x="5652820" y="1417320"/>
            <a:ext cx="914400" cy="914400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3" name="Picture 12" descr="ai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988" y="1618488"/>
            <a:ext cx="512064" cy="512064"/>
          </a:xfrm>
          <a:prstGeom prst="rect">
            <a:avLst/>
          </a:prstGeom>
        </p:spPr>
      </p:pic>
      <p:sp>
        <p:nvSpPr>
          <p:cNvPr id="14" name="Chevron 13"/>
          <p:cNvSpPr/>
          <p:nvPr/>
        </p:nvSpPr>
        <p:spPr>
          <a:xfrm>
            <a:off x="4944160" y="2560320"/>
            <a:ext cx="2331720" cy="1097280"/>
          </a:xfrm>
          <a:prstGeom prst="chevron">
            <a:avLst>
              <a:gd name="adj" fmla="val 32000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7432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5600" y="3794760"/>
            <a:ext cx="20574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Recover intent</a:t>
            </a:r>
          </a:p>
        </p:txBody>
      </p:sp>
      <p:sp>
        <p:nvSpPr>
          <p:cNvPr id="16" name="Oval 15"/>
          <p:cNvSpPr/>
          <p:nvPr/>
        </p:nvSpPr>
        <p:spPr>
          <a:xfrm>
            <a:off x="7819948" y="1417320"/>
            <a:ext cx="914400" cy="91440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7" name="Picture 16" descr="automatio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116" y="1618488"/>
            <a:ext cx="512064" cy="512064"/>
          </a:xfrm>
          <a:prstGeom prst="rect">
            <a:avLst/>
          </a:prstGeom>
        </p:spPr>
      </p:pic>
      <p:sp>
        <p:nvSpPr>
          <p:cNvPr id="18" name="Chevron 17"/>
          <p:cNvSpPr/>
          <p:nvPr/>
        </p:nvSpPr>
        <p:spPr>
          <a:xfrm>
            <a:off x="7111288" y="2560320"/>
            <a:ext cx="2331720" cy="1097280"/>
          </a:xfrm>
          <a:prstGeom prst="chevron">
            <a:avLst>
              <a:gd name="adj" fmla="val 3200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7432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2728" y="3794760"/>
            <a:ext cx="20574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Map to Webex</a:t>
            </a:r>
          </a:p>
        </p:txBody>
      </p:sp>
      <p:sp>
        <p:nvSpPr>
          <p:cNvPr id="20" name="Oval 19"/>
          <p:cNvSpPr/>
          <p:nvPr/>
        </p:nvSpPr>
        <p:spPr>
          <a:xfrm>
            <a:off x="9987076" y="1417320"/>
            <a:ext cx="914400" cy="914400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1" name="Picture 20" descr="secure_cy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244" y="1618488"/>
            <a:ext cx="512064" cy="512064"/>
          </a:xfrm>
          <a:prstGeom prst="rect">
            <a:avLst/>
          </a:prstGeom>
        </p:spPr>
      </p:pic>
      <p:sp>
        <p:nvSpPr>
          <p:cNvPr id="22" name="Chevron 21"/>
          <p:cNvSpPr/>
          <p:nvPr/>
        </p:nvSpPr>
        <p:spPr>
          <a:xfrm>
            <a:off x="9278416" y="2560320"/>
            <a:ext cx="2331720" cy="1097280"/>
          </a:xfrm>
          <a:prstGeom prst="chevron">
            <a:avLst>
              <a:gd name="adj" fmla="val 3200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7432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9856" y="3794760"/>
            <a:ext cx="20574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Test every artifact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46920" y="4251960"/>
            <a:ext cx="0" cy="411480"/>
          </a:xfrm>
          <a:prstGeom prst="line">
            <a:avLst/>
          </a:prstGeom>
          <a:ln w="25400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394960" y="4663440"/>
            <a:ext cx="4251960" cy="0"/>
          </a:xfrm>
          <a:prstGeom prst="line">
            <a:avLst/>
          </a:prstGeom>
          <a:ln w="25400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94960" y="4279392"/>
            <a:ext cx="0" cy="384048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60720" y="4645152"/>
            <a:ext cx="35661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Iterate until it passes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41448" y="5257800"/>
            <a:ext cx="7315200" cy="6400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00C8FF"/>
                </a:solidFill>
                <a:latin typeface="Inter Semi Bold"/>
              </a:rPr>
              <a:t>Human in the loop:  </a:t>
            </a:r>
            <a:r>
              <a:rPr sz="2000" b="0" i="0">
                <a:solidFill>
                  <a:srgbClr val="FFFFFF"/>
                </a:solidFill>
                <a:latin typeface="Inter Semi Bold"/>
              </a:rPr>
              <a:t>AI drafts. Engineers approve.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workloads. Five AI destinations.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THE MIGRATION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298448"/>
            <a:ext cx="23317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298448"/>
            <a:ext cx="297180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HOW IT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298448"/>
            <a:ext cx="237744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WEBEX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3688" y="1298448"/>
            <a:ext cx="26517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AI PAYOFF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1664208"/>
            <a:ext cx="2331720" cy="713232"/>
          </a:xfrm>
          <a:prstGeom prst="roundRect">
            <a:avLst>
              <a:gd name="adj" fmla="val 1538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UCCX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" y="1664208"/>
            <a:ext cx="82296" cy="713232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139696"/>
            <a:ext cx="324612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1682496"/>
            <a:ext cx="29718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Auto-extract CSQs &amp;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664208"/>
            <a:ext cx="2377440" cy="713232"/>
          </a:xfrm>
          <a:prstGeom prst="roundRect">
            <a:avLst>
              <a:gd name="adj" fmla="val 15384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Webex Contact Center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50808" y="2020824"/>
            <a:ext cx="146304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33688" y="1664208"/>
            <a:ext cx="2651760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Webex AI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2532888"/>
            <a:ext cx="2331720" cy="713232"/>
          </a:xfrm>
          <a:prstGeom prst="roundRect">
            <a:avLst>
              <a:gd name="adj" fmla="val 1538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Hunt Pilots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2532888"/>
            <a:ext cx="82296" cy="713232"/>
          </a:xfrm>
          <a:prstGeom prst="rect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008376"/>
            <a:ext cx="324612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54680" y="2551176"/>
            <a:ext cx="29718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Control Hub bulk provisioning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532888"/>
            <a:ext cx="2377440" cy="713232"/>
          </a:xfrm>
          <a:prstGeom prst="roundRect">
            <a:avLst>
              <a:gd name="adj" fmla="val 15384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Customer Assist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50808" y="2889504"/>
            <a:ext cx="146304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33688" y="2532888"/>
            <a:ext cx="2651760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AI summaries + sentiment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3401568"/>
            <a:ext cx="2331720" cy="713232"/>
          </a:xfrm>
          <a:prstGeom prst="roundRect">
            <a:avLst>
              <a:gd name="adj" fmla="val 1538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Unity Connection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3401568"/>
            <a:ext cx="82296" cy="713232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3877056"/>
            <a:ext cx="324612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54680" y="3419856"/>
            <a:ext cx="29718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CallHandlerDataDump → 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3401568"/>
            <a:ext cx="2377440" cy="713232"/>
          </a:xfrm>
          <a:prstGeom prst="roundRect">
            <a:avLst>
              <a:gd name="adj" fmla="val 15384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Auto Attendants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50808" y="3758183"/>
            <a:ext cx="146304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33688" y="3401568"/>
            <a:ext cx="2651760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AI Receptionist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4270248"/>
            <a:ext cx="2331720" cy="713232"/>
          </a:xfrm>
          <a:prstGeom prst="roundRect">
            <a:avLst>
              <a:gd name="adj" fmla="val 1538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CUCM Dial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4270248"/>
            <a:ext cx="82296" cy="713232"/>
          </a:xfrm>
          <a:prstGeom prst="rect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4745736"/>
            <a:ext cx="324612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154680" y="4288536"/>
            <a:ext cx="29718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Migration wizard + E.164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4270248"/>
            <a:ext cx="2377440" cy="713232"/>
          </a:xfrm>
          <a:prstGeom prst="roundRect">
            <a:avLst>
              <a:gd name="adj" fmla="val 15384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Webex Calling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808" y="4626864"/>
            <a:ext cx="146304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33688" y="4270248"/>
            <a:ext cx="2651760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Voicemail AI Transcription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904" y="5138928"/>
            <a:ext cx="2331720" cy="713232"/>
          </a:xfrm>
          <a:prstGeom prst="roundRect">
            <a:avLst>
              <a:gd name="adj" fmla="val 15384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CE Endpoints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904" y="5138928"/>
            <a:ext cx="82296" cy="713232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17520" y="5614416"/>
            <a:ext cx="324612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154680" y="5157216"/>
            <a:ext cx="2971800" cy="38404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Webex Device Connector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5138928"/>
            <a:ext cx="2377440" cy="713232"/>
          </a:xfrm>
          <a:prstGeom prst="roundRect">
            <a:avLst>
              <a:gd name="adj" fmla="val 15384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RoomOS Workspaces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50808" y="5495544"/>
            <a:ext cx="146304" cy="0"/>
          </a:xfrm>
          <a:prstGeom prst="line">
            <a:avLst/>
          </a:prstGeom>
          <a:ln w="2222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33688" y="5138928"/>
            <a:ext cx="2651760" cy="713232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AI Assistant + GenAI macros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drafts.</a:t>
            </a:r>
          </a:p>
          <a:p>
            <a:r>
              <a:t>Engineers decide.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Your copilot - never the authority.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like an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PROMPT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5120640" cy="768096"/>
          </a:xfrm>
          <a:prstGeom prst="roundRect">
            <a:avLst>
              <a:gd name="adj" fmla="val 1428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417320"/>
            <a:ext cx="768096" cy="768096"/>
          </a:xfrm>
          <a:prstGeom prst="roundRect">
            <a:avLst>
              <a:gd name="adj" fmla="val 14285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Inter Semi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72184"/>
            <a:ext cx="4023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9656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Act as a UCCX migration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313432"/>
            <a:ext cx="5120640" cy="768096"/>
          </a:xfrm>
          <a:prstGeom prst="roundRect">
            <a:avLst>
              <a:gd name="adj" fmla="val 1428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2313432"/>
            <a:ext cx="768096" cy="768096"/>
          </a:xfrm>
          <a:prstGeom prst="roundRect">
            <a:avLst>
              <a:gd name="adj" fmla="val 14285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Inter Semi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68296"/>
            <a:ext cx="4023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15768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Sanitized export + product 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3209544"/>
            <a:ext cx="5120640" cy="768096"/>
          </a:xfrm>
          <a:prstGeom prst="roundRect">
            <a:avLst>
              <a:gd name="adj" fmla="val 1428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209544"/>
            <a:ext cx="768096" cy="768096"/>
          </a:xfrm>
          <a:prstGeom prst="roundRect">
            <a:avLst>
              <a:gd name="adj" fmla="val 14285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Inter Semi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64408"/>
            <a:ext cx="4023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11879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Schema, privacy, no invented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" y="4105656"/>
            <a:ext cx="5120640" cy="768096"/>
          </a:xfrm>
          <a:prstGeom prst="roundRect">
            <a:avLst>
              <a:gd name="adj" fmla="val 1428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4105656"/>
            <a:ext cx="768096" cy="768096"/>
          </a:xfrm>
          <a:prstGeom prst="roundRect">
            <a:avLst>
              <a:gd name="adj" fmla="val 14285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Inter Semi 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60520"/>
            <a:ext cx="4023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07992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JSON / CSV + mapping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" y="5001768"/>
            <a:ext cx="5120640" cy="768096"/>
          </a:xfrm>
          <a:prstGeom prst="roundRect">
            <a:avLst>
              <a:gd name="adj" fmla="val 1428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" y="5001768"/>
            <a:ext cx="768096" cy="768096"/>
          </a:xfrm>
          <a:prstGeom prst="roundRect">
            <a:avLst>
              <a:gd name="adj" fmla="val 14285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Inter Semi 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056631"/>
            <a:ext cx="4023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04104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Inter"/>
              </a:rPr>
              <a:t>Flag REQUIRES_VALIDATION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417320"/>
            <a:ext cx="5413248" cy="4352544"/>
          </a:xfrm>
          <a:prstGeom prst="roundRect">
            <a:avLst>
              <a:gd name="adj" fmla="val 3781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600200"/>
            <a:ext cx="146304" cy="146304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656832" y="1600200"/>
            <a:ext cx="146304" cy="146304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7" name="Oval 26"/>
          <p:cNvSpPr/>
          <p:nvPr/>
        </p:nvSpPr>
        <p:spPr>
          <a:xfrm>
            <a:off x="6912864" y="1600200"/>
            <a:ext cx="146304" cy="146304"/>
          </a:xfrm>
          <a:prstGeom prst="ellipse">
            <a:avLst/>
          </a:prstGeom>
          <a:solidFill>
            <a:srgbClr val="00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517904"/>
            <a:ext cx="32004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B9C0"/>
                </a:solidFill>
                <a:latin typeface="Consolas"/>
              </a:rPr>
              <a:t>migration_prompt.txt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11680"/>
            <a:ext cx="5029200" cy="3566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ROLE  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UCCX → WxCC migration analyst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SOURCE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sanitized .aef XML, UCCX 12.5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GOAL  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Flow Designer-ready JSON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RULES 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documented nodes only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      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never invent APIs or fields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OUTPUT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flow.json + mapping.csv</a:t>
            </a:r>
          </a:p>
          <a:p>
            <a:pPr algn="l">
              <a:spcAft>
                <a:spcPts val="700"/>
              </a:spcAft>
            </a:pPr>
            <a:r>
              <a:rPr sz="1700" b="0" i="0">
                <a:solidFill>
                  <a:srgbClr val="00C8FF"/>
                </a:solidFill>
                <a:latin typeface="Consolas"/>
              </a:rPr>
              <a:t>FLAG    </a:t>
            </a:r>
            <a:r>
              <a:rPr sz="1700" b="0" i="0">
                <a:solidFill>
                  <a:srgbClr val="FFFFFF"/>
                </a:solidFill>
                <a:latin typeface="Consolas"/>
              </a:rPr>
              <a:t>REQUIRES_VALIDATION if unsure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Sanitize before you send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DATA GUARDRAILS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1371600"/>
            <a:ext cx="1097280" cy="109728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doc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281" y="1613001"/>
            <a:ext cx="614476" cy="614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560320"/>
            <a:ext cx="24688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Raw export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920240"/>
            <a:ext cx="1463040" cy="0"/>
          </a:xfrm>
          <a:prstGeom prst="line">
            <a:avLst/>
          </a:prstGeom>
          <a:ln w="2857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160520" y="1371600"/>
            <a:ext cx="1097280" cy="109728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9" name="Picture 8" descr="privac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1921" y="1613001"/>
            <a:ext cx="614476" cy="6144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2560320"/>
            <a:ext cx="24688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Tokenize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1920240"/>
            <a:ext cx="1463040" cy="0"/>
          </a:xfrm>
          <a:prstGeom prst="line">
            <a:avLst/>
          </a:prstGeom>
          <a:ln w="2857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995160" y="1371600"/>
            <a:ext cx="1097280" cy="1097280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3" name="Picture 12" descr="ai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561" y="1613001"/>
            <a:ext cx="614476" cy="6144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2560320"/>
            <a:ext cx="24688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LLM 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1920240"/>
            <a:ext cx="1463040" cy="0"/>
          </a:xfrm>
          <a:prstGeom prst="line">
            <a:avLst/>
          </a:prstGeom>
          <a:ln w="2857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829800" y="1371600"/>
            <a:ext cx="1097280" cy="109728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7" name="Picture 16" descr="secure_cy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201" y="1613001"/>
            <a:ext cx="614476" cy="6144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0" y="2560320"/>
            <a:ext cx="24688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Re-hydrate locally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1234440"/>
            <a:ext cx="10972800" cy="1874519"/>
          </a:xfrm>
          <a:prstGeom prst="roundRect">
            <a:avLst>
              <a:gd name="adj" fmla="val 9756"/>
            </a:avLst>
          </a:prstGeom>
          <a:noFill/>
          <a:ln w="12700">
            <a:solidFill>
              <a:srgbClr val="B4B9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3520440"/>
            <a:ext cx="109728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 Semi Bold"/>
              </a:rPr>
              <a:t>Phone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37360" y="3520440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Consolas"/>
              </a:rPr>
              <a:t>+1 703 555 1212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720" y="3794760"/>
            <a:ext cx="868680" cy="0"/>
          </a:xfrm>
          <a:prstGeom prst="line">
            <a:avLst/>
          </a:prstGeom>
          <a:ln w="28575">
            <a:solidFill>
              <a:srgbClr val="FF00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0840" y="3520440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60FF"/>
                </a:solidFill>
                <a:latin typeface="Consolas"/>
              </a:rPr>
              <a:t>+1XXXXXXXX01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" y="4233672"/>
            <a:ext cx="109728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 Semi Bold"/>
              </a:rPr>
              <a:t>User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7360" y="4233672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Consolas"/>
              </a:rPr>
              <a:t>jane.smith@example.com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720" y="4507992"/>
            <a:ext cx="868680" cy="0"/>
          </a:xfrm>
          <a:prstGeom prst="line">
            <a:avLst/>
          </a:prstGeom>
          <a:ln w="28575">
            <a:solidFill>
              <a:srgbClr val="FF00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20840" y="4233672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60FF"/>
                </a:solidFill>
                <a:latin typeface="Consolas"/>
              </a:rPr>
              <a:t>USER_014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" y="4946904"/>
            <a:ext cx="109728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 Semi Bold"/>
              </a:rPr>
              <a:t>Site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37360" y="4946904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Consolas"/>
              </a:rPr>
              <a:t>HQ-Route-List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60720" y="5221224"/>
            <a:ext cx="868680" cy="0"/>
          </a:xfrm>
          <a:prstGeom prst="line">
            <a:avLst/>
          </a:prstGeom>
          <a:ln w="28575">
            <a:solidFill>
              <a:srgbClr val="FF00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720840" y="4946904"/>
            <a:ext cx="3931920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60FF"/>
                </a:solidFill>
                <a:latin typeface="Consolas"/>
              </a:rPr>
              <a:t>SITE_A_ROUTE_LIST</a:t>
            </a:r>
          </a:p>
        </p:txBody>
      </p:sp>
      <p:pic>
        <p:nvPicPr>
          <p:cNvPr id="32" name="Picture 31" descr="lock_0A0A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657600"/>
            <a:ext cx="548640" cy="5486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44200" y="4251960"/>
            <a:ext cx="91440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Key stays local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</a:t>
            </a:r>
            <a:br/>
            <a:r>
              <a:t>Five Plays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Decode the AEF. Rebuild in Flow Designer.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PLAY 1 · UCCX → WEBEX CONTACT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docs_6B6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13" y="1600200"/>
            <a:ext cx="603504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1344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.aef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Java-serialized XML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2090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1274" y="1417320"/>
            <a:ext cx="1887321" cy="1874519"/>
          </a:xfrm>
          <a:prstGeom prst="roundRect">
            <a:avLst>
              <a:gd name="adj" fmla="val 6829"/>
            </a:avLst>
          </a:prstGeom>
          <a:gradFill rotWithShape="1">
            <a:gsLst>
              <a:gs pos="0">
                <a:srgbClr val="00C8FF"/>
              </a:gs>
              <a:gs pos="100000">
                <a:srgbClr val="0A60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0" name="Picture 9" descr="ai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83" y="1600200"/>
            <a:ext cx="603504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2714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LLM analyst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2714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Claude · ChatGPT · Gemini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3459" y="2354580"/>
            <a:ext cx="274321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2644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5" name="Picture 14" descr="download_0A60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52" y="1600200"/>
            <a:ext cx="603504" cy="603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4408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Flow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408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Import-ready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4829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4013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0" name="Picture 19" descr="graph_0A60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922" y="1600200"/>
            <a:ext cx="603504" cy="603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1545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Flow Designer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545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Webex Contact Center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66199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5383" y="1417320"/>
            <a:ext cx="1887321" cy="1874519"/>
          </a:xfrm>
          <a:prstGeom prst="roundRect">
            <a:avLst>
              <a:gd name="adj" fmla="val 6829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5" name="Picture 24" descr="cc_a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1600200"/>
            <a:ext cx="603504" cy="6035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8682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AI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682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Webex digital front door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" y="3611880"/>
            <a:ext cx="54864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WHAT MOVES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3977639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CSQs → Queues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50184" y="3977639"/>
            <a:ext cx="10972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Skills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38904" y="3977639"/>
            <a:ext cx="20574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Agents &amp; teams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7744" y="3977639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Prompts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50784" y="3977639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Wrap-up codes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53904" y="3977639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36576" tIns="0" rIns="36576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0A60FF"/>
                </a:solidFill>
                <a:latin typeface="Inter Semi Bold"/>
              </a:rPr>
              <a:t>Entry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4983480"/>
            <a:ext cx="1097280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400" b="0" i="0">
                <a:solidFill>
                  <a:srgbClr val="0A0A0A"/>
                </a:solidFill>
                <a:latin typeface="Inter Semi Bold"/>
              </a:rPr>
              <a:t>No manual rebuilds.  </a:t>
            </a:r>
            <a:r>
              <a:rPr sz="3400" b="0" i="0">
                <a:solidFill>
                  <a:srgbClr val="0A60FF"/>
                </a:solidFill>
                <a:latin typeface="Inter Semi Bold"/>
              </a:rPr>
              <a:t>Review. Test. Import.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UCCX step has a new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PLAY 1 · INTENT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216152"/>
            <a:ext cx="30175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UCCX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216152"/>
            <a:ext cx="35661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216152"/>
            <a:ext cx="408736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WEBEX CONTACT CENTER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554480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Menu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1810512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60934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Capture choice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54480"/>
            <a:ext cx="4087368" cy="512064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Menu → AI 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2176272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Select Resource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03320" y="2432304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2231136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Route to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176272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Queue + skill 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2798064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Day of Week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3054096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43400" y="2852928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Apply schedule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798064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Business-hours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3419856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Get Contact Info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03320" y="3675888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347472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Read attributes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419856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Flow 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" y="4041648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Database 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03320" y="4297680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43400" y="4096511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Fetch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4041648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HTTP request /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904" y="4663440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03320" y="4919472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471830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Inform caller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663440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TTS or AI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904" y="5285232"/>
            <a:ext cx="3017520" cy="512064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Exception branch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703320" y="5541264"/>
            <a:ext cx="3721607" cy="0"/>
          </a:xfrm>
          <a:prstGeom prst="line">
            <a:avLst/>
          </a:prstGeom>
          <a:ln w="19050">
            <a:solidFill>
              <a:srgbClr val="D6D6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43400" y="5340096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Handle failure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5285232"/>
            <a:ext cx="4087368" cy="512064"/>
          </a:xfrm>
          <a:prstGeom prst="roundRect">
            <a:avLst>
              <a:gd name="adj" fmla="val 17857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Error path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Retire the IVR.</a:t>
            </a:r>
          </a:p>
          <a:p>
            <a:r>
              <a:t>Open a front door.</a:t>
            </a:r>
          </a:p>
        </p:txBody>
      </p:sp>
      <p:pic>
        <p:nvPicPr>
          <p:cNvPr id="3" name="Picture Placeholder 2" descr="cx_agent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6785" r="16785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9904" y="228600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PLAY 1 · WEBEX AI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828800"/>
            <a:ext cx="4846320" cy="64008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 strike="sngStrike">
                <a:solidFill>
                  <a:srgbClr val="6B6B6B"/>
                </a:solidFill>
                <a:latin typeface="Inter"/>
              </a:rPr>
              <a:t>“Press 1 for billing. Press 2 for…”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606040"/>
            <a:ext cx="4846320" cy="7315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“Hi! How can I help today?”</a:t>
            </a:r>
          </a:p>
        </p:txBody>
      </p:sp>
      <p:pic>
        <p:nvPicPr>
          <p:cNvPr id="7" name="Picture 6" descr="ai_0A60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03320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3685032"/>
            <a:ext cx="438912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Autonomous + scripted modes</a:t>
            </a:r>
          </a:p>
        </p:txBody>
      </p:sp>
      <p:pic>
        <p:nvPicPr>
          <p:cNvPr id="9" name="Picture 8" descr="apps_0A60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306824"/>
            <a:ext cx="43891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4288536"/>
            <a:ext cx="438912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Acts in Epic &amp; Salesforce</a:t>
            </a:r>
          </a:p>
        </p:txBody>
      </p:sp>
      <p:pic>
        <p:nvPicPr>
          <p:cNvPr id="11" name="Picture 10" descr="translate_0A60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910328"/>
            <a:ext cx="438912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4892040"/>
            <a:ext cx="438912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Empathetic, multilingual voice</a:t>
            </a:r>
          </a:p>
        </p:txBody>
      </p:sp>
      <p:pic>
        <p:nvPicPr>
          <p:cNvPr id="13" name="Picture 12" descr="transcript_0A60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513831"/>
            <a:ext cx="438912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5495544"/>
            <a:ext cx="438912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Hands off with a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Right-size every Hunt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6A8FF"/>
                </a:solidFill>
                <a:latin typeface="Inter Semi Bold"/>
              </a:rPr>
              <a:t>PLAY 2 · CUCM HUNT PILOTS → WEBEX CUSTOMER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417320"/>
            <a:ext cx="173736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 Semi Bold"/>
              </a:rPr>
              <a:t>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417320"/>
            <a:ext cx="2057400" cy="502920"/>
          </a:xfrm>
          <a:prstGeom prst="roundRect">
            <a:avLst>
              <a:gd name="adj" fmla="val 4909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 Semi Bold"/>
              </a:rPr>
              <a:t>Hunt Pilot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03320" y="1668780"/>
            <a:ext cx="36576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1417320"/>
            <a:ext cx="2057400" cy="502920"/>
          </a:xfrm>
          <a:prstGeom prst="roundRect">
            <a:avLst>
              <a:gd name="adj" fmla="val 4909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 Semi Bold"/>
              </a:rPr>
              <a:t>Hunt 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1668780"/>
            <a:ext cx="36576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9400" y="1417320"/>
            <a:ext cx="2057400" cy="502920"/>
          </a:xfrm>
          <a:prstGeom prst="roundRect">
            <a:avLst>
              <a:gd name="adj" fmla="val 4909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 Semi Bold"/>
              </a:rPr>
              <a:t>Line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32520" y="1668780"/>
            <a:ext cx="36576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1417320"/>
            <a:ext cx="2057400" cy="502920"/>
          </a:xfrm>
          <a:prstGeom prst="roundRect">
            <a:avLst>
              <a:gd name="adj" fmla="val 4909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 Semi Bold"/>
              </a:rPr>
              <a:t>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4526279"/>
            <a:ext cx="2606040" cy="1234440"/>
          </a:xfrm>
          <a:prstGeom prst="roundRect">
            <a:avLst>
              <a:gd name="adj" fmla="val 11851"/>
            </a:avLst>
          </a:prstGeom>
          <a:solidFill>
            <a:srgbClr val="B4B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" y="4709159"/>
            <a:ext cx="22860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0A0A0A"/>
                </a:solidFill>
                <a:latin typeface="Inter Semi Bold"/>
              </a:rPr>
              <a:t>Hunt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" y="5120640"/>
            <a:ext cx="2286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Inter"/>
              </a:rPr>
              <a:t>Simple ringing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8824" y="3977639"/>
            <a:ext cx="2606040" cy="1783080"/>
          </a:xfrm>
          <a:prstGeom prst="roundRect">
            <a:avLst>
              <a:gd name="adj" fmla="val 8205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1704" y="4160520"/>
            <a:ext cx="22860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Call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1704" y="4572000"/>
            <a:ext cx="2286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Basic queuing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744" y="3383279"/>
            <a:ext cx="2606040" cy="2377440"/>
          </a:xfrm>
          <a:prstGeom prst="roundRect">
            <a:avLst>
              <a:gd name="adj" fmla="val 6153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624" y="3566160"/>
            <a:ext cx="22860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Customer Assist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624" y="3977639"/>
            <a:ext cx="2286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Frontline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6664" y="2788920"/>
            <a:ext cx="2606040" cy="2971800"/>
          </a:xfrm>
          <a:prstGeom prst="roundRect">
            <a:avLst>
              <a:gd name="adj" fmla="val 5614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9544" y="2971800"/>
            <a:ext cx="22860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Contact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9544" y="3383279"/>
            <a:ext cx="22860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Advanced CX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92608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Sweet spot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943600"/>
            <a:ext cx="10911536" cy="0"/>
          </a:xfrm>
          <a:prstGeom prst="line">
            <a:avLst/>
          </a:prstGeom>
          <a:ln w="1905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0" y="5961888"/>
            <a:ext cx="310896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More capability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first. Then move.</a:t>
            </a:r>
          </a:p>
        </p:txBody>
      </p:sp>
      <p:pic>
        <p:nvPicPr>
          <p:cNvPr id="3" name="Picture Placeholder 2" descr="branch_team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7023" r="27023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9904" y="228600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6A8FF"/>
                </a:solidFill>
                <a:latin typeface="Inter Semi Bold"/>
              </a:rPr>
              <a:t>PLAY 2 · RATIONALIZE WITH GENAI</a:t>
            </a:r>
          </a:p>
        </p:txBody>
      </p:sp>
      <p:sp>
        <p:nvSpPr>
          <p:cNvPr id="5" name="Oval 4"/>
          <p:cNvSpPr/>
          <p:nvPr/>
        </p:nvSpPr>
        <p:spPr>
          <a:xfrm>
            <a:off x="929944" y="1417320"/>
            <a:ext cx="640080" cy="64008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4184" y="2148840"/>
            <a:ext cx="1371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Inter Semi Bold"/>
              </a:rPr>
              <a:t>BAT extract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15744" y="1737360"/>
            <a:ext cx="64008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01544" y="1417320"/>
            <a:ext cx="640080" cy="64008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784" y="2148840"/>
            <a:ext cx="1371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Inter Semi Bold"/>
              </a:rPr>
              <a:t>Rebuild links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87344" y="1737360"/>
            <a:ext cx="64008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73144" y="1417320"/>
            <a:ext cx="640080" cy="64008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7384" y="2148840"/>
            <a:ext cx="1371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Inter Semi Bold"/>
              </a:rPr>
              <a:t>Flag dead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58944" y="1737360"/>
            <a:ext cx="64008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44744" y="1417320"/>
            <a:ext cx="640080" cy="64008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8984" y="2148840"/>
            <a:ext cx="1371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Inter Semi Bold"/>
              </a:rPr>
              <a:t>Classify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30544" y="1737360"/>
            <a:ext cx="640080" cy="0"/>
          </a:xfrm>
          <a:prstGeom prst="line">
            <a:avLst/>
          </a:prstGeom>
          <a:ln w="22225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16344" y="1417320"/>
            <a:ext cx="640080" cy="64008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0584" y="2148840"/>
            <a:ext cx="137160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500" b="0" i="0">
                <a:solidFill>
                  <a:srgbClr val="0A0A0A"/>
                </a:solidFill>
                <a:latin typeface="Inter Semi Bold"/>
              </a:rPr>
              <a:t>Ask owners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2926080"/>
            <a:ext cx="6400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CLASSIFY EVERY PILOT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" y="3291840"/>
            <a:ext cx="1252728" cy="548640"/>
          </a:xfrm>
          <a:prstGeom prst="roundRect">
            <a:avLst>
              <a:gd name="adj" fmla="val 50000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Preserve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54072" y="3291840"/>
            <a:ext cx="1252728" cy="548640"/>
          </a:xfrm>
          <a:prstGeom prst="roundRect">
            <a:avLst>
              <a:gd name="adj" fmla="val 50000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Simplify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8240" y="3291840"/>
            <a:ext cx="1252728" cy="548640"/>
          </a:xfrm>
          <a:prstGeom prst="roundRect">
            <a:avLst>
              <a:gd name="adj" fmla="val 5000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Modernize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2408" y="3291840"/>
            <a:ext cx="1252728" cy="548640"/>
          </a:xfrm>
          <a:prstGeom prst="roundRect">
            <a:avLst>
              <a:gd name="adj" fmla="val 50000"/>
            </a:avLst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Retire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6576" y="3291840"/>
            <a:ext cx="1252728" cy="548640"/>
          </a:xfrm>
          <a:prstGeom prst="roundRect">
            <a:avLst>
              <a:gd name="adj" fmla="val 5000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 Semi Bold"/>
              </a:rPr>
              <a:t>Need info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" y="4206240"/>
            <a:ext cx="6583680" cy="1600200"/>
          </a:xfrm>
          <a:prstGeom prst="roundRect">
            <a:avLst>
              <a:gd name="adj" fmla="val 10285"/>
            </a:avLst>
          </a:prstGeom>
          <a:gradFill rotWithShape="1">
            <a:gsLst>
              <a:gs pos="0">
                <a:srgbClr val="06A8FF"/>
              </a:gs>
              <a:gs pos="100000">
                <a:srgbClr val="0A6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6" name="Picture 25" descr="analytic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43484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91640" y="4389120"/>
            <a:ext cx="53035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The AI payoff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846320"/>
            <a:ext cx="53949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Call summaries  ·  Sentiment scoring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Supervisor dashboards in Webex 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Unity handlers → AI Receptionist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007F"/>
                </a:solidFill>
                <a:latin typeface="Inter Semi Bold"/>
              </a:rPr>
              <a:t>PLAY 3 · UNITY CONNECTION → WEBEX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phone_6B6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13" y="1600200"/>
            <a:ext cx="603504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1344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Connection call handlers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2090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1274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0" name="Picture 9" descr="docs_FF00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83" y="1600200"/>
            <a:ext cx="603504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2714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Data Dump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2714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ZIP of CSVs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3459" y="2354580"/>
            <a:ext cx="274321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52644" y="1417320"/>
            <a:ext cx="1887321" cy="1874519"/>
          </a:xfrm>
          <a:prstGeom prst="roundRect">
            <a:avLst>
              <a:gd name="adj" fmla="val 6829"/>
            </a:avLst>
          </a:prstGeom>
          <a:gradFill rotWithShape="1">
            <a:gsLst>
              <a:gs pos="0">
                <a:srgbClr val="FF007F"/>
              </a:gs>
              <a:gs pos="100000">
                <a:srgbClr val="8A3F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5" name="Picture 14" descr="ai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552" y="1600200"/>
            <a:ext cx="603504" cy="6035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4408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LLM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408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Trees · orphans · CSV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4829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4013" y="1417320"/>
            <a:ext cx="1887321" cy="1874519"/>
          </a:xfrm>
          <a:prstGeom prst="roundRect">
            <a:avLst>
              <a:gd name="adj" fmla="val 6829"/>
            </a:avLst>
          </a:prstGeom>
          <a:solidFill>
            <a:srgbClr val="F3F5F8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0" name="Picture 19" descr="download_FF00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922" y="1600200"/>
            <a:ext cx="603504" cy="6035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1545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Control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545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Bulk-import Auto Attendants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66199" y="2354580"/>
            <a:ext cx="27432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5383" y="1417320"/>
            <a:ext cx="1887321" cy="1874519"/>
          </a:xfrm>
          <a:prstGeom prst="roundRect">
            <a:avLst>
              <a:gd name="adj" fmla="val 6829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5" name="Picture 24" descr="mic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1600200"/>
            <a:ext cx="603504" cy="6035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786823" y="2286000"/>
            <a:ext cx="1704441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AI Receptionist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6823" y="2743200"/>
            <a:ext cx="1704441" cy="502919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"/>
              </a:rPr>
              <a:t>NLP intent routing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904" y="3749039"/>
            <a:ext cx="5349240" cy="178308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931920"/>
            <a:ext cx="48463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PREREQUISITES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297680"/>
            <a:ext cx="49377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32-bit Informix ODBC driver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Remote Database Proxy enabled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749039"/>
            <a:ext cx="5349240" cy="178308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2540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2" name="Picture 31" descr="audio_FF9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977639"/>
            <a:ext cx="566928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69480" y="3931920"/>
            <a:ext cx="41148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9000"/>
                </a:solidFill>
                <a:latin typeface="Inter Semi Bold"/>
              </a:rPr>
              <a:t>HEADS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297680"/>
            <a:ext cx="416052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Greetings (.wav) don't migrate.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Re-upload them manually.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key presses to intents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007F"/>
                </a:solidFill>
                <a:latin typeface="Inter Semi Bold"/>
              </a:rPr>
              <a:t>PLAY 3 · REDESIGN THE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83080" y="1417320"/>
            <a:ext cx="2377440" cy="566928"/>
          </a:xfrm>
          <a:prstGeom prst="roundRect">
            <a:avLst>
              <a:gd name="adj" fmla="val 19354"/>
            </a:avLst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 Semi Bold"/>
              </a:rPr>
              <a:t>Main greeting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158544" y="1984248"/>
            <a:ext cx="1813256" cy="530352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09904" y="2514600"/>
            <a:ext cx="1097280" cy="502920"/>
          </a:xfrm>
          <a:prstGeom prst="roundRect">
            <a:avLst>
              <a:gd name="adj" fmla="val 1818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82828"/>
                </a:solidFill>
                <a:latin typeface="Inter Semi Bold"/>
              </a:rPr>
              <a:t>1  Sales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374696" y="1984248"/>
            <a:ext cx="597104" cy="530352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26056" y="2514600"/>
            <a:ext cx="1097280" cy="502920"/>
          </a:xfrm>
          <a:prstGeom prst="roundRect">
            <a:avLst>
              <a:gd name="adj" fmla="val 1818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82828"/>
                </a:solidFill>
                <a:latin typeface="Inter Semi Bold"/>
              </a:rPr>
              <a:t>2  Support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1984248"/>
            <a:ext cx="619048" cy="530352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2208" y="2514600"/>
            <a:ext cx="1097280" cy="502920"/>
          </a:xfrm>
          <a:prstGeom prst="roundRect">
            <a:avLst>
              <a:gd name="adj" fmla="val 1818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82828"/>
                </a:solidFill>
                <a:latin typeface="Inter Semi Bold"/>
              </a:rPr>
              <a:t>3  Billing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984248"/>
            <a:ext cx="1835200" cy="530352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8360" y="2514600"/>
            <a:ext cx="1097280" cy="502920"/>
          </a:xfrm>
          <a:prstGeom prst="roundRect">
            <a:avLst>
              <a:gd name="adj" fmla="val 1818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82828"/>
                </a:solidFill>
                <a:latin typeface="Inter Semi Bold"/>
              </a:rPr>
              <a:t>0  Operator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3017520"/>
            <a:ext cx="0" cy="521208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828800" y="329184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"/>
              </a:rPr>
              <a:t>1  Hardware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3017520"/>
            <a:ext cx="0" cy="1088136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828800" y="3858768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"/>
              </a:rPr>
              <a:t>2  Software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017520"/>
            <a:ext cx="0" cy="1655063"/>
          </a:xfrm>
          <a:prstGeom prst="line">
            <a:avLst/>
          </a:prstGeom>
          <a:ln w="15875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425696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8288" tIns="0" rIns="18288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"/>
              </a:rPr>
              <a:t>3  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5166360"/>
            <a:ext cx="47548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6B6B6B"/>
                </a:solidFill>
                <a:latin typeface="Inter Semi Bold"/>
              </a:rPr>
              <a:t>Rigid. Deep. Touch-tone.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40680" y="2834640"/>
            <a:ext cx="1005840" cy="822960"/>
          </a:xfrm>
          <a:prstGeom prst="rightArrow">
            <a:avLst/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1" name="Rounded Rectangular Callout 20"/>
          <p:cNvSpPr/>
          <p:nvPr/>
        </p:nvSpPr>
        <p:spPr>
          <a:xfrm>
            <a:off x="6812280" y="1417320"/>
            <a:ext cx="4754880" cy="914400"/>
          </a:xfrm>
          <a:prstGeom prst="wedgeRoundRectCallout">
            <a:avLst>
              <a:gd name="adj1" fmla="val -30000"/>
              <a:gd name="adj2" fmla="val 80000"/>
              <a:gd name="adj3" fmla="val 16667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“My card was charged twice.”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743200"/>
            <a:ext cx="4754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6B6B6B"/>
                </a:solidFill>
                <a:latin typeface="Inter Semi Bold"/>
              </a:rPr>
              <a:t>Intent  </a:t>
            </a:r>
            <a:r>
              <a:rPr sz="2000" b="0" i="0">
                <a:solidFill>
                  <a:srgbClr val="0A0A0A"/>
                </a:solidFill>
                <a:latin typeface="Inter Semi Bold"/>
              </a:rPr>
              <a:t>Billing dispute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89720" y="3401568"/>
            <a:ext cx="0" cy="329184"/>
          </a:xfrm>
          <a:prstGeom prst="line">
            <a:avLst/>
          </a:prstGeom>
          <a:ln w="25400">
            <a:solidFill>
              <a:srgbClr val="FF00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12280" y="3749039"/>
            <a:ext cx="4754880" cy="640080"/>
          </a:xfrm>
          <a:prstGeom prst="roundRect">
            <a:avLst>
              <a:gd name="adj" fmla="val 5000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Route  </a:t>
            </a:r>
            <a:r>
              <a:rPr sz="2000" b="0" i="0">
                <a:solidFill>
                  <a:srgbClr val="FFFFFF"/>
                </a:solidFill>
                <a:latin typeface="Inter Semi Bold"/>
              </a:rPr>
              <a:t>Billing team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4526280"/>
            <a:ext cx="4754880" cy="54864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 Semi Bold"/>
              </a:rPr>
              <a:t>Low confidence?  </a:t>
            </a:r>
            <a:r>
              <a:rPr sz="1700" b="0" i="0">
                <a:solidFill>
                  <a:srgbClr val="0A0A0A"/>
                </a:solidFill>
                <a:latin typeface="Inter Semi Bold"/>
              </a:rPr>
              <a:t>→ Operator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166360"/>
            <a:ext cx="4754880" cy="5486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FF007F"/>
                </a:solidFill>
                <a:latin typeface="Inter Semi Bold"/>
              </a:rPr>
              <a:t>Natural. Flat. Intent-driven.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24/7 AI Receptionist</a:t>
            </a:r>
          </a:p>
        </p:txBody>
      </p:sp>
      <p:pic>
        <p:nvPicPr>
          <p:cNvPr id="3" name="Picture Placeholder 2" descr="ai_receptionist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6342" r="6342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9904" y="228600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007F"/>
                </a:solidFill>
                <a:latin typeface="Inter Semi Bold"/>
              </a:rPr>
              <a:t>PLAY 3 · WEBEX AI RECEPTIONIST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2496312"/>
            <a:ext cx="109728" cy="548640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329184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No-code in Control Hub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" y="3364991"/>
            <a:ext cx="109728" cy="5486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39"/>
            <a:ext cx="329184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Answers FAQs from your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" y="4233672"/>
            <a:ext cx="109728" cy="5486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29184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Routes by intent + business hours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" y="5102352"/>
            <a:ext cx="109728" cy="548640"/>
          </a:xfrm>
          <a:prstGeom prst="rect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329184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Multilingual personas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Trace the dial plan before you move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9000"/>
                </a:solidFill>
                <a:latin typeface="Inter Semi Bold"/>
              </a:rPr>
              <a:t>PLAY 4 · CUCM DIAL PLAN → WEBEX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371600"/>
            <a:ext cx="3291840" cy="2606040"/>
          </a:xfrm>
          <a:prstGeom prst="roundRect">
            <a:avLst>
              <a:gd name="adj" fmla="val 631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" y="1508760"/>
            <a:ext cx="283464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6A8FF"/>
                </a:solidFill>
                <a:latin typeface="Inter Semi Bold"/>
              </a:rPr>
              <a:t>NUMBERING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504" y="192024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Directory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504" y="2578608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Shared lines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47464" y="265176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8944" y="1371600"/>
            <a:ext cx="3291840" cy="2606040"/>
          </a:xfrm>
          <a:prstGeom prst="roundRect">
            <a:avLst>
              <a:gd name="adj" fmla="val 631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544" y="1508760"/>
            <a:ext cx="283464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7544" y="192024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Partitions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7544" y="2578608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Calling search 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7544" y="3236976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Calling privileges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96504" y="265176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07984" y="1371600"/>
            <a:ext cx="3291840" cy="2606040"/>
          </a:xfrm>
          <a:prstGeom prst="roundRect">
            <a:avLst>
              <a:gd name="adj" fmla="val 6315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584" y="1508760"/>
            <a:ext cx="283464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9000"/>
                </a:solidFill>
                <a:latin typeface="Inter Semi Bold"/>
              </a:rPr>
              <a:t>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6584" y="192024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Route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6584" y="2578608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Translation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6584" y="3236976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Route lists /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4224528"/>
            <a:ext cx="54864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GENAI DOES THE TRACING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" y="4572000"/>
            <a:ext cx="2606040" cy="109728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F9000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2" name="Picture 21" descr="search_perso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" y="4846320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78584" y="4572000"/>
            <a:ext cx="169164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Find duplicates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8824" y="4572000"/>
            <a:ext cx="2606040" cy="109728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F9000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5" name="Picture 24" descr="cha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2" y="4846320"/>
            <a:ext cx="548640" cy="548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67504" y="4572000"/>
            <a:ext cx="169164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Explain conflicts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744" y="4572000"/>
            <a:ext cx="2606040" cy="109728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F9000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8" name="Picture 27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912" y="484632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56424" y="4572000"/>
            <a:ext cx="169164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Normalize to E.164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6664" y="4572000"/>
            <a:ext cx="2606040" cy="109728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FF9000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1" name="Picture 30" descr="analytic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7832" y="4846320"/>
            <a:ext cx="548640" cy="548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45344" y="4572000"/>
            <a:ext cx="1691640" cy="1097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Generate test plans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routing = zero-downtime cutover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9000"/>
                </a:solidFill>
                <a:latin typeface="Inter Semi Bold"/>
              </a:rPr>
              <a:t>PLAY 4 · HYBRID SAFEGUARDS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48740" y="2080260"/>
            <a:ext cx="2423160" cy="1371600"/>
          </a:xfrm>
          <a:prstGeom prst="line">
            <a:avLst/>
          </a:prstGeom>
          <a:ln w="38100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3771900" y="2080260"/>
            <a:ext cx="2423160" cy="1371600"/>
          </a:xfrm>
          <a:prstGeom prst="line">
            <a:avLst/>
          </a:prstGeom>
          <a:ln w="38100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71900" y="3451860"/>
            <a:ext cx="0" cy="1645920"/>
          </a:xfrm>
          <a:prstGeom prst="line">
            <a:avLst/>
          </a:prstGeom>
          <a:ln w="38100">
            <a:solidFill>
              <a:srgbClr val="B4B9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97380" y="2080260"/>
            <a:ext cx="3749040" cy="0"/>
          </a:xfrm>
          <a:prstGeom prst="line">
            <a:avLst/>
          </a:prstGeom>
          <a:ln w="28575">
            <a:solidFill>
              <a:srgbClr val="FF900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103120" y="1691640"/>
            <a:ext cx="347472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9000"/>
                </a:solidFill>
                <a:latin typeface="Inter Semi Bold"/>
              </a:rPr>
              <a:t>Unified hybrid dial plan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554480"/>
            <a:ext cx="1051560" cy="1051560"/>
          </a:xfrm>
          <a:prstGeom prst="ellipse">
            <a:avLst/>
          </a:prstGeom>
          <a:gradFill rotWithShape="1">
            <a:gsLst>
              <a:gs pos="0">
                <a:srgbClr val="00C8FF"/>
              </a:gs>
              <a:gs pos="100000">
                <a:srgbClr val="0A60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0" name="Picture 9" descr="clou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" y="1785823"/>
            <a:ext cx="588873" cy="5888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2679191"/>
            <a:ext cx="19659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Webex Calling</a:t>
            </a:r>
          </a:p>
        </p:txBody>
      </p:sp>
      <p:sp>
        <p:nvSpPr>
          <p:cNvPr id="12" name="Oval 11"/>
          <p:cNvSpPr/>
          <p:nvPr/>
        </p:nvSpPr>
        <p:spPr>
          <a:xfrm>
            <a:off x="3246120" y="2926080"/>
            <a:ext cx="1051560" cy="1051560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3" name="Picture 12" descr="integrat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7463" y="3157423"/>
            <a:ext cx="588873" cy="5888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4840" y="3246120"/>
            <a:ext cx="201168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Local Gateway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1554480"/>
            <a:ext cx="1051560" cy="1051560"/>
          </a:xfrm>
          <a:prstGeom prst="ellipse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6" name="Picture 15" descr="phon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623" y="1785823"/>
            <a:ext cx="588873" cy="5888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2080" y="2679191"/>
            <a:ext cx="19659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CUCM (remaining)</a:t>
            </a:r>
          </a:p>
        </p:txBody>
      </p:sp>
      <p:sp>
        <p:nvSpPr>
          <p:cNvPr id="18" name="Oval 17"/>
          <p:cNvSpPr/>
          <p:nvPr/>
        </p:nvSpPr>
        <p:spPr>
          <a:xfrm>
            <a:off x="3246120" y="4572000"/>
            <a:ext cx="1051560" cy="105156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9" name="Picture 18" descr="remot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463" y="4803343"/>
            <a:ext cx="588873" cy="5888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34840" y="4892040"/>
            <a:ext cx="164592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PSTN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325880"/>
            <a:ext cx="4178808" cy="4572000"/>
          </a:xfrm>
          <a:prstGeom prst="roundRect">
            <a:avLst>
              <a:gd name="adj" fmla="val 437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1481328"/>
            <a:ext cx="36576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CUTOVER CHECKS</a:t>
            </a:r>
          </a:p>
        </p:txBody>
      </p:sp>
      <p:sp>
        <p:nvSpPr>
          <p:cNvPr id="23" name="Oval 22"/>
          <p:cNvSpPr/>
          <p:nvPr/>
        </p:nvSpPr>
        <p:spPr>
          <a:xfrm>
            <a:off x="7680960" y="1938527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874519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Extension reachability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7680960" y="2423160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359152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PSTN in / out</a:t>
            </a:r>
          </a:p>
        </p:txBody>
      </p:sp>
      <p:sp>
        <p:nvSpPr>
          <p:cNvPr id="27" name="Oval 26"/>
          <p:cNvSpPr/>
          <p:nvPr/>
        </p:nvSpPr>
        <p:spPr>
          <a:xfrm>
            <a:off x="7680960" y="2907791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843784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Emergency calling</a:t>
            </a:r>
          </a:p>
        </p:txBody>
      </p:sp>
      <p:sp>
        <p:nvSpPr>
          <p:cNvPr id="29" name="Oval 28"/>
          <p:cNvSpPr/>
          <p:nvPr/>
        </p:nvSpPr>
        <p:spPr>
          <a:xfrm>
            <a:off x="7680960" y="3392423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328415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Voicemail routing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3877056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813048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Shared-line behavior</a:t>
            </a:r>
          </a:p>
        </p:txBody>
      </p:sp>
      <p:sp>
        <p:nvSpPr>
          <p:cNvPr id="33" name="Oval 32"/>
          <p:cNvSpPr/>
          <p:nvPr/>
        </p:nvSpPr>
        <p:spPr>
          <a:xfrm>
            <a:off x="7680960" y="4361688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97680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Calling permissions</a:t>
            </a:r>
          </a:p>
        </p:txBody>
      </p:sp>
      <p:sp>
        <p:nvSpPr>
          <p:cNvPr id="35" name="Oval 34"/>
          <p:cNvSpPr/>
          <p:nvPr/>
        </p:nvSpPr>
        <p:spPr>
          <a:xfrm>
            <a:off x="7680960" y="4846320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782312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Caller ID</a:t>
            </a:r>
          </a:p>
        </p:txBody>
      </p:sp>
      <p:sp>
        <p:nvSpPr>
          <p:cNvPr id="37" name="Oval 36"/>
          <p:cNvSpPr/>
          <p:nvPr/>
        </p:nvSpPr>
        <p:spPr>
          <a:xfrm>
            <a:off x="7680960" y="5330952"/>
            <a:ext cx="310896" cy="310896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5266944"/>
            <a:ext cx="3383280" cy="4389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Failover / rollback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voicemail, readable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9000"/>
                </a:solidFill>
                <a:latin typeface="Inter Semi Bold"/>
              </a:rPr>
              <a:t>PLAY 4 · VOICEMAIL AI TRANSCRIPTION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5852160" cy="329184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gradFill rotWithShape="1">
            <a:gsLst>
              <a:gs pos="0">
                <a:srgbClr val="FF9000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6" name="Picture 5" descr="phon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7452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691640"/>
            <a:ext cx="36576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Voicemail  ·  Dana 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057400"/>
            <a:ext cx="365760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Inter"/>
              </a:rPr>
              <a:t>0:42  ·  Today 9:14 AM</a:t>
            </a:r>
          </a:p>
        </p:txBody>
      </p:sp>
      <p:pic>
        <p:nvPicPr>
          <p:cNvPr id="9" name="Picture 8" descr="waveform_FF9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2697480"/>
            <a:ext cx="5394960" cy="1828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282828"/>
                </a:solidFill>
                <a:latin typeface="Inter"/>
              </a:rPr>
              <a:t>“Hi, it's Dana - the router shipment lands Tuesday. Call me back to confirm the install window.”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25880"/>
            <a:ext cx="1463040" cy="14630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0" b="0" i="0">
                <a:solidFill>
                  <a:srgbClr val="FF9000"/>
                </a:solidFill>
                <a:latin typeface="Inter Semi Bol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10058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i="0">
                <a:solidFill>
                  <a:srgbClr val="0A0A0A"/>
                </a:solidFill>
                <a:latin typeface="Inter Semi Bold"/>
              </a:rPr>
              <a:t>languages, natively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FR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13064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30968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2971800"/>
            <a:ext cx="658368" cy="502920"/>
          </a:xfrm>
          <a:prstGeom prst="roundRect">
            <a:avLst>
              <a:gd name="adj" fmla="val 49090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Inter Semi Bold"/>
              </a:rPr>
              <a:t>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749039"/>
            <a:ext cx="457200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Toggle per Location in Control Hub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Delivered to Webex App + email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Shared lines are workflow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9000"/>
                </a:solidFill>
                <a:latin typeface="Inter Semi Bold"/>
              </a:rPr>
              <a:t>PLAY 4 · SHARED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234440"/>
            <a:ext cx="438912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WHAT YOU SEE IN CUCM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34440"/>
            <a:ext cx="5001768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Inter Semi Bold"/>
              </a:rPr>
              <a:t>LIKELY WEBEX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1600200"/>
            <a:ext cx="4389120" cy="658368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Executive / assistant coverage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74920" y="1929384"/>
            <a:ext cx="1417320" cy="0"/>
          </a:xfrm>
          <a:prstGeom prst="line">
            <a:avLst/>
          </a:prstGeom>
          <a:ln w="28575">
            <a:solidFill>
              <a:srgbClr val="F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0" y="1600200"/>
            <a:ext cx="5001768" cy="658368"/>
          </a:xfrm>
          <a:prstGeom prst="roundRect">
            <a:avLst>
              <a:gd name="adj" fmla="val 16666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Executive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2423160"/>
            <a:ext cx="4389120" cy="658368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Informal queuing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2752344"/>
            <a:ext cx="1417320" cy="0"/>
          </a:xfrm>
          <a:prstGeom prst="line">
            <a:avLst/>
          </a:prstGeom>
          <a:ln w="28575">
            <a:solidFill>
              <a:srgbClr val="F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2423160"/>
            <a:ext cx="5001768" cy="658368"/>
          </a:xfrm>
          <a:prstGeom prst="roundRect">
            <a:avLst>
              <a:gd name="adj" fmla="val 16666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Call Queue or Customer Assist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3246120"/>
            <a:ext cx="4389120" cy="658368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Multi-device mobility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4920" y="3575303"/>
            <a:ext cx="1417320" cy="0"/>
          </a:xfrm>
          <a:prstGeom prst="line">
            <a:avLst/>
          </a:prstGeom>
          <a:ln w="28575">
            <a:solidFill>
              <a:srgbClr val="F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3246120"/>
            <a:ext cx="5001768" cy="658368"/>
          </a:xfrm>
          <a:prstGeom prst="roundRect">
            <a:avLst>
              <a:gd name="adj" fmla="val 16666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Multiple devices per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4069080"/>
            <a:ext cx="4389120" cy="658368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Departmental ownership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74920" y="4398264"/>
            <a:ext cx="1417320" cy="0"/>
          </a:xfrm>
          <a:prstGeom prst="line">
            <a:avLst/>
          </a:prstGeom>
          <a:ln w="28575">
            <a:solidFill>
              <a:srgbClr val="F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0" y="4069080"/>
            <a:ext cx="5001768" cy="658368"/>
          </a:xfrm>
          <a:prstGeom prst="roundRect">
            <a:avLst>
              <a:gd name="adj" fmla="val 16666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Hunt Group or virtual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" y="4892040"/>
            <a:ext cx="4389120" cy="658368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82828"/>
                </a:solidFill>
                <a:latin typeface="Inter Semi Bold"/>
              </a:rPr>
              <a:t>Legacy workaround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74920" y="5221224"/>
            <a:ext cx="1417320" cy="0"/>
          </a:xfrm>
          <a:prstGeom prst="line">
            <a:avLst/>
          </a:prstGeom>
          <a:ln w="28575">
            <a:solidFill>
              <a:srgbClr val="F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0" y="4892040"/>
            <a:ext cx="5001768" cy="658368"/>
          </a:xfrm>
          <a:prstGeom prst="roundRect">
            <a:avLst>
              <a:gd name="adj" fmla="val 16666"/>
            </a:avLst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Retire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" y="5760720"/>
            <a:ext cx="1097280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6B6B6B"/>
                </a:solidFill>
                <a:latin typeface="Inter"/>
              </a:rPr>
              <a:t>Ask why the line is shared - then pick the pattern.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the macros. Then modernize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3FFC"/>
                </a:solidFill>
                <a:latin typeface="Inter Semi Bold"/>
              </a:rPr>
              <a:t>PLAY 5 · CE ENDPOINTS → ROOMOS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371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719632" y="1435608"/>
            <a:ext cx="694944" cy="694944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6" name="Picture 5" descr="device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1591970"/>
            <a:ext cx="382219" cy="382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4304" y="1371600"/>
            <a:ext cx="2331720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CE endpoint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47464" y="178308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8944" y="1371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4468672" y="1435608"/>
            <a:ext cx="694944" cy="694944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1" name="Picture 10" descr="updow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035" y="1591970"/>
            <a:ext cx="382219" cy="382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73344" y="1371600"/>
            <a:ext cx="2331720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Webex Device Connector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96504" y="178308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07984" y="1371600"/>
            <a:ext cx="3291840" cy="822960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17712" y="1435608"/>
            <a:ext cx="694944" cy="694944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6" name="Picture 15" descr="clou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075" y="1591970"/>
            <a:ext cx="382219" cy="3822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22384" y="1371600"/>
            <a:ext cx="2331720" cy="8229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Control Hub Workspace</a:t>
            </a:r>
          </a:p>
        </p:txBody>
      </p:sp>
      <p:sp>
        <p:nvSpPr>
          <p:cNvPr id="18" name="Oval 17"/>
          <p:cNvSpPr/>
          <p:nvPr/>
        </p:nvSpPr>
        <p:spPr>
          <a:xfrm>
            <a:off x="1554479" y="3017520"/>
            <a:ext cx="2468880" cy="2468880"/>
          </a:xfrm>
          <a:prstGeom prst="ellipse">
            <a:avLst/>
          </a:prstGeom>
          <a:noFill/>
          <a:ln w="381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886200"/>
            <a:ext cx="16459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2000" b="0" i="0">
                <a:solidFill>
                  <a:srgbClr val="8A3FFC"/>
                </a:solidFill>
                <a:latin typeface="Inter Semi Bold"/>
              </a:rPr>
              <a:t>GenAI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2000" b="0" i="0">
                <a:solidFill>
                  <a:srgbClr val="8A3FFC"/>
                </a:solidFill>
                <a:latin typeface="Inter Semi Bold"/>
              </a:rPr>
              <a:t>loop</a:t>
            </a:r>
          </a:p>
        </p:txBody>
      </p:sp>
      <p:sp>
        <p:nvSpPr>
          <p:cNvPr id="20" name="Oval 19"/>
          <p:cNvSpPr/>
          <p:nvPr/>
        </p:nvSpPr>
        <p:spPr>
          <a:xfrm>
            <a:off x="2423160" y="2651760"/>
            <a:ext cx="731520" cy="731520"/>
          </a:xfrm>
          <a:prstGeom prst="ellipse">
            <a:avLst/>
          </a:prstGeom>
          <a:gradFill rotWithShape="1">
            <a:gsLst>
              <a:gs pos="0">
                <a:srgbClr val="8A3FFC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1" name="Picture 20" descr="doc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2816352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46120" y="278892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Inter Semi Bold"/>
              </a:rPr>
              <a:t>Legacy macro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886200"/>
            <a:ext cx="731520" cy="731520"/>
          </a:xfrm>
          <a:prstGeom prst="ellipse">
            <a:avLst/>
          </a:prstGeom>
          <a:gradFill rotWithShape="1">
            <a:gsLst>
              <a:gs pos="0">
                <a:srgbClr val="8A3FFC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4" name="Picture 23" descr="ai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4050791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80559" y="4023360"/>
            <a:ext cx="164592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Inter Semi Bold"/>
              </a:rPr>
              <a:t>LLM → xAPI</a:t>
            </a:r>
          </a:p>
        </p:txBody>
      </p:sp>
      <p:sp>
        <p:nvSpPr>
          <p:cNvPr id="26" name="Oval 25"/>
          <p:cNvSpPr/>
          <p:nvPr/>
        </p:nvSpPr>
        <p:spPr>
          <a:xfrm>
            <a:off x="2423160" y="5120640"/>
            <a:ext cx="731520" cy="731520"/>
          </a:xfrm>
          <a:prstGeom prst="ellipse">
            <a:avLst/>
          </a:prstGeom>
          <a:gradFill rotWithShape="1">
            <a:gsLst>
              <a:gs pos="0">
                <a:srgbClr val="8A3FFC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7" name="Picture 26" descr="analytic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7752" y="5285231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46120" y="525780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Inter Semi Bold"/>
              </a:rPr>
              <a:t>Macro Editor test</a:t>
            </a:r>
          </a:p>
        </p:txBody>
      </p:sp>
      <p:sp>
        <p:nvSpPr>
          <p:cNvPr id="29" name="Oval 28"/>
          <p:cNvSpPr/>
          <p:nvPr/>
        </p:nvSpPr>
        <p:spPr>
          <a:xfrm>
            <a:off x="1188719" y="3886200"/>
            <a:ext cx="731520" cy="731520"/>
          </a:xfrm>
          <a:prstGeom prst="ellipse">
            <a:avLst/>
          </a:prstGeom>
          <a:gradFill rotWithShape="1">
            <a:gsLst>
              <a:gs pos="0">
                <a:srgbClr val="8A3FFC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0" name="Picture 29" descr="downloa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311" y="4050791"/>
            <a:ext cx="402336" cy="4023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8599" y="4023360"/>
            <a:ext cx="9144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600" b="0" i="0">
                <a:solidFill>
                  <a:srgbClr val="0A0A0A"/>
                </a:solidFill>
                <a:latin typeface="Inter Semi Bold"/>
              </a:rPr>
              <a:t>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743200"/>
            <a:ext cx="5276088" cy="1417320"/>
          </a:xfrm>
          <a:prstGeom prst="roundRect">
            <a:avLst>
              <a:gd name="adj" fmla="val 11612"/>
            </a:avLst>
          </a:prstGeom>
          <a:solidFill>
            <a:srgbClr val="FFFFFF"/>
          </a:solidFill>
          <a:ln w="2540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880360"/>
            <a:ext cx="47548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9000"/>
                </a:solidFill>
                <a:latin typeface="Inter Semi Bold"/>
              </a:rPr>
              <a:t>HEADS 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00400"/>
            <a:ext cx="48463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CE 9.x ↔ RoomOS xAPI isn't always 1:1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Test HVAC &amp; AV integrations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389120"/>
            <a:ext cx="5276088" cy="1371600"/>
          </a:xfrm>
          <a:prstGeom prst="roundRect">
            <a:avLst>
              <a:gd name="adj" fmla="val 12000"/>
            </a:avLst>
          </a:prstGeom>
          <a:gradFill rotWithShape="1">
            <a:gsLst>
              <a:gs pos="0">
                <a:srgbClr val="8A3FFC"/>
              </a:gs>
              <a:gs pos="100000">
                <a:srgbClr val="0A60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26280"/>
            <a:ext cx="4754880" cy="3200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Inter Semi Bold"/>
              </a:rPr>
              <a:t>PRESERVED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846320"/>
            <a:ext cx="484632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UI Extensions  ·  Macros  ·  Central 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PLAY 5 · ROOMOS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room, AI-ready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 wrap="square" anchor="t" lIns="0" tIns="0" r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Webex AI Assistant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Real-time captions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One pane: Control Hub</a:t>
            </a:r>
          </a:p>
        </p:txBody>
      </p:sp>
      <p:pic>
        <p:nvPicPr>
          <p:cNvPr id="5" name="Picture Placeholder 4" descr="video_room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6342" r="6342"/>
          <a:stretch>
            <a:fillRect/>
          </a:stretch>
        </p:blipFill>
        <p:spPr/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 every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A3FFC"/>
                </a:solidFill>
                <a:latin typeface="Inter Semi Bold"/>
              </a:rPr>
              <a:t>PLAY 5 · DEVICE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417320"/>
            <a:ext cx="2606040" cy="91440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1737360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Supported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242316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Migrate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824" y="141732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398824" y="1417320"/>
            <a:ext cx="2606040" cy="914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7424" y="1737360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Legacy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7424" y="242316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8A3FFC"/>
                </a:solidFill>
                <a:latin typeface="Inter Semi Bold"/>
              </a:rPr>
              <a:t>Refactor +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744" y="141732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187744" y="1417320"/>
            <a:ext cx="2606040" cy="91440"/>
          </a:xfrm>
          <a:prstGeom prst="rect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344" y="1737360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Unsupported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6344" y="242316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FF9000"/>
                </a:solidFill>
                <a:latin typeface="Inter Semi Bold"/>
              </a:rPr>
              <a:t>Replace / retain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6664" y="141732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976664" y="1417320"/>
            <a:ext cx="2606040" cy="91440"/>
          </a:xfrm>
          <a:prstGeom prst="rect">
            <a:avLst/>
          </a:prstGeom>
          <a:solidFill>
            <a:srgbClr val="28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5264" y="1737360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Unused UI Extension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5264" y="242316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282828"/>
                </a:solidFill>
                <a:latin typeface="Inter Semi Bold"/>
              </a:rPr>
              <a:t>Remove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" y="365760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" y="3657600"/>
            <a:ext cx="2606040" cy="91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" y="3977639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Hard-coded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FF007F"/>
                </a:solidFill>
                <a:latin typeface="Inter Semi Bold"/>
              </a:rPr>
              <a:t>Redesign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8824" y="365760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398824" y="3657600"/>
            <a:ext cx="2606040" cy="91440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7424" y="3977639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Duplicate naming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42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0A60FF"/>
                </a:solidFill>
                <a:latin typeface="Inter Semi Bold"/>
              </a:rPr>
              <a:t>Normalize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744" y="365760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6187744" y="3657600"/>
            <a:ext cx="2606040" cy="91440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344" y="3977639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Low utilization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634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8A3FFC"/>
                </a:solidFill>
                <a:latin typeface="Inter Semi Bold"/>
              </a:rPr>
              <a:t>Re-evaluate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6664" y="3657600"/>
            <a:ext cx="2606040" cy="2011680"/>
          </a:xfrm>
          <a:prstGeom prst="roundRect">
            <a:avLst>
              <a:gd name="adj" fmla="val 7272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976664" y="3657600"/>
            <a:ext cx="2606040" cy="9144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5264" y="3977639"/>
            <a:ext cx="2194560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Complex 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526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400" b="0" i="0">
                <a:solidFill>
                  <a:srgbClr val="FF007F"/>
                </a:solidFill>
                <a:latin typeface="Inter Semi Bold"/>
              </a:rPr>
              <a:t>Validate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</a:t>
            </a:r>
            <a:br/>
            <a:r>
              <a:t>Trust &amp; Guardrails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Earn your way to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AI OUTPUT LEVELS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4160520"/>
            <a:ext cx="3520440" cy="1600200"/>
          </a:xfrm>
          <a:prstGeom prst="roundRect">
            <a:avLst>
              <a:gd name="adj" fmla="val 10285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4224" y="4251959"/>
            <a:ext cx="109728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0" i="0">
                <a:solidFill>
                  <a:srgbClr val="FFFFFF"/>
                </a:solidFill>
                <a:latin typeface="Inter Semi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904" y="4389120"/>
            <a:ext cx="228600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" y="5166360"/>
            <a:ext cx="3108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Summaries · diagrams ·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3224" y="3154679"/>
            <a:ext cx="3520440" cy="2606040"/>
          </a:xfrm>
          <a:prstGeom prst="roundRect">
            <a:avLst>
              <a:gd name="adj" fmla="val 6315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544" y="3246120"/>
            <a:ext cx="109728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0" i="0">
                <a:solidFill>
                  <a:srgbClr val="FFFFFF"/>
                </a:solidFill>
                <a:latin typeface="Inter Semi 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56224" y="3383279"/>
            <a:ext cx="228600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Draft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544" y="4160520"/>
            <a:ext cx="3108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CSV · JSON · code · test plans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544" y="2148839"/>
            <a:ext cx="3520440" cy="3611880"/>
          </a:xfrm>
          <a:prstGeom prst="roundRect">
            <a:avLst>
              <a:gd name="adj" fmla="val 4675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864" y="2240279"/>
            <a:ext cx="109728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5400" b="0" i="0">
                <a:solidFill>
                  <a:srgbClr val="FFFFFF"/>
                </a:solidFill>
                <a:latin typeface="Inter Semi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9544" y="2377439"/>
            <a:ext cx="2286000" cy="7315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Inter Semi Bold"/>
              </a:rPr>
              <a:t>Controlled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864" y="3154679"/>
            <a:ext cx="31089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APIs · schema checks ·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417320"/>
            <a:ext cx="694944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0" i="0">
                <a:solidFill>
                  <a:srgbClr val="0A0A0A"/>
                </a:solidFill>
                <a:latin typeface="Inter Semi Bold"/>
              </a:rPr>
              <a:t>Start advisory. </a:t>
            </a:r>
            <a:r>
              <a:rPr sz="2600" b="0" i="0">
                <a:solidFill>
                  <a:srgbClr val="FF007F"/>
                </a:solidFill>
                <a:latin typeface="Inter Semi Bold"/>
              </a:rPr>
              <a:t>Prove reliability</a:t>
            </a:r>
            <a:r>
              <a:rPr sz="2600" b="0" i="0">
                <a:solidFill>
                  <a:srgbClr val="0A0A0A"/>
                </a:solidFill>
                <a:latin typeface="Inter Semi Bold"/>
              </a:rPr>
              <a:t> before you automate.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gates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VALIDATE EVERY AI OUTPUT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2743200"/>
            <a:ext cx="1097280" cy="109728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doc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" y="2984601"/>
            <a:ext cx="614476" cy="614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931920"/>
            <a:ext cx="160020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AI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463040"/>
            <a:ext cx="1783080" cy="384048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63040"/>
            <a:ext cx="1783080" cy="109728"/>
          </a:xfrm>
          <a:prstGeom prst="rect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2651760" y="1828800"/>
            <a:ext cx="777240" cy="77724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834640"/>
            <a:ext cx="1600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Syntax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37560"/>
            <a:ext cx="15087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Valid format?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63040"/>
            <a:ext cx="1783080" cy="384048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1783080" cy="109728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4709159" y="1828800"/>
            <a:ext cx="777240" cy="777240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834640"/>
            <a:ext cx="1600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37560"/>
            <a:ext cx="15087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Right fields &amp; types?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1783080" cy="384048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63040"/>
            <a:ext cx="1783080" cy="109728"/>
          </a:xfrm>
          <a:prstGeom prst="rect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6766559" y="1828800"/>
            <a:ext cx="777240" cy="777240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834640"/>
            <a:ext cx="1600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15087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Supported in Webex?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1783080" cy="384048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1783080" cy="109728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8823960" y="1828800"/>
            <a:ext cx="777240" cy="77724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Inter Semi 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34640"/>
            <a:ext cx="16002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337560"/>
            <a:ext cx="1508760" cy="10972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Right caller experience?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37360" y="3291840"/>
            <a:ext cx="36576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32720" y="3291840"/>
            <a:ext cx="320040" cy="0"/>
          </a:xfrm>
          <a:prstGeom prst="line">
            <a:avLst/>
          </a:prstGeom>
          <a:ln w="31750">
            <a:solidFill>
              <a:srgbClr val="6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698480" y="2743200"/>
            <a:ext cx="1097280" cy="1097280"/>
          </a:xfrm>
          <a:prstGeom prst="ellipse">
            <a:avLst/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30" name="Picture 29" descr="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9881" y="2984601"/>
            <a:ext cx="614476" cy="61447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378440" y="3931920"/>
            <a:ext cx="17373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Production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 the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RISK →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" y="164592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Hallucinated 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84224" y="228600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8504" y="246888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Supply the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8824" y="141732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7424" y="164592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Outdated terms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73144" y="228600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27424" y="246888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Date the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744" y="141732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6344" y="164592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Wrong mapping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62064" y="228600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6344" y="246888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Force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6664" y="141732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5264" y="164592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Lost leading “+”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50984" y="228600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205264" y="246888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Numbers as strings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" y="361188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" y="384048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Edited CSV headers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4224" y="448056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850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Lock the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8824" y="361188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7424" y="384048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Missing relationships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73144" y="448056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2742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Give a data dictionary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744" y="361188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6344" y="384048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PII in prompts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62064" y="448056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1634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Sanitize first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76664" y="3611880"/>
            <a:ext cx="2606040" cy="1965960"/>
          </a:xfrm>
          <a:prstGeom prst="roundRect">
            <a:avLst>
              <a:gd name="adj" fmla="val 744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5264" y="3840480"/>
            <a:ext cx="21945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Overconfidence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50984" y="4480560"/>
            <a:ext cx="640080" cy="0"/>
          </a:xfrm>
          <a:prstGeom prst="line">
            <a:avLst/>
          </a:prstGeom>
          <a:ln w="25400">
            <a:solidFill>
              <a:srgbClr val="B4B9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05264" y="4663440"/>
            <a:ext cx="224028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Require labels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your model like a vendor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MODEL SELECTION</a:t>
            </a:r>
          </a:p>
        </p:txBody>
      </p:sp>
      <p:sp>
        <p:nvSpPr>
          <p:cNvPr id="4" name="Oval 3"/>
          <p:cNvSpPr/>
          <p:nvPr/>
        </p:nvSpPr>
        <p:spPr>
          <a:xfrm>
            <a:off x="1021384" y="1600200"/>
            <a:ext cx="1280160" cy="1280160"/>
          </a:xfrm>
          <a:prstGeom prst="ellipse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5" name="Picture 4" descr="lo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424" y="192024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904" y="3063240"/>
            <a:ext cx="210312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Data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66160"/>
            <a:ext cx="21031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Where does data go?</a:t>
            </a:r>
          </a:p>
        </p:txBody>
      </p:sp>
      <p:sp>
        <p:nvSpPr>
          <p:cNvPr id="8" name="Oval 7"/>
          <p:cNvSpPr/>
          <p:nvPr/>
        </p:nvSpPr>
        <p:spPr>
          <a:xfrm>
            <a:off x="3261664" y="1600200"/>
            <a:ext cx="1280160" cy="1280160"/>
          </a:xfrm>
          <a:prstGeom prst="ellipse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9" name="Picture 8" descr="doc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704" y="192024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50184" y="3063240"/>
            <a:ext cx="210312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Context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0184" y="3566160"/>
            <a:ext cx="21031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Fits the whole export?</a:t>
            </a:r>
          </a:p>
        </p:txBody>
      </p:sp>
      <p:sp>
        <p:nvSpPr>
          <p:cNvPr id="12" name="Oval 11"/>
          <p:cNvSpPr/>
          <p:nvPr/>
        </p:nvSpPr>
        <p:spPr>
          <a:xfrm>
            <a:off x="5501944" y="1600200"/>
            <a:ext cx="1280160" cy="1280160"/>
          </a:xfrm>
          <a:prstGeom prst="ellipse">
            <a:avLst/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3" name="Picture 12" descr="downl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984" y="192024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0464" y="3063240"/>
            <a:ext cx="210312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Structured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464" y="3566160"/>
            <a:ext cx="21031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Reliable JSON / CSV?</a:t>
            </a:r>
          </a:p>
        </p:txBody>
      </p:sp>
      <p:sp>
        <p:nvSpPr>
          <p:cNvPr id="16" name="Oval 15"/>
          <p:cNvSpPr/>
          <p:nvPr/>
        </p:nvSpPr>
        <p:spPr>
          <a:xfrm>
            <a:off x="7742224" y="1600200"/>
            <a:ext cx="1280160" cy="1280160"/>
          </a:xfrm>
          <a:prstGeom prst="ellipse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17" name="Picture 16" descr="ai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264" y="192024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30744" y="3063240"/>
            <a:ext cx="210312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Reasoning &amp;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0744" y="3566160"/>
            <a:ext cx="21031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Handles routing logic?</a:t>
            </a:r>
          </a:p>
        </p:txBody>
      </p:sp>
      <p:sp>
        <p:nvSpPr>
          <p:cNvPr id="20" name="Oval 19"/>
          <p:cNvSpPr/>
          <p:nvPr/>
        </p:nvSpPr>
        <p:spPr>
          <a:xfrm>
            <a:off x="9982504" y="1600200"/>
            <a:ext cx="1280160" cy="1280160"/>
          </a:xfrm>
          <a:prstGeom prst="ellipse">
            <a:avLst/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pic>
        <p:nvPicPr>
          <p:cNvPr id="21" name="Picture 20" descr="analytic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2544" y="1920240"/>
            <a:ext cx="640080" cy="640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71024" y="3063240"/>
            <a:ext cx="2103120" cy="457200"/>
          </a:xfrm>
          <a:prstGeom prst="rect">
            <a:avLst/>
          </a:prstGeom>
          <a:noFill/>
        </p:spPr>
        <p:txBody>
          <a:bodyPr wrap="non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0A0A0A"/>
                </a:solidFill>
                <a:latin typeface="Inter Semi Bold"/>
              </a:rPr>
              <a:t>Audit &amp;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1024" y="3566160"/>
            <a:ext cx="210312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Inter"/>
              </a:rPr>
              <a:t>Meets governance?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41448" y="4846320"/>
            <a:ext cx="7315200" cy="685800"/>
          </a:xfrm>
          <a:prstGeom prst="roundRect">
            <a:avLst>
              <a:gd name="adj" fmla="val 49333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0C8FF"/>
                </a:solidFill>
                <a:latin typeface="Inter Semi Bold"/>
              </a:rPr>
              <a:t>Rule of thumb:  </a:t>
            </a:r>
            <a:r>
              <a:rPr sz="1800" b="0" i="0">
                <a:solidFill>
                  <a:srgbClr val="FFFFFF"/>
                </a:solidFill>
                <a:latin typeface="Inter Semi Bold"/>
              </a:rPr>
              <a:t>enterprise tenant or it doesn't touch config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 an evidence pack, not just a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MIGRATION OUTPUTS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17320"/>
            <a:ext cx="3474720" cy="4343400"/>
          </a:xfrm>
          <a:prstGeom prst="roundRect">
            <a:avLst>
              <a:gd name="adj" fmla="val 473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417320"/>
            <a:ext cx="3474720" cy="731520"/>
          </a:xfrm>
          <a:prstGeom prst="roundRect">
            <a:avLst>
              <a:gd name="adj" fmla="val 22499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DISCOVER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1874519"/>
            <a:ext cx="3474720" cy="274320"/>
          </a:xfrm>
          <a:prstGeom prst="rect">
            <a:avLst/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884224" y="25420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6A8FF"/>
                </a:solidFill>
                <a:latin typeface="Inter Semi Bold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864" y="2468880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Inventory</a:t>
            </a:r>
          </a:p>
        </p:txBody>
      </p:sp>
      <p:sp>
        <p:nvSpPr>
          <p:cNvPr id="9" name="Oval 8"/>
          <p:cNvSpPr/>
          <p:nvPr/>
        </p:nvSpPr>
        <p:spPr>
          <a:xfrm>
            <a:off x="884224" y="33467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6A8FF"/>
                </a:solidFill>
                <a:latin typeface="Inter Semi 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2864" y="3273552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Sanitization record</a:t>
            </a:r>
          </a:p>
        </p:txBody>
      </p:sp>
      <p:sp>
        <p:nvSpPr>
          <p:cNvPr id="11" name="Oval 10"/>
          <p:cNvSpPr/>
          <p:nvPr/>
        </p:nvSpPr>
        <p:spPr>
          <a:xfrm>
            <a:off x="884224" y="41513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6A8FF"/>
                </a:solidFill>
                <a:latin typeface="Inter Semi Bol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2864" y="4078224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Behavior summary</a:t>
            </a:r>
          </a:p>
        </p:txBody>
      </p:sp>
      <p:sp>
        <p:nvSpPr>
          <p:cNvPr id="13" name="Oval 12"/>
          <p:cNvSpPr/>
          <p:nvPr/>
        </p:nvSpPr>
        <p:spPr>
          <a:xfrm>
            <a:off x="884224" y="4956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6A8FF"/>
                </a:solidFill>
                <a:latin typeface="Inter Semi Bol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2864" y="4882896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Dependency 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8944" y="1417320"/>
            <a:ext cx="3474720" cy="4343400"/>
          </a:xfrm>
          <a:prstGeom prst="roundRect">
            <a:avLst>
              <a:gd name="adj" fmla="val 473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8944" y="1417320"/>
            <a:ext cx="3474720" cy="731520"/>
          </a:xfrm>
          <a:prstGeom prst="roundRect">
            <a:avLst>
              <a:gd name="adj" fmla="val 22499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8944" y="1874519"/>
            <a:ext cx="3474720" cy="274320"/>
          </a:xfrm>
          <a:prstGeom prst="rect">
            <a:avLst/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4633264" y="25420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A60FF"/>
                </a:solidFill>
                <a:latin typeface="Inter Semi 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904" y="2468880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Assumptions</a:t>
            </a:r>
          </a:p>
        </p:txBody>
      </p:sp>
      <p:sp>
        <p:nvSpPr>
          <p:cNvPr id="20" name="Oval 19"/>
          <p:cNvSpPr/>
          <p:nvPr/>
        </p:nvSpPr>
        <p:spPr>
          <a:xfrm>
            <a:off x="4633264" y="33467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A60FF"/>
                </a:solidFill>
                <a:latin typeface="Inter Semi 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904" y="3273552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Target mapping</a:t>
            </a:r>
          </a:p>
        </p:txBody>
      </p:sp>
      <p:sp>
        <p:nvSpPr>
          <p:cNvPr id="22" name="Oval 21"/>
          <p:cNvSpPr/>
          <p:nvPr/>
        </p:nvSpPr>
        <p:spPr>
          <a:xfrm>
            <a:off x="4633264" y="41513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A60FF"/>
                </a:solidFill>
                <a:latin typeface="Inter Semi Bol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904" y="4078224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Exception list</a:t>
            </a:r>
          </a:p>
        </p:txBody>
      </p:sp>
      <p:sp>
        <p:nvSpPr>
          <p:cNvPr id="24" name="Oval 23"/>
          <p:cNvSpPr/>
          <p:nvPr/>
        </p:nvSpPr>
        <p:spPr>
          <a:xfrm>
            <a:off x="4633264" y="4956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0A60FF"/>
                </a:solidFill>
                <a:latin typeface="Inter Semi 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4882896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Draft artifacts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984" y="1417320"/>
            <a:ext cx="3474720" cy="4343400"/>
          </a:xfrm>
          <a:prstGeom prst="roundRect">
            <a:avLst>
              <a:gd name="adj" fmla="val 4736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7984" y="1417320"/>
            <a:ext cx="3474720" cy="731520"/>
          </a:xfrm>
          <a:prstGeom prst="roundRect">
            <a:avLst>
              <a:gd name="adj" fmla="val 22499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Inter Semi Bold"/>
              </a:rPr>
              <a:t>DELIVER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7984" y="1874519"/>
            <a:ext cx="3474720" cy="274320"/>
          </a:xfrm>
          <a:prstGeom prst="rect">
            <a:avLst/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8382304" y="25420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007F"/>
                </a:solidFill>
                <a:latin typeface="Inter Semi 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0944" y="2468880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Validation results</a:t>
            </a:r>
          </a:p>
        </p:txBody>
      </p:sp>
      <p:sp>
        <p:nvSpPr>
          <p:cNvPr id="31" name="Oval 30"/>
          <p:cNvSpPr/>
          <p:nvPr/>
        </p:nvSpPr>
        <p:spPr>
          <a:xfrm>
            <a:off x="8382304" y="334670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007F"/>
                </a:solidFill>
                <a:latin typeface="Inter Semi Bold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0944" y="3273552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Rollback plan</a:t>
            </a:r>
          </a:p>
        </p:txBody>
      </p:sp>
      <p:sp>
        <p:nvSpPr>
          <p:cNvPr id="33" name="Oval 32"/>
          <p:cNvSpPr/>
          <p:nvPr/>
        </p:nvSpPr>
        <p:spPr>
          <a:xfrm>
            <a:off x="8382304" y="41513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007F"/>
                </a:solidFill>
                <a:latin typeface="Inter Semi Bol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0944" y="4078224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Approval</a:t>
            </a:r>
          </a:p>
        </p:txBody>
      </p:sp>
      <p:sp>
        <p:nvSpPr>
          <p:cNvPr id="35" name="Oval 34"/>
          <p:cNvSpPr/>
          <p:nvPr/>
        </p:nvSpPr>
        <p:spPr>
          <a:xfrm>
            <a:off x="8382304" y="49560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007F"/>
                </a:solidFill>
                <a:latin typeface="Inter Semi Bold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0944" y="4882896"/>
            <a:ext cx="256032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A0A0A"/>
                </a:solidFill>
                <a:latin typeface="Inter Semi Bold"/>
              </a:rPr>
              <a:t>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plays. One pattern.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RECAP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6480" y="1371600"/>
            <a:ext cx="2029967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 Semi Bold"/>
              </a:rPr>
              <a:t>PLAY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9600" y="1371600"/>
            <a:ext cx="2029967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 Semi Bold"/>
              </a:rPr>
              <a:t>EXTRACT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52720" y="1371600"/>
            <a:ext cx="2029967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 Semi Bold"/>
              </a:rPr>
              <a:t>ANALYZE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5840" y="1371600"/>
            <a:ext cx="2258568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 Semi Bold"/>
              </a:rPr>
              <a:t>LAND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7560" y="1371600"/>
            <a:ext cx="2258568" cy="502920"/>
          </a:xfrm>
          <a:prstGeom prst="roundRect">
            <a:avLst>
              <a:gd name="adj" fmla="val 14545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Inter Semi Bold"/>
              </a:rPr>
              <a:t>AI 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" y="196596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0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UCCX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9600" y="196596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AEF scripts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2720" y="196596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Caller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5840" y="196596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Contact Center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7560" y="196596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0A6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A60FF"/>
                </a:solidFill>
                <a:latin typeface="Inter Semi Bold"/>
              </a:rPr>
              <a:t>AI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" y="274320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06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Hunt Pilots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9600" y="274320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BAT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2720" y="274320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Queue behavior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55840" y="274320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Customer Assist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7560" y="274320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06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06A8FF"/>
                </a:solidFill>
                <a:latin typeface="Inter Semi Bold"/>
              </a:rPr>
              <a:t>Summaries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480" y="352043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F0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Unity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9600" y="352043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DataDump 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2720" y="352043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Menu 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55840" y="3520439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Auto Attendant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7560" y="3520439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007F"/>
                </a:solidFill>
                <a:latin typeface="Inter Semi Bold"/>
              </a:rPr>
              <a:t>AI Receptionist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6480" y="429767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F9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Dial Plan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9600" y="429767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BAT export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2720" y="4297679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Conflicts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55840" y="4297679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Webex Calling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7560" y="4297679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F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9000"/>
                </a:solidFill>
                <a:latin typeface="Inter Semi Bold"/>
              </a:rPr>
              <a:t>VM transcription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6480" y="507492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8A3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Inter Semi Bold"/>
              </a:rPr>
              <a:t>Devices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9600" y="507492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Inventory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52720" y="5074920"/>
            <a:ext cx="2029967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55840" y="507492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82828"/>
                </a:solidFill>
                <a:latin typeface="Inter"/>
              </a:rPr>
              <a:t>RoomOS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7560" y="5074920"/>
            <a:ext cx="2258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25400">
            <a:solidFill>
              <a:srgbClr val="8A3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8A3FFC"/>
                </a:solidFill>
                <a:latin typeface="Inter Semi Bold"/>
              </a:rPr>
              <a:t>AI Assistant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things to do Monday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46304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504" y="1645920"/>
            <a:ext cx="16459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0A60FF"/>
                </a:solidFill>
                <a:latin typeface="Inter Semi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504" y="301752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Recover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504" y="388620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"/>
              </a:rPr>
              <a:t>before mapping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0184" y="146304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8784" y="1645920"/>
            <a:ext cx="16459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0A60FF"/>
                </a:solidFill>
                <a:latin typeface="Inter Semi 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784" y="301752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Sanitize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8784" y="388620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"/>
              </a:rPr>
              <a:t>before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0464" y="146304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9064" y="1645920"/>
            <a:ext cx="16459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0A60FF"/>
                </a:solidFill>
                <a:latin typeface="Inter Semi 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9064" y="301752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Expose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9064" y="388620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"/>
              </a:rPr>
              <a:t>assumptions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744" y="1463040"/>
            <a:ext cx="2057400" cy="3566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9344" y="1645920"/>
            <a:ext cx="16459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0A60FF"/>
                </a:solidFill>
                <a:latin typeface="Inter Semi 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9344" y="301752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0A0A0A"/>
                </a:solidFill>
                <a:latin typeface="Inter Semi Bold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9344" y="388620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 i="0">
                <a:solidFill>
                  <a:srgbClr val="6B6B6B"/>
                </a:solidFill>
                <a:latin typeface="Inter"/>
              </a:rPr>
              <a:t>against schemas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71024" y="1463040"/>
            <a:ext cx="2057400" cy="35661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A60FF"/>
              </a:gs>
              <a:gs pos="100000">
                <a:srgbClr val="FF007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9624" y="1645920"/>
            <a:ext cx="164592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Inter Semi Bold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9624" y="301752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Inter Semi Bold"/>
              </a:rPr>
              <a:t>Transform,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9624" y="3886200"/>
            <a:ext cx="17373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Inter"/>
              </a:rPr>
              <a:t>don't just migrate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legacy config is data.</a:t>
            </a:r>
          </a:p>
          <a:p>
            <a:r>
              <a:t>GenAI turns it into a roadmap.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Extract  →  Sanitize  →  Analyze  →  Transform  →  Validate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256032"/>
            <a:ext cx="10515600" cy="310896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371600"/>
            <a:ext cx="5349240" cy="4434840"/>
          </a:xfrm>
          <a:prstGeom prst="roundRect">
            <a:avLst>
              <a:gd name="adj" fmla="val 37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0A60FF"/>
                </a:solidFill>
                <a:latin typeface="Inter Semi Bold"/>
              </a:rPr>
              <a:t>CISCO LIVE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937760" cy="3657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BRKCOL-2043  ·  Cisco Live 2025 US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BRKCOL-2076  ·  Cisco Live 2026 EMEA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BRKCOL-2530  ·  Cisco Live 2025 Melbourne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BRKCOL-2084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BRKCOL-2185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A0A0A"/>
                </a:solidFill>
                <a:latin typeface="Inter Semi Bold"/>
              </a:rPr>
              <a:t>BRKCCT-1512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371600"/>
            <a:ext cx="5349240" cy="4434840"/>
          </a:xfrm>
          <a:prstGeom prst="roundRect">
            <a:avLst>
              <a:gd name="adj" fmla="val 3711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rIns="109728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0A0A0A"/>
                </a:solidFill>
                <a:latin typeface="Inter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007F"/>
                </a:solidFill>
                <a:latin typeface="Inter Semi Bold"/>
              </a:rPr>
              <a:t>DOCS &amp;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36576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Migrate Unified CM data to Webex Calling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Webex Calling Customer Assist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AI Receptionist for Webex Calling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Voicemail transcription for Webex Calling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Webex AI Agent At-a-Glance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Webex Devices xAPI docs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0A0A"/>
                </a:solidFill>
                <a:latin typeface="Inter Semi Bold"/>
              </a:rPr>
              <a:t>CiscoDevNet / roomdevices-macros-samples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exOne 2026 PowerPoint Light Template">
  <a:themeElements>
    <a:clrScheme name="Custom 28">
      <a:dk1>
        <a:srgbClr val="0A0A0A"/>
      </a:dk1>
      <a:lt1>
        <a:srgbClr val="FFFFFF"/>
      </a:lt1>
      <a:dk2>
        <a:srgbClr val="282828"/>
      </a:dk2>
      <a:lt2>
        <a:srgbClr val="B4B9C0"/>
      </a:lt2>
      <a:accent1>
        <a:srgbClr val="06A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6B6B6B"/>
      </a:hlink>
      <a:folHlink>
        <a:srgbClr val="282828"/>
      </a:folHlink>
    </a:clrScheme>
    <a:fontScheme name="Inter">
      <a:majorFont>
        <a:latin typeface="Inter Semi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ebexOne 2026 PowerPoint Light Template.potx" id="{50867DEA-FD50-4FDB-BFA5-F9657A707C61}" vid="{284EE5F9-B6B5-4615-8F97-E9BF46CD8C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2C28EF3FA65B49B2077972AEAE2A07" ma:contentTypeVersion="14" ma:contentTypeDescription="Create a new document." ma:contentTypeScope="" ma:versionID="9527ecbbb40c07acc53a29fb6f0d9a23">
  <xsd:schema xmlns:xsd="http://www.w3.org/2001/XMLSchema" xmlns:xs="http://www.w3.org/2001/XMLSchema" xmlns:p="http://schemas.microsoft.com/office/2006/metadata/properties" xmlns:ns2="86a32b10-81ff-4a0f-8d3d-2adc436414f2" xmlns:ns3="a3139f05-2a65-4fcf-a932-c2e4371cb372" targetNamespace="http://schemas.microsoft.com/office/2006/metadata/properties" ma:root="true" ma:fieldsID="dad5bdb63a3089e944de9a870a4c78cd" ns2:_="" ns3:_="">
    <xsd:import namespace="86a32b10-81ff-4a0f-8d3d-2adc436414f2"/>
    <xsd:import namespace="a3139f05-2a65-4fcf-a932-c2e4371cb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D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a32b10-81ff-4a0f-8d3d-2adc436414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Done" ma:index="21" nillable="true" ma:displayName="Done" ma:default="1" ma:format="Dropdown" ma:internalName="Don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39f05-2a65-4fcf-a932-c2e4371cb37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ae55187-e50c-49b5-a322-8135a809e3a2}" ma:internalName="TaxCatchAll" ma:showField="CatchAllData" ma:web="a3139f05-2a65-4fcf-a932-c2e4371cb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3139f05-2a65-4fcf-a932-c2e4371cb372" xsi:nil="true"/>
    <lcf76f155ced4ddcb4097134ff3c332f xmlns="86a32b10-81ff-4a0f-8d3d-2adc436414f2">
      <Terms xmlns="http://schemas.microsoft.com/office/infopath/2007/PartnerControls"/>
    </lcf76f155ced4ddcb4097134ff3c332f>
    <Done xmlns="86a32b10-81ff-4a0f-8d3d-2adc436414f2">true</Don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8DC6FF-0376-4B72-9168-0DCEF23C7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a32b10-81ff-4a0f-8d3d-2adc436414f2"/>
    <ds:schemaRef ds:uri="a3139f05-2a65-4fcf-a932-c2e4371cb3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A7E153-DE13-44BB-9579-5F5838E74080}">
  <ds:schemaRefs>
    <ds:schemaRef ds:uri="http://schemas.microsoft.com/office/2006/metadata/properties"/>
    <ds:schemaRef ds:uri="e1d428bc-13f4-449c-9f48-a89f2c9cd5e6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4217139-10e9-43ec-90fc-0a5606dbd6cd"/>
    <ds:schemaRef ds:uri="http://www.w3.org/XML/1998/namespace"/>
    <ds:schemaRef ds:uri="http://purl.org/dc/dcmitype/"/>
    <ds:schemaRef ds:uri="http://purl.org/dc/terms/"/>
    <ds:schemaRef ds:uri="a3139f05-2a65-4fcf-a932-c2e4371cb372"/>
    <ds:schemaRef ds:uri="86a32b10-81ff-4a0f-8d3d-2adc436414f2"/>
  </ds:schemaRefs>
</ds:datastoreItem>
</file>

<file path=customXml/itemProps3.xml><?xml version="1.0" encoding="utf-8"?>
<ds:datastoreItem xmlns:ds="http://schemas.openxmlformats.org/officeDocument/2006/customXml" ds:itemID="{D4FF658D-B6DA-4331-8045-D8421E6B85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WebexOne 2026 PowerPoint Light Template</Template>
  <TotalTime>7</TotalTime>
  <Words>773</Words>
  <Application>Microsoft Macintosh PowerPoint</Application>
  <PresentationFormat>Widescreen</PresentationFormat>
  <Paragraphs>171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Inter Light</vt:lpstr>
      <vt:lpstr>CiscoSansTT Light</vt:lpstr>
      <vt:lpstr>Inter Medium</vt:lpstr>
      <vt:lpstr>Aptos</vt:lpstr>
      <vt:lpstr>Inter Semi Bold</vt:lpstr>
      <vt:lpstr>Arial</vt:lpstr>
      <vt:lpstr>MS PGothic</vt:lpstr>
      <vt:lpstr>CiscoSansTT</vt:lpstr>
      <vt:lpstr>Inter</vt:lpstr>
      <vt:lpstr>WebexOne 2026 PowerPoint Light Template</vt:lpstr>
      <vt:lpstr>WebexOne 2026 light template</vt:lpstr>
      <vt:lpstr>Contents</vt:lpstr>
      <vt:lpstr>01 About the template</vt:lpstr>
      <vt:lpstr>WebexOne template overview and usage instructions</vt:lpstr>
      <vt:lpstr>Colors</vt:lpstr>
      <vt:lpstr>02 Promo Slides</vt:lpstr>
      <vt:lpstr>03 Layout examples</vt:lpstr>
      <vt:lpstr>Presentation title placeholder with two speakers</vt:lpstr>
      <vt:lpstr>Container style</vt:lpstr>
      <vt:lpstr>Big statement slide lorem ipsum dolor sit amet.</vt:lpstr>
      <vt:lpstr>Unified branch priorities</vt:lpstr>
      <vt:lpstr>04 Section Slides</vt:lpstr>
      <vt:lpstr>04 Section Slides</vt:lpstr>
      <vt:lpstr>05 Resources</vt:lpstr>
      <vt:lpstr>Marketing icons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Russ LaFleur (rlafleur)</dc:creator>
  <cp:keywords/>
  <dc:description/>
  <cp:lastModifiedBy>Stephanie Ross (stepross)</cp:lastModifiedBy>
  <cp:revision>17</cp:revision>
  <dcterms:created xsi:type="dcterms:W3CDTF">2026-06-24T15:32:04Z</dcterms:created>
  <dcterms:modified xsi:type="dcterms:W3CDTF">2026-09-28T15:39:44Z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2025-05-12T19:46:53Z</vt:lpwstr>
  </property>
  <property fmtid="{D5CDD505-2E9C-101B-9397-08002B2CF9AE}" pid="4" name="MSIP_Label_c8f49a32-fde3-48a5-9266-b5b0972a22dc_Method">
    <vt:lpwstr>Privileged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2f9f8416-086e-4373-9089-7cbb07ba9e4f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10, 0, 1, 1</vt:lpwstr>
  </property>
  <property fmtid="{D5CDD505-2E9C-101B-9397-08002B2CF9AE}" pid="10" name="ClassificationContentMarkingFooterLocations">
    <vt:lpwstr>Cisco GSX Light 06-25-2025:8</vt:lpwstr>
  </property>
  <property fmtid="{D5CDD505-2E9C-101B-9397-08002B2CF9AE}" pid="11" name="ClassificationContentMarkingFooterText">
    <vt:lpwstr>-</vt:lpwstr>
  </property>
  <property fmtid="{D5CDD505-2E9C-101B-9397-08002B2CF9AE}" pid="12" name="ContentTypeId">
    <vt:lpwstr>0x010100AF2C28EF3FA65B49B2077972AEAE2A07</vt:lpwstr>
  </property>
  <property fmtid="{D5CDD505-2E9C-101B-9397-08002B2CF9AE}" pid="13" name="MediaServiceImageTags">
    <vt:lpwstr/>
  </property>
</Properties>
</file>