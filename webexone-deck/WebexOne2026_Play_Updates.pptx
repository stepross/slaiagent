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1.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4237" r:id="rId4"/>
  </p:sldMasterIdLst>
  <p:notesMasterIdLst>
    <p:notesMasterId r:id="rId21"/>
  </p:notesMasterIdLst>
  <p:sldIdLst>
    <p:sldId id="256" r:id="rId20"/>
    <p:sldId id="257" r:id="rId19"/>
    <p:sldId id="258" r:id="rId18"/>
    <p:sldId id="259" r:id="rId17"/>
    <p:sldId id="260" r:id="rId16"/>
    <p:sldId id="261" r:id="rId15"/>
    <p:sldId id="262" r:id="rId14"/>
    <p:sldId id="263" r:id="rId13"/>
  </p:sldIdLst>
  <p:sldSz cx="12192000" cy="6858000"/>
  <p:notesSz cx="6858000" cy="9144000"/>
  <p:embeddedFontLst>
    <p:embeddedFont>
      <p:font typeface="CiscoSansTT" panose="020B0503020201020303" pitchFamily="34" charset="0"/>
      <p:regular r:id="rId22"/>
      <p:bold r:id="rId23"/>
      <p:italic r:id="rId24"/>
      <p:boldItalic r:id="rId25"/>
    </p:embeddedFont>
    <p:embeddedFont>
      <p:font typeface="CiscoSansTT Light" panose="020B0503020201020303" pitchFamily="34" charset="0"/>
      <p:regular r:id="rId26"/>
      <p:italic r:id="rId27"/>
    </p:embeddedFont>
    <p:embeddedFont>
      <p:font typeface="Inter" panose="02000503000000020004" pitchFamily="2" charset="0"/>
      <p:regular r:id="rId28"/>
      <p:bold r:id="rId29"/>
      <p:italic r:id="rId30"/>
      <p:boldItalic r:id="rId31"/>
    </p:embeddedFont>
    <p:embeddedFont>
      <p:font typeface="Inter Light" panose="02000403000000020004" pitchFamily="2" charset="0"/>
      <p:regular r:id="rId32"/>
      <p:italic r:id="rId33"/>
    </p:embeddedFont>
    <p:embeddedFont>
      <p:font typeface="Inter Medium" panose="02000603000000020004" pitchFamily="2" charset="0"/>
      <p:regular r:id="rId34"/>
      <p:italic r:id="rId35"/>
    </p:embeddedFont>
    <p:embeddedFont>
      <p:font typeface="Inter Semi Bold" panose="02000503000000020004" pitchFamily="2" charset="0"/>
      <p:regular r:id="rId36"/>
      <p:bold r:id="rId37"/>
      <p:italic r:id="rId38"/>
      <p:boldItalic r:id="rId39"/>
    </p:embeddedFont>
    <p:embeddedFont>
      <p:font typeface="MS PGothic" panose="020B0600070205080204" pitchFamily="34" charset="-128"/>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bexOne 2026 PowerPoint Light Template" id="{5885CD09-E5F4-40A1-B261-A4CD8C7D6290}">
          <p14:sldIdLst>
            <p14:sldId id="2147482598"/>
            <p14:sldId id="2147482600"/>
          </p14:sldIdLst>
        </p14:section>
        <p14:section name="About the templates" id="{E2E77393-D283-4E8B-99DA-7516125BB0CE}">
          <p14:sldIdLst>
            <p14:sldId id="2147482571"/>
            <p14:sldId id="2147482570"/>
            <p14:sldId id="2147482654"/>
          </p14:sldIdLst>
        </p14:section>
        <p14:section name="Promo Slides" id="{A717AA93-501B-4EAE-A76D-10CF7C8B99E0}">
          <p14:sldIdLst>
            <p14:sldId id="2147482601"/>
          </p14:sldIdLst>
        </p14:section>
        <p14:section name="Template Slides" id="{C1BCE04F-6A4B-4D61-8F5F-B258FADF4936}">
          <p14:sldIdLst>
            <p14:sldId id="2147482574"/>
            <p14:sldId id="2147482635"/>
            <p14:sldId id="2147482616"/>
            <p14:sldId id="2147482657"/>
            <p14:sldId id="2147482625"/>
          </p14:sldIdLst>
        </p14:section>
        <p14:section name="Section Slides" id="{5E1F1D9B-F022-45ED-A813-8E2898F21F12}">
          <p14:sldIdLst>
            <p14:sldId id="2147482584"/>
            <p14:sldId id="2147482580"/>
          </p14:sldIdLst>
        </p14:section>
        <p14:section name="Resources" id="{81B83DB4-231E-477D-A7CC-2EEADDFBC705}">
          <p14:sldIdLst>
            <p14:sldId id="2147482583"/>
            <p14:sldId id="2147482586"/>
            <p14:sldId id="2147482581"/>
          </p14:sldIdLst>
        </p14:section>
      </p14:sectionLst>
    </p:ext>
    <p:ext uri="{EFAFB233-063F-42B5-8137-9DF3F51BA10A}">
      <p15:sldGuideLst xmlns:p15="http://schemas.microsoft.com/office/powerpoint/2012/main">
        <p15:guide id="2" pos="3840" userDrawn="1">
          <p15:clr>
            <a:srgbClr val="F26B43"/>
          </p15:clr>
        </p15:guide>
        <p15:guide id="3" orient="horz" pos="2160" userDrawn="1">
          <p15:clr>
            <a:srgbClr val="F26B43"/>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9DE2"/>
    <a:srgbClr val="7F7F7F"/>
    <a:srgbClr val="EB4651"/>
    <a:srgbClr val="07182D"/>
    <a:srgbClr val="45991F"/>
    <a:srgbClr val="16BDEB"/>
    <a:srgbClr val="6A7481"/>
    <a:srgbClr val="525E6C"/>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guide pos="3840"/>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8.xml"/><Relationship Id="rId14" Type="http://schemas.openxmlformats.org/officeDocument/2006/relationships/slide" Target="slides/slide7.xml"/><Relationship Id="rId15" Type="http://schemas.openxmlformats.org/officeDocument/2006/relationships/slide" Target="slides/slide6.xml"/><Relationship Id="rId16" Type="http://schemas.openxmlformats.org/officeDocument/2006/relationships/slide" Target="slides/slide5.xml"/><Relationship Id="rId17" Type="http://schemas.openxmlformats.org/officeDocument/2006/relationships/slide" Target="slides/slide4.xml"/><Relationship Id="rId18" Type="http://schemas.openxmlformats.org/officeDocument/2006/relationships/slide" Target="slides/slide3.xml"/><Relationship Id="rId19" Type="http://schemas.openxmlformats.org/officeDocument/2006/relationships/slide" Target="slides/slide2.xml"/><Relationship Id="rId20" Type="http://schemas.openxmlformats.org/officeDocument/2006/relationships/slide" Target="slides/slide1.xml"/><Relationship Id="rId21" Type="http://schemas.openxmlformats.org/officeDocument/2006/relationships/notesMaster" Target="notesMasters/notesMaster1.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 Id="rId30" Type="http://schemas.openxmlformats.org/officeDocument/2006/relationships/font" Target="fonts/font9.fntdata"/><Relationship Id="rId31" Type="http://schemas.openxmlformats.org/officeDocument/2006/relationships/font" Target="fonts/font10.fntdata"/><Relationship Id="rId32" Type="http://schemas.openxmlformats.org/officeDocument/2006/relationships/font" Target="fonts/font11.fntdata"/><Relationship Id="rId33" Type="http://schemas.openxmlformats.org/officeDocument/2006/relationships/font" Target="fonts/font12.fntdata"/><Relationship Id="rId34" Type="http://schemas.openxmlformats.org/officeDocument/2006/relationships/font" Target="fonts/font13.fntdata"/><Relationship Id="rId35" Type="http://schemas.openxmlformats.org/officeDocument/2006/relationships/font" Target="fonts/font14.fntdata"/><Relationship Id="rId36" Type="http://schemas.openxmlformats.org/officeDocument/2006/relationships/font" Target="fonts/font15.fntdata"/><Relationship Id="rId37" Type="http://schemas.openxmlformats.org/officeDocument/2006/relationships/font" Target="fonts/font16.fntdata"/><Relationship Id="rId38" Type="http://schemas.openxmlformats.org/officeDocument/2006/relationships/font" Target="fonts/font17.fntdata"/><Relationship Id="rId39" Type="http://schemas.openxmlformats.org/officeDocument/2006/relationships/font" Target="fonts/font18.fntdata"/><Relationship Id="rId40" Type="http://schemas.openxmlformats.org/officeDocument/2006/relationships/font" Target="fonts/font19.fntdata"/><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72104B-A22A-485F-8181-8B2CD5833538}" type="datetimeFigureOut">
              <a:rPr lang="en-US" smtClean="0"/>
              <a:t>9/28/26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B4990-0A23-4A10-BE7D-7E64CAB85BE3}" type="slidenum">
              <a:rPr lang="en-US" smtClean="0"/>
              <a:t>‹#›</a:t>
            </a:fld>
            <a:endParaRPr lang="en-US"/>
          </a:p>
        </p:txBody>
      </p:sp>
    </p:spTree>
    <p:extLst>
      <p:ext uri="{BB962C8B-B14F-4D97-AF65-F5344CB8AC3E}">
        <p14:creationId xmlns:p14="http://schemas.microsoft.com/office/powerpoint/2010/main" val="62820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CiscoSansTT" panose="020B0503020201020303" pitchFamily="34" charset="0"/>
      </a:defRPr>
    </a:lvl1pPr>
    <a:lvl2pPr marL="457200" algn="l" defTabSz="914400" rtl="0" eaLnBrk="1" latinLnBrk="0" hangingPunct="1">
      <a:defRPr sz="1200" kern="1200">
        <a:solidFill>
          <a:schemeClr val="tx1"/>
        </a:solidFill>
        <a:latin typeface="+mn-lt"/>
        <a:ea typeface="+mn-ea"/>
        <a:cs typeface="CiscoSansTT" panose="020B0503020201020303" pitchFamily="34" charset="0"/>
      </a:defRPr>
    </a:lvl2pPr>
    <a:lvl3pPr marL="914400" algn="l" defTabSz="914400" rtl="0" eaLnBrk="1" latinLnBrk="0" hangingPunct="1">
      <a:defRPr sz="1200" kern="1200">
        <a:solidFill>
          <a:schemeClr val="tx1"/>
        </a:solidFill>
        <a:latin typeface="+mn-lt"/>
        <a:ea typeface="+mn-ea"/>
        <a:cs typeface="CiscoSansTT" panose="020B0503020201020303" pitchFamily="34" charset="0"/>
      </a:defRPr>
    </a:lvl3pPr>
    <a:lvl4pPr marL="1371600" algn="l" defTabSz="914400" rtl="0" eaLnBrk="1" latinLnBrk="0" hangingPunct="1">
      <a:defRPr sz="1200" kern="1200">
        <a:solidFill>
          <a:schemeClr val="tx1"/>
        </a:solidFill>
        <a:latin typeface="+mn-lt"/>
        <a:ea typeface="+mn-ea"/>
        <a:cs typeface="CiscoSansTT" panose="020B0503020201020303" pitchFamily="34" charset="0"/>
      </a:defRPr>
    </a:lvl4pPr>
    <a:lvl5pPr marL="1828800" algn="l" defTabSz="914400" rtl="0" eaLnBrk="1" latinLnBrk="0" hangingPunct="1">
      <a:defRPr sz="1200" kern="1200">
        <a:solidFill>
          <a:schemeClr val="tx1"/>
        </a:solidFill>
        <a:latin typeface="+mn-lt"/>
        <a:ea typeface="+mn-ea"/>
        <a:cs typeface="CiscoSansTT" panose="020B0503020201020303"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SETUP: PLAY 1 DEMO (UCCX TO WEBEX CONTACT CENTER) - THE DATA &amp; THE PROMPT</a:t>
            </a:r>
          </a:p>
          <a:p>
            <a:r>
              <a:t>TALK TRACK (1 MINUTE):</a:t>
            </a:r>
          </a:p>
          <a:p>
            <a:r>
              <a:t>"Before we roll the video playback for Demo 1, let's look at how we set this up.</a:t>
            </a:r>
          </a:p>
          <a:p>
            <a:r>
              <a:t>First, gathering the data: You don't need access to raw database backends. In UCCX, we export the application script (.aef) from the script repository or print the script XML, and we pull three standard CUIC 15 reports: CSQ queue activity, agent wrap-up reasons, and IVR traffic drop-off data. We sanitize any customer PII.</a:t>
            </a:r>
          </a:p>
          <a:p>
            <a:r>
              <a:t>Second, the Master Prompt: We instruct the LLM acting as a Principal Cisco Solutions Architect with a strict mandate: 'Don't Just Migrate, Transform.' We command it not to output raw JSON ASTs that fail tenant imports, but to deliver a click-by-click Flow Designer Programming Recipe, uncover high-volume deflection opportunities with Webex AI Agent, and automate post-call work with Webex AI Assistant.</a:t>
            </a:r>
          </a:p>
          <a:p>
            <a:r>
              <a:t>Let's watch the recorded execution in action."</a:t>
            </a:r>
          </a:p>
          <a:p/>
          <a:p>
            <a:r>
              <a:t>DETAIL (from original slide):</a:t>
            </a:r>
          </a:p>
          <a:p>
            <a:r>
              <a:t>- Source: UCCX Script Editor / Script Repository (.aef Java-serialized binary or printed XML).</a:t>
            </a:r>
          </a:p>
          <a:p>
            <a:r>
              <a:t>- CUIC 15 reports: CSQ Activity Summary (csq_activity.csv), Agent Wrap-Up Summary (wrapup_reasons.csv), IVR Traffic Analysis (ivr_traffic.csv).</a:t>
            </a:r>
          </a:p>
          <a:p>
            <a:r>
              <a:t>- Extraction captures operating schedules, REST API CRM lookups, DTMF option branches, CSQ queue targets, and Set Enterprise CAD variables.</a:t>
            </a:r>
          </a:p>
          <a:p>
            <a:r>
              <a:t>- Sanitization gate: replace customer PII, account numbers and internal database passwords with synthetic tokens.</a:t>
            </a:r>
          </a:p>
          <a:p>
            <a:r>
              <a:t>- Prompt persona: Principal Cisco Enterprise Contact Center Solutions Architect (UCCX to WxCC). Forbids 1:1 DTMF porting; mandates 50%+ self-service deflection and 45-60s agent ACW reduction. Native stack only: Webex AI Agent, Webex AI Assistant, Flow Designer, skill-based queues - zero third-party engines. Deliverable: node-by-node Flow Designer build instructions + ready-to-paste AI Agent system prompts.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TAKEAWAYS: PLAY 1 (UCCX TRANSFORMATION) - WHAT WE LEARNED</a:t>
            </a:r>
          </a:p>
          <a:p>
            <a:r>
              <a:t>TALK TRACK (1 MINUTE):</a:t>
            </a:r>
          </a:p>
          <a:p>
            <a:r>
              <a:t>"Here are the key takeaways from Play 1:</a:t>
            </a:r>
          </a:p>
          <a:p>
            <a:r>
              <a:t>1. Technical Debt Purged: We completely eliminated the legacy touch-tone maze. No customer should have to navigate 4 levels of phone menus in 2026.</a:t>
            </a:r>
          </a:p>
          <a:p>
            <a:r>
              <a:t>2. Target Webex Architecture: We achieved true AI-first modernization. By deploying Webex AI Agent at the front door, we deflect 52% of transactional volume, while Webex AI Assistant equips agents with real-time context and eliminates after-call work.</a:t>
            </a:r>
          </a:p>
          <a:p>
            <a:r>
              <a:t>3. Quantifiable ROI: The business case is compelling - thousands of dollars saved in agent wrap-up time and an 80% reduction in professional services delivery time.</a:t>
            </a:r>
          </a:p>
          <a:p>
            <a:r>
              <a:t>Now, let's move to Play 2 and see how we apply this exact same methodology to CUCM Hunt Pilots."</a:t>
            </a:r>
          </a:p>
          <a:p/>
          <a:p>
            <a:r>
              <a:t>DETAIL (from original slide):</a:t>
            </a:r>
          </a:p>
          <a:p>
            <a:r>
              <a:t>- Purged: 4 levels of nested DTMF menus ('Press 1 for Mortgage, Press 2 for Rates...') that drove caller drop-offs; hard-coded Java REST steps and XML exception handlers (replaced by native HTTP Request nodes); 45-60 seconds of manual post-call wrap-up per call.</a:t>
            </a:r>
          </a:p>
          <a:p>
            <a:r>
              <a:t>- Built: Webex AI Agent natural-language voice self-service for Loan Status, Rate Quotes and Password Resets with automated SMS link dispatch; Webex AI Assistant with screen-pop context, conversational sentiment and GenAI wrap-up summaries; a turnkey 8-node Flow Designer blueprint.</a:t>
            </a:r>
          </a:p>
          <a:p>
            <a:r>
              <a:t>- Impact: 52% tier-1 call deflection; 45-60s saved per call (150+ agent hours/month); assessment and flow design reduced from 3 weeks to minutes (80% faster).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SETUP: PLAY 2 DEMO (HUNT PILOTS TO CUSTOMER ASSIST) - THE DATA &amp; THE PROMPT</a:t>
            </a:r>
          </a:p>
          <a:p>
            <a:r>
              <a:t>TALK TRACK (1 MINUTE):</a:t>
            </a:r>
          </a:p>
          <a:p>
            <a:r>
              <a:t>"In Play 2, we tackle on-premises CUCM Hunt Pilots. Over 10 to 15 years, every enterprise accumulates dozens of hunt pilots, circular overflow loops, and abandoned line groups.</a:t>
            </a:r>
          </a:p>
          <a:p>
            <a:r>
              <a:t>Data Gathering: We use standard CUCM Bulk Administration Tool (BAT) CSV exports: Hunt Pilots, Hunt Lists, Line Groups, and Phone Line associations.</a:t>
            </a:r>
          </a:p>
          <a:p>
            <a:r>
              <a:t>Master Prompt: We task the LLM to graph the entire dependency matrix. The prompt explicitly commands the model to find circular RNA loops that drop calls, flag orphaned groups, and right-size each queue into Webex Calling tiers - elevating high-touch departmental queues to Webex Calling Customer Assist with AI wrap-up, while retaining simple hunt groups for basic coverage.</a:t>
            </a:r>
          </a:p>
          <a:p>
            <a:r>
              <a:t>Let's watch the recorded demonstration."</a:t>
            </a:r>
          </a:p>
          <a:p/>
          <a:p>
            <a:r>
              <a:t>DETAIL (from original slide):</a:t>
            </a:r>
          </a:p>
          <a:p>
            <a:r>
              <a:t>- Source: CUCM Administration &gt; Bulk Administration &gt; Hunt Pilots / Hunt Lists / Line Groups / Phones &gt; Export.</a:t>
            </a:r>
          </a:p>
          <a:p>
            <a:r>
              <a:t>- Files: cucm_bat_hunt_pilots.csv, cucm_bat_hunt_lists.csv, cucm_bat_line_groups.csv, cucm_bat_phones_lines.csv.</a:t>
            </a:r>
          </a:p>
          <a:p>
            <a:r>
              <a:t>- Captures distribution algorithms (Top-Down, Circular, Longest-Idle), RNA timers, pilot numbers and agent line memberships.</a:t>
            </a:r>
          </a:p>
          <a:p>
            <a:r>
              <a:t>- Sanitization gate: mask internal extensions and device MAC addresses if customer policy requires.</a:t>
            </a:r>
          </a:p>
          <a:p>
            <a:r>
              <a:t>- Prompt persona: Principal Cisco UC &amp; Routing Solutions Architect (CUCM queue rationalization). Reconstruct the dependency tree from Hunt Pilot down to physical endpoints; detect circular RNA loops (e.g., 8801 &lt;-&gt; 8802) and orphaned line groups with zero registered devices; categorize into Customer Assist vs. Auto Attendant vs. native Hunt Group vs. direct extension.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TAKEAWAYS: PLAY 2 (HUNT PILOT RATIONALIZATION) - WHAT WE LEARNED</a:t>
            </a:r>
          </a:p>
          <a:p>
            <a:r>
              <a:t>TALK TRACK (1 MINUTE):</a:t>
            </a:r>
          </a:p>
          <a:p>
            <a:r>
              <a:t>"Key takeaways from Play 2:</a:t>
            </a:r>
          </a:p>
          <a:p>
            <a:r>
              <a:t>1. Clean Before You Move: Never migrate legacy configurations 1-to-1 without auditing them first. GenAI found circular RNA loops and ghost queues that had been lurking in CUCM for years.</a:t>
            </a:r>
          </a:p>
          <a:p>
            <a:r>
              <a:t>2. Right-Size to Webex Customer Assist: Not every queue needs a full contact center license, but high-touch teams like IT and Billing deserve more than a dumb desk-phone ring. Customer Assist bridges that gap perfectly with agent screen pops and supervisor analytics.</a:t>
            </a:r>
          </a:p>
          <a:p>
            <a:r>
              <a:t>3. Operational Clarity: We simplified decades of on-prem complexity into a clean, modern Control Hub setup.</a:t>
            </a:r>
          </a:p>
          <a:p>
            <a:r>
              <a:t>Next, let's look at Play 3: Modernizing Cisco Unity Connection with Webex 24/7 AI Receptionist."</a:t>
            </a:r>
          </a:p>
          <a:p/>
          <a:p>
            <a:r>
              <a:t>DETAIL (from original slide):</a:t>
            </a:r>
          </a:p>
          <a:p>
            <a:r>
              <a:t>- Purged: 2 deprecated hunt pilots pointing to empty line groups with zero registered devices; infinite ring cycles (8801 &lt;-&gt; 8802) that dropped calls; 15 multi-tier CUCM tables consolidated into a single-pane Control Hub model.</a:t>
            </a:r>
          </a:p>
          <a:p>
            <a:r>
              <a:t>- Built: Customer Assist for high-impact teams (IT Helpdesk 4100, Billing 5200) with supervisor analytics; screen pops with caller profile, dialed number and reason for call; lightweight broadcast Hunt Group retained for Facilities 3000.</a:t>
            </a:r>
          </a:p>
          <a:p>
            <a:r>
              <a:t>- Impact: only active, rationalized logic migrated; real-time queue depth, agent state and SLA metrics for team leads; weeks of spreadsheet mapping reduced to a 5-minute automated topology audit.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SETUP: PLAY 3 DEMO (UNITY CONNECTION TO AI RECEPTIONIST) - THE DATA &amp; THE PROMPT</a:t>
            </a:r>
          </a:p>
          <a:p>
            <a:r>
              <a:t>TALK TRACK (1 MINUTE):</a:t>
            </a:r>
          </a:p>
          <a:p>
            <a:r>
              <a:t>"In Play 3, we address Cisco Unity Connection. For 20 years, companies have forced callers to listen to 45-second recorded greetings: 'For office hours press 1, for directions press 2, for billing press 3...'</a:t>
            </a:r>
          </a:p>
          <a:p>
            <a:r>
              <a:t>Data Gathering: We run the standard CallHandlerDataDump utility from Cisco Unity Tools to export call handler tables, DTMF menu entries, and transcribed greeting audio.</a:t>
            </a:r>
          </a:p>
          <a:p>
            <a:r>
              <a:t>Master Prompt: We prompt the LLM to deconstruct the multi-level tree, convert static audio monologues into a structured FAQ Knowledge Base for Webex 24/7 AI Receptionist, and configure dynamic SMS link dispatch.</a:t>
            </a:r>
          </a:p>
          <a:p>
            <a:r>
              <a:t>Let's watch the recorded walkthrough."</a:t>
            </a:r>
          </a:p>
          <a:p/>
          <a:p>
            <a:r>
              <a:t>DETAIL (from original slide):</a:t>
            </a:r>
          </a:p>
          <a:p>
            <a:r>
              <a:t>- Source utility: Cisco Unity Tools CallHandlerDataDump.exe (or CSV export via CUC Administration / REST API).</a:t>
            </a:r>
          </a:p>
          <a:p>
            <a:r>
              <a:t>- Files: cuc_call_handlers.csv (handlers &amp; schedules), cuc_menu_entries.csv (DTMF keys 0-9), cuc_greetings_transcripts.csv (greeting audio as text), cuc_company_directory.csv.</a:t>
            </a:r>
          </a:p>
          <a:p>
            <a:r>
              <a:t>- Greeting audio transcribed to text across standard, closed, holiday and informational handlers.</a:t>
            </a:r>
          </a:p>
          <a:p>
            <a:r>
              <a:t>- Sanitization gate: replace employee cell-phone transfer numbers with internal company DIDs.</a:t>
            </a:r>
          </a:p>
          <a:p>
            <a:r>
              <a:t>- Prompt persona: Principal Cisco Collaboration Solutions Architect (Unity Connection voice modernization). Flatten 3-tier touch-tone menus and map spoken requests directly to destinations; convert static 45-second recordings (hours, directions, invoicing) into a ready-to-paste AI Receptionist FAQ table; configure automated SMS links (directions, portals) to caller mobiles.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TAKEAWAYS: PLAY 3 (UNITY MODERNIZATION) - WHAT WE LEARNED</a:t>
            </a:r>
          </a:p>
          <a:p>
            <a:r>
              <a:t>TALK TRACK (1 MINUTE):</a:t>
            </a:r>
          </a:p>
          <a:p>
            <a:r>
              <a:t>"Key takeaways from Play 3:</a:t>
            </a:r>
          </a:p>
          <a:p>
            <a:r>
              <a:t>1. Stop Forcing Callers to Listen to Menus: Webex 24/7 AI Receptionist turns rigid on-prem voicemail trees into an intelligent, conversational front door.</a:t>
            </a:r>
          </a:p>
          <a:p>
            <a:r>
              <a:t>2. Multimodal Self-Service: By combining conversational voice answering with automated SMS link dispatch, callers get immediate resolution on their mobile devices.</a:t>
            </a:r>
          </a:p>
          <a:p>
            <a:r>
              <a:t>3. Elevated Routing: Staff are protected from routine interruptions, while high-value calls reach the right department instantly.</a:t>
            </a:r>
          </a:p>
          <a:p>
            <a:r>
              <a:t>Now let's examine our fourth and final play: CUCM Dial Plan &amp; Local Gateway (CUBE) Hybrid Coexistence."</a:t>
            </a:r>
          </a:p>
          <a:p/>
          <a:p>
            <a:r>
              <a:t>DETAIL (from original slide):</a:t>
            </a:r>
          </a:p>
          <a:p>
            <a:r>
              <a:t>- Purged: 45-second static recordings listing menu options; nested 3-tier call handlers flattened into a single-turn conversational front door; unmonitored after-hours voicemail boxes replaced with 24/7 conversational FAQ self-service.</a:t>
            </a:r>
          </a:p>
          <a:p>
            <a:r>
              <a:t>- Built: 24/7 AI Receptionist that greets callers, answers from the knowledge base and routes dynamically; instant SMS links for directions, parking and payment portals; escalation of complex inquiries to Webex Calling Customer Assist with screen-pop context.</a:t>
            </a:r>
          </a:p>
          <a:p>
            <a:r>
              <a:t>- Impact: immediate answers to routine questions 24/7 with no hold; callers speak naturally instead of hunting for dial-pad keys; receptionists freed from repetitive directions/scheduling questions.</a:t>
            </a:r>
          </a:p>
          <a:p>
            <a:r>
              <a:t>- Original key takeaway: "Stop forcing callers to listen to 45 seconds of options. Webex 24/7 AI Receptionist turns the front door into a conversational asset."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SETUP: PLAY 4 DEMO (DIAL PLAN &amp; LOCAL GATEWAY) - THE DATA &amp; THE PROMPT</a:t>
            </a:r>
          </a:p>
          <a:p>
            <a:r>
              <a:t>TALK TRACK (1 MINUTE):</a:t>
            </a:r>
          </a:p>
          <a:p>
            <a:r>
              <a:t>"In Play 4, we tackle the biggest migration hurdle: enterprise dial plans and hybrid PSTN routing.</a:t>
            </a:r>
          </a:p>
          <a:p>
            <a:r>
              <a:t>Data Gathering: We export 10 core CUCM BAT CSV files covering Route Patterns, Translation Patterns, Gateways, Trunks, Route Groups, and Partitions.</a:t>
            </a:r>
          </a:p>
          <a:p>
            <a:r>
              <a:t>Master Prompt: We prompt the LLM to audit legacy technical debt - such as flagging obsolete H.323 gateways that cannot connect to the cloud - normalize all extensions to enterprise +E.164, and generate production-ready Cisco IOS-XE CUBE CLI configurations for zero-downtime hybrid coexistence.</a:t>
            </a:r>
          </a:p>
          <a:p>
            <a:r>
              <a:t>Let's watch the recorded demonstration."</a:t>
            </a:r>
          </a:p>
          <a:p/>
          <a:p>
            <a:r>
              <a:t>DETAIL (from original slide):</a:t>
            </a:r>
          </a:p>
          <a:p>
            <a:r>
              <a:t>- Source: CUCM Administration &gt; Bulk Administration &gt; Route Plan / Call Routing / Gateways / Trunks &gt; Export.</a:t>
            </a:r>
          </a:p>
          <a:p>
            <a:r>
              <a:t>- Files: routepattern.csv, translationpattern.csv, gateway.csv, trunk.csv, routegroup.csv, routelist.csv, partition.csv, css.csv, phone.csv, ctiroutepoint.csv.</a:t>
            </a:r>
          </a:p>
          <a:p>
            <a:r>
              <a:t>- Extracts on-prem routing chains, legacy H.323/MGCP gateways, translation patterns and CSS/partition permissions.</a:t>
            </a:r>
          </a:p>
          <a:p>
            <a:r>
              <a:t>- Sanitization gate: replace public carrier IP addresses and trunk authentication passwords with synthetic values.</a:t>
            </a:r>
          </a:p>
          <a:p>
            <a:r>
              <a:t>- Prompt persona: Principal Cisco Enterprise Collaboration &amp; Routing Solutions Architect (CUCM to Webex Local Gateway). Identify legacy H.323 gateways (e.g., 198.18.128.11) and strip obsolete steering prefixes (91.10D, 9.01); build a bidirectional +E.164 hybrid routing matrix (+197255560XX &lt;-&gt; +197255570XX) for phased migration; generate complete IOS-XE CUBE blocks (voice service voip, translation-rules, dial-peers, sip-profiles).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TAKEAWAYS: PLAY 4 (DIAL PLAN &amp; HYBRID COEXISTENCE) - WHAT WE LEARNED</a:t>
            </a:r>
          </a:p>
          <a:p>
            <a:r>
              <a:t>TALK TRACK (1 MINUTE):</a:t>
            </a:r>
          </a:p>
          <a:p>
            <a:r>
              <a:t>"Key takeaways from Play 4:</a:t>
            </a:r>
          </a:p>
          <a:p>
            <a:r>
              <a:t>1. Risk-Free Phased Migration: Hybrid routing is the linchpin of enterprise migrations. By generating accurate CUBE Local Gateway configs, we give customers the freedom to migrate users at their own pace without changing extension numbers or disrupting carrier PSTN contracts.</a:t>
            </a:r>
          </a:p>
          <a:p>
            <a:r>
              <a:t>2. Modernization Beyond Routing: We don't just migrate dial peers - we modernize voicemail into AI-driven speech-to-text transcription delivered straight to Webex App.</a:t>
            </a:r>
          </a:p>
          <a:p>
            <a:r>
              <a:t>3. Engineering Velocity: What used to require weeks of manual dial-peer scripting and testing is delivered in minutes with zero-code GenAI precision.</a:t>
            </a:r>
          </a:p>
          <a:p>
            <a:r>
              <a:t>Now, let's move into Section 3: Trust, Guardrails, and Human-in-the-Loop Verification."</a:t>
            </a:r>
          </a:p>
          <a:p/>
          <a:p>
            <a:r>
              <a:t>DETAIL (from original slide):</a:t>
            </a:r>
          </a:p>
          <a:p>
            <a:r>
              <a:t>- Purged: legacy H.323 and MGCP gateways incompatible with cloud signaling; redundant steering prefixes (91.10D, 9.) replaced by standardized +E.164 patterns; hundreds of legacy CSS permissions rationalized into unified Control Hub routing policies.</a:t>
            </a:r>
          </a:p>
          <a:p>
            <a:r>
              <a:t>- Built: auto-generated, syntax-validated IOS-XE CUBE Local Gateway dial-peers connecting CUCM to Webex Calling over TLS/SRTP; bidirectional extension dialing between on-prem (+197255560XX) and cloud (+197255570XX) users; location-wide Voicemail AI Transcription with email and Webex App delivery.</a:t>
            </a:r>
          </a:p>
          <a:p>
            <a:r>
              <a:t>- Impact: department-by-department migration with zero disruption; one carrier trunk shared by on-prem and cloud users during transition; AI voicemail transcripts instead of audio inbox lag.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e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074E5E-9251-F0EA-2BB9-CE195548D6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33072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WebexOne 2026 Title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609599" y="1533525"/>
            <a:ext cx="8119872" cy="1593855"/>
          </a:xfrm>
        </p:spPr>
        <p:txBody>
          <a:bodyPr anchor="b" anchorCtr="0"/>
          <a:lstStyle>
            <a:lvl1pPr>
              <a:defRPr sz="4000"/>
            </a:lvl1pPr>
          </a:lstStyle>
          <a:p>
            <a:r>
              <a:rPr lang="en-US"/>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609599" y="3133725"/>
            <a:ext cx="8119872" cy="246221"/>
          </a:xfrm>
          <a:noFill/>
        </p:spPr>
        <p:txBody>
          <a:bodyPr>
            <a:spAutoFit/>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609600" y="3965575"/>
            <a:ext cx="3593592" cy="492443"/>
          </a:xfrm>
          <a:noFill/>
        </p:spPr>
        <p:txBody>
          <a:bodyPr>
            <a:spAutoFit/>
          </a:bodyPr>
          <a:lstStyle>
            <a:lvl1pPr marL="0" indent="0">
              <a:spcAft>
                <a:spcPts val="0"/>
              </a:spcAft>
              <a:buNone/>
              <a:defRPr sz="1600"/>
            </a:lvl1pPr>
          </a:lstStyle>
          <a:p>
            <a:pPr lvl="0"/>
            <a:r>
              <a:rPr lang="en-US"/>
              <a:t>Speaker Name</a:t>
            </a:r>
          </a:p>
          <a:p>
            <a:pPr lvl="0"/>
            <a:r>
              <a:rPr lang="en-US"/>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564571" y="3965575"/>
            <a:ext cx="3593592" cy="492443"/>
          </a:xfrm>
        </p:spPr>
        <p:txBody>
          <a:bodyPr>
            <a:spAutoFit/>
          </a:bodyPr>
          <a:lstStyle>
            <a:lvl1pPr marL="0" indent="0">
              <a:spcAft>
                <a:spcPts val="0"/>
              </a:spcAft>
              <a:buNone/>
              <a:defRPr lang="en-US" sz="16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609600" y="6309360"/>
            <a:ext cx="4357688" cy="548640"/>
          </a:xfrm>
          <a:noFill/>
        </p:spPr>
        <p:txBody>
          <a:bodyPr/>
          <a:lstStyle>
            <a:lvl1pPr marL="0" indent="0">
              <a:buNone/>
              <a:defRPr sz="1200">
                <a:solidFill>
                  <a:schemeClr val="bg2"/>
                </a:solidFill>
              </a:defRPr>
            </a:lvl1pPr>
          </a:lstStyle>
          <a:p>
            <a:pPr lvl="0"/>
            <a:r>
              <a:rPr lang="en-US"/>
              <a:t>Date</a:t>
            </a:r>
          </a:p>
        </p:txBody>
      </p:sp>
      <p:pic>
        <p:nvPicPr>
          <p:cNvPr id="4" name="Graphic 3">
            <a:extLst>
              <a:ext uri="{FF2B5EF4-FFF2-40B4-BE49-F238E27FC236}">
                <a16:creationId xmlns:a16="http://schemas.microsoft.com/office/drawing/2014/main" id="{4F8BE50A-FC3C-8632-8507-5D2E162AF55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599" y="513994"/>
            <a:ext cx="2981499" cy="411519"/>
          </a:xfrm>
          <a:prstGeom prst="rect">
            <a:avLst/>
          </a:prstGeom>
        </p:spPr>
      </p:pic>
    </p:spTree>
    <p:extLst>
      <p:ext uri="{BB962C8B-B14F-4D97-AF65-F5344CB8AC3E}">
        <p14:creationId xmlns:p14="http://schemas.microsoft.com/office/powerpoint/2010/main" val="3707066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WebexOne 2026 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609600" y="1579557"/>
            <a:ext cx="8119872" cy="1554169"/>
          </a:xfrm>
        </p:spPr>
        <p:txBody>
          <a:bodyPr anchor="b" anchorCtr="0"/>
          <a:lstStyle>
            <a:lvl1pPr>
              <a:defRPr sz="4000"/>
            </a:lvl1pPr>
          </a:lstStyle>
          <a:p>
            <a:r>
              <a:rPr lang="en-US"/>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609600" y="3133726"/>
            <a:ext cx="8119872" cy="276999"/>
          </a:xfrm>
          <a:noFill/>
        </p:spPr>
        <p:txBody>
          <a:bodyPr>
            <a:spAutoFit/>
          </a:bodyPr>
          <a:lstStyle>
            <a:lvl1pPr marL="0" indent="0">
              <a:buNone/>
              <a:defRPr lang="en-US" sz="18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609600" y="3976325"/>
            <a:ext cx="3597275" cy="492443"/>
          </a:xfrm>
          <a:noFill/>
        </p:spPr>
        <p:txBody>
          <a:bodyPr>
            <a:spAutoFit/>
          </a:bodyPr>
          <a:lstStyle>
            <a:lvl1pPr marL="0" indent="0">
              <a:spcAft>
                <a:spcPts val="0"/>
              </a:spcAft>
              <a:buNone/>
              <a:defRPr sz="1600"/>
            </a:lvl1pPr>
          </a:lstStyle>
          <a:p>
            <a:pPr lvl="0"/>
            <a:r>
              <a:rPr lang="en-US"/>
              <a:t>Speaker Name</a:t>
            </a:r>
          </a:p>
          <a:p>
            <a:pPr lvl="0"/>
            <a:r>
              <a:rPr lang="en-US"/>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516438" y="3976325"/>
            <a:ext cx="3459162" cy="492443"/>
          </a:xfrm>
        </p:spPr>
        <p:txBody>
          <a:bodyPr>
            <a:spAutoFit/>
          </a:bodyPr>
          <a:lstStyle>
            <a:lvl1pPr marL="0" indent="0">
              <a:spcAft>
                <a:spcPts val="0"/>
              </a:spcAft>
              <a:buNone/>
              <a:defRPr lang="en-US" sz="16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609600" y="4732562"/>
            <a:ext cx="3597275" cy="492443"/>
          </a:xfrm>
          <a:noFill/>
        </p:spPr>
        <p:txBody>
          <a:bodyPr>
            <a:spAutoFit/>
          </a:bodyPr>
          <a:lstStyle>
            <a:lvl1pPr marL="0" indent="0">
              <a:spcAft>
                <a:spcPts val="0"/>
              </a:spcAft>
              <a:buNone/>
              <a:defRPr sz="1600"/>
            </a:lvl1pPr>
          </a:lstStyle>
          <a:p>
            <a:pPr lvl="0"/>
            <a:r>
              <a:rPr lang="en-US"/>
              <a:t>Speaker Name</a:t>
            </a:r>
          </a:p>
          <a:p>
            <a:pPr lvl="0"/>
            <a:r>
              <a:rPr lang="en-US"/>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516438" y="4732562"/>
            <a:ext cx="3459162" cy="492443"/>
          </a:xfrm>
        </p:spPr>
        <p:txBody>
          <a:bodyPr>
            <a:spAutoFit/>
          </a:bodyPr>
          <a:lstStyle>
            <a:lvl1pPr marL="0" indent="0">
              <a:spcAft>
                <a:spcPts val="0"/>
              </a:spcAft>
              <a:buNone/>
              <a:defRPr lang="en-US" sz="16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609600" y="6309360"/>
            <a:ext cx="4357688" cy="548640"/>
          </a:xfrm>
          <a:noFill/>
        </p:spPr>
        <p:txBody>
          <a:bodyPr/>
          <a:lstStyle>
            <a:lvl1pPr marL="0" indent="0">
              <a:buNone/>
              <a:defRPr sz="1200">
                <a:solidFill>
                  <a:schemeClr val="bg2"/>
                </a:solidFill>
              </a:defRPr>
            </a:lvl1pPr>
          </a:lstStyle>
          <a:p>
            <a:pPr lvl="0"/>
            <a:r>
              <a:rPr lang="en-US"/>
              <a:t>Date</a:t>
            </a:r>
          </a:p>
        </p:txBody>
      </p:sp>
      <p:pic>
        <p:nvPicPr>
          <p:cNvPr id="7" name="Graphic 6">
            <a:extLst>
              <a:ext uri="{FF2B5EF4-FFF2-40B4-BE49-F238E27FC236}">
                <a16:creationId xmlns:a16="http://schemas.microsoft.com/office/drawing/2014/main" id="{BFE01332-C819-25C6-31CD-B1DFEB2215E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599" y="513994"/>
            <a:ext cx="2981499" cy="411519"/>
          </a:xfrm>
          <a:prstGeom prst="rect">
            <a:avLst/>
          </a:prstGeom>
        </p:spPr>
      </p:pic>
    </p:spTree>
    <p:extLst>
      <p:ext uri="{BB962C8B-B14F-4D97-AF65-F5344CB8AC3E}">
        <p14:creationId xmlns:p14="http://schemas.microsoft.com/office/powerpoint/2010/main" val="3101855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WebexOne 2026 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609600" y="1339908"/>
            <a:ext cx="8119872" cy="1554169"/>
          </a:xfrm>
        </p:spPr>
        <p:txBody>
          <a:bodyPr anchor="b" anchorCtr="0"/>
          <a:lstStyle>
            <a:lvl1pPr>
              <a:defRPr sz="4000"/>
            </a:lvl1pPr>
          </a:lstStyle>
          <a:p>
            <a:r>
              <a:rPr lang="en-US"/>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609600" y="2894077"/>
            <a:ext cx="8119872" cy="276999"/>
          </a:xfrm>
          <a:noFill/>
        </p:spPr>
        <p:txBody>
          <a:bodyPr>
            <a:spAutoFit/>
          </a:bodyPr>
          <a:lstStyle>
            <a:lvl1pPr marL="0" indent="0">
              <a:buNone/>
              <a:defRPr lang="en-US" sz="18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609601" y="3667126"/>
            <a:ext cx="3597274" cy="492443"/>
          </a:xfrm>
          <a:noFill/>
        </p:spPr>
        <p:txBody>
          <a:bodyPr>
            <a:spAutoFit/>
          </a:bodyPr>
          <a:lstStyle>
            <a:lvl1pPr marL="0" indent="0">
              <a:spcAft>
                <a:spcPts val="0"/>
              </a:spcAft>
              <a:buNone/>
              <a:defRPr sz="1600"/>
            </a:lvl1pPr>
          </a:lstStyle>
          <a:p>
            <a:pPr lvl="0"/>
            <a:r>
              <a:rPr lang="en-US"/>
              <a:t>Speaker Name</a:t>
            </a:r>
          </a:p>
          <a:p>
            <a:pPr lvl="0"/>
            <a:r>
              <a:rPr lang="en-US"/>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516437" y="3667126"/>
            <a:ext cx="3459163" cy="492443"/>
          </a:xfrm>
        </p:spPr>
        <p:txBody>
          <a:bodyPr>
            <a:spAutoFit/>
          </a:bodyPr>
          <a:lstStyle>
            <a:lvl1pPr marL="0" indent="0">
              <a:spcAft>
                <a:spcPts val="0"/>
              </a:spcAft>
              <a:buNone/>
              <a:defRPr lang="en-US" sz="16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609600" y="4414170"/>
            <a:ext cx="3597275" cy="492443"/>
          </a:xfrm>
          <a:noFill/>
        </p:spPr>
        <p:txBody>
          <a:bodyPr>
            <a:spAutoFit/>
          </a:bodyPr>
          <a:lstStyle>
            <a:lvl1pPr marL="0" indent="0">
              <a:spcAft>
                <a:spcPts val="0"/>
              </a:spcAft>
              <a:buNone/>
              <a:defRPr sz="1600"/>
            </a:lvl1pPr>
          </a:lstStyle>
          <a:p>
            <a:pPr lvl="0"/>
            <a:r>
              <a:rPr lang="en-US"/>
              <a:t>Speaker Name</a:t>
            </a:r>
          </a:p>
          <a:p>
            <a:pPr lvl="0"/>
            <a:r>
              <a:rPr lang="en-US"/>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516438" y="4414170"/>
            <a:ext cx="3459162" cy="492443"/>
          </a:xfrm>
        </p:spPr>
        <p:txBody>
          <a:bodyPr>
            <a:spAutoFit/>
          </a:bodyPr>
          <a:lstStyle>
            <a:lvl1pPr marL="0" indent="0">
              <a:spcAft>
                <a:spcPts val="0"/>
              </a:spcAft>
              <a:buNone/>
              <a:defRPr lang="en-US" sz="16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7" name="Text Placeholder 5">
            <a:extLst>
              <a:ext uri="{FF2B5EF4-FFF2-40B4-BE49-F238E27FC236}">
                <a16:creationId xmlns:a16="http://schemas.microsoft.com/office/drawing/2014/main" id="{B989D1F9-5949-EAFF-931D-8121D6A66AA8}"/>
              </a:ext>
            </a:extLst>
          </p:cNvPr>
          <p:cNvSpPr>
            <a:spLocks noGrp="1"/>
          </p:cNvSpPr>
          <p:nvPr>
            <p:ph type="body" sz="quarter" idx="17" hasCustomPrompt="1"/>
          </p:nvPr>
        </p:nvSpPr>
        <p:spPr>
          <a:xfrm>
            <a:off x="609600" y="5161214"/>
            <a:ext cx="3597275" cy="492443"/>
          </a:xfrm>
          <a:noFill/>
        </p:spPr>
        <p:txBody>
          <a:bodyPr>
            <a:spAutoFit/>
          </a:bodyPr>
          <a:lstStyle>
            <a:lvl1pPr marL="0" indent="0">
              <a:spcAft>
                <a:spcPts val="0"/>
              </a:spcAft>
              <a:buNone/>
              <a:defRPr sz="1600"/>
            </a:lvl1pPr>
          </a:lstStyle>
          <a:p>
            <a:pPr lvl="0"/>
            <a:r>
              <a:rPr lang="en-US"/>
              <a:t>Speaker Name</a:t>
            </a:r>
          </a:p>
          <a:p>
            <a:pPr lvl="0"/>
            <a:r>
              <a:rPr lang="en-US"/>
              <a:t>Speaker Title placeholder, @social</a:t>
            </a:r>
          </a:p>
        </p:txBody>
      </p:sp>
      <p:sp>
        <p:nvSpPr>
          <p:cNvPr id="8" name="Text Placeholder 9">
            <a:extLst>
              <a:ext uri="{FF2B5EF4-FFF2-40B4-BE49-F238E27FC236}">
                <a16:creationId xmlns:a16="http://schemas.microsoft.com/office/drawing/2014/main" id="{3D1ACE7D-3D09-2D50-1C06-DBAD3893A921}"/>
              </a:ext>
            </a:extLst>
          </p:cNvPr>
          <p:cNvSpPr>
            <a:spLocks noGrp="1"/>
          </p:cNvSpPr>
          <p:nvPr>
            <p:ph type="body" sz="quarter" idx="18" hasCustomPrompt="1"/>
          </p:nvPr>
        </p:nvSpPr>
        <p:spPr>
          <a:xfrm>
            <a:off x="4516438" y="5161214"/>
            <a:ext cx="3468690" cy="492443"/>
          </a:xfrm>
        </p:spPr>
        <p:txBody>
          <a:bodyPr>
            <a:spAutoFit/>
          </a:bodyPr>
          <a:lstStyle>
            <a:lvl1pPr marL="0" indent="0">
              <a:spcAft>
                <a:spcPts val="0"/>
              </a:spcAft>
              <a:buNone/>
              <a:defRPr lang="en-US" sz="16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609600" y="6309360"/>
            <a:ext cx="3906838" cy="548640"/>
          </a:xfrm>
          <a:noFill/>
        </p:spPr>
        <p:txBody>
          <a:bodyPr/>
          <a:lstStyle>
            <a:lvl1pPr marL="0" indent="0">
              <a:buNone/>
              <a:defRPr sz="1200">
                <a:solidFill>
                  <a:schemeClr val="bg2"/>
                </a:solidFill>
              </a:defRPr>
            </a:lvl1pPr>
          </a:lstStyle>
          <a:p>
            <a:pPr lvl="0"/>
            <a:r>
              <a:rPr lang="en-US"/>
              <a:t>Date</a:t>
            </a:r>
          </a:p>
        </p:txBody>
      </p:sp>
      <p:pic>
        <p:nvPicPr>
          <p:cNvPr id="12" name="Graphic 11">
            <a:extLst>
              <a:ext uri="{FF2B5EF4-FFF2-40B4-BE49-F238E27FC236}">
                <a16:creationId xmlns:a16="http://schemas.microsoft.com/office/drawing/2014/main" id="{F1CFE968-78FB-E5F6-DFD3-8A2E5500B8A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599" y="513994"/>
            <a:ext cx="2981499" cy="411519"/>
          </a:xfrm>
          <a:prstGeom prst="rect">
            <a:avLst/>
          </a:prstGeom>
        </p:spPr>
      </p:pic>
    </p:spTree>
    <p:extLst>
      <p:ext uri="{BB962C8B-B14F-4D97-AF65-F5344CB8AC3E}">
        <p14:creationId xmlns:p14="http://schemas.microsoft.com/office/powerpoint/2010/main" val="852241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609600" y="598488"/>
            <a:ext cx="2780324" cy="516255"/>
          </a:xfrm>
        </p:spPr>
        <p:txBody>
          <a:bodyPr/>
          <a:lstStyle>
            <a:lvl1pPr>
              <a:defRPr/>
            </a:lvl1pPr>
          </a:lstStyle>
          <a:p>
            <a:r>
              <a:rPr lang="en-US"/>
              <a:t>Agenda 1</a:t>
            </a:r>
          </a:p>
        </p:txBody>
      </p:sp>
      <p:sp>
        <p:nvSpPr>
          <p:cNvPr id="4" name="Text Placeholder 3">
            <a:extLst>
              <a:ext uri="{FF2B5EF4-FFF2-40B4-BE49-F238E27FC236}">
                <a16:creationId xmlns:a16="http://schemas.microsoft.com/office/drawing/2014/main" id="{BD66DE8E-18DA-4564-080D-AD4F9F492D6B}"/>
              </a:ext>
            </a:extLst>
          </p:cNvPr>
          <p:cNvSpPr>
            <a:spLocks noGrp="1"/>
          </p:cNvSpPr>
          <p:nvPr>
            <p:ph type="body" sz="quarter" idx="20" hasCustomPrompt="1"/>
          </p:nvPr>
        </p:nvSpPr>
        <p:spPr>
          <a:xfrm>
            <a:off x="4781551" y="598488"/>
            <a:ext cx="550862" cy="365125"/>
          </a:xfrm>
        </p:spPr>
        <p:txBody>
          <a:bodyPr vert="horz" lIns="0" tIns="0" rIns="0" bIns="0" rtlCol="0" anchor="t" anchorCtr="0"/>
          <a:lstStyle>
            <a:lvl1pPr marL="0" indent="0">
              <a:lnSpc>
                <a:spcPct val="90000"/>
              </a:lnSpc>
              <a:buNone/>
              <a:defRPr kumimoji="0" lang="en-US" sz="3200" b="0" i="0" u="none" strike="noStrike" cap="none" spc="27" normalizeH="0" baseline="0" dirty="0" smtClean="0">
                <a:ln>
                  <a:noFill/>
                </a:ln>
                <a:solidFill>
                  <a:schemeClr val="tx2">
                    <a:lumMod val="50000"/>
                  </a:schemeClr>
                </a:solidFill>
                <a:effectLst/>
                <a:uLnTx/>
                <a:uFillTx/>
                <a:latin typeface="+mj-lt"/>
                <a:cs typeface="CiscoSansTT Light" panose="020B0503020201020303" pitchFamily="34" charset="0"/>
              </a:defRPr>
            </a:lvl1pPr>
          </a:lstStyle>
          <a:p>
            <a:pPr marL="0" lvl="0" algn="r" defTabSz="914400" latinLnBrk="0"/>
            <a:r>
              <a:rPr lang="en-US"/>
              <a:t>##</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5910264" y="598488"/>
            <a:ext cx="5651500" cy="365125"/>
          </a:xfrm>
          <a:noFill/>
        </p:spPr>
        <p:txBody>
          <a:bodyPr anchor="t" anchorCtr="0"/>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stStyle>
          <a:p>
            <a:pPr lvl="0"/>
            <a:r>
              <a:rPr lang="en-US"/>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p:txBody>
          <a:bodyPr/>
          <a:lstStyle/>
          <a:p>
            <a:pPr defTabSz="814318">
              <a:defRPr/>
            </a:pPr>
            <a:r>
              <a:rPr lang="en-US"/>
              <a:t>Session ID: BRKSEC-XXXX</a:t>
            </a:r>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1393535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609599" y="1604962"/>
            <a:ext cx="4710113" cy="3648075"/>
          </a:xfrm>
        </p:spPr>
        <p:txBody>
          <a:bodyPr rIns="0" anchor="ctr" anchorCtr="0"/>
          <a:lstStyle>
            <a:lvl1pPr>
              <a:defRPr/>
            </a:lvl1pPr>
          </a:lstStyle>
          <a:p>
            <a:r>
              <a:rPr lang="en-US"/>
              <a:t>Agenda 2</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6851650" y="996156"/>
            <a:ext cx="4710113" cy="4865688"/>
          </a:xfrm>
          <a:noFill/>
        </p:spPr>
        <p:txBody>
          <a:bodyPr anchor="ctr" anchorCtr="0"/>
          <a:lstStyle>
            <a:lvl1pPr marL="640080" indent="-640080" algn="l" defTabSz="912276" rtl="0" eaLnBrk="1" fontAlgn="base" hangingPunct="1">
              <a:lnSpc>
                <a:spcPct val="90000"/>
              </a:lnSpc>
              <a:spcBef>
                <a:spcPct val="0"/>
              </a:spcBef>
              <a:spcAft>
                <a:spcPts val="1000"/>
              </a:spcAft>
              <a:buClr>
                <a:schemeClr val="tx2">
                  <a:lumMod val="50000"/>
                </a:schemeClr>
              </a:buClr>
              <a:buSzPct val="100000"/>
              <a:buFont typeface="+mj-lt"/>
              <a:buAutoNum type="arabicPeriod"/>
              <a:defRPr lang="en-US" sz="2400" b="0" i="0" u="none" kern="1200" dirty="0">
                <a:solidFill>
                  <a:schemeClr val="bg1"/>
                </a:solidFill>
                <a:latin typeface="+mj-lt"/>
                <a:ea typeface="CiscoSansTT Thin" charset="0"/>
                <a:cs typeface="CiscoSansTT Thin" charset="0"/>
              </a:defRPr>
            </a:lvl1pPr>
          </a:lstStyle>
          <a:p>
            <a:pPr lvl="0"/>
            <a:r>
              <a:rPr lang="en-US"/>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p:txBody>
          <a:bodyPr/>
          <a:lstStyle/>
          <a:p>
            <a:pPr defTabSz="814318">
              <a:defRPr/>
            </a:pPr>
            <a:r>
              <a:rPr lang="en-US"/>
              <a:t>Session ID: BRKSEC-XXXX</a:t>
            </a:r>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2755227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1">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2" name="Title 1">
            <a:extLst>
              <a:ext uri="{FF2B5EF4-FFF2-40B4-BE49-F238E27FC236}">
                <a16:creationId xmlns:a16="http://schemas.microsoft.com/office/drawing/2014/main" id="{8FC58A35-AF6F-1BDB-E549-D72809E70233}"/>
              </a:ext>
            </a:extLst>
          </p:cNvPr>
          <p:cNvSpPr>
            <a:spLocks noGrp="1"/>
          </p:cNvSpPr>
          <p:nvPr>
            <p:ph type="title"/>
          </p:nvPr>
        </p:nvSpPr>
        <p:spPr/>
        <p:txBody>
          <a:bodyPr/>
          <a:lstStyle>
            <a:lvl1pPr>
              <a:defRPr sz="3600"/>
            </a:lvl1pPr>
          </a:lstStyle>
          <a:p>
            <a:r>
              <a:rPr lang="en-US"/>
              <a:t>Click to edit Master title style</a:t>
            </a:r>
          </a:p>
        </p:txBody>
      </p:sp>
    </p:spTree>
    <p:extLst>
      <p:ext uri="{BB962C8B-B14F-4D97-AF65-F5344CB8AC3E}">
        <p14:creationId xmlns:p14="http://schemas.microsoft.com/office/powerpoint/2010/main" val="1975125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2" name="Title 1">
            <a:extLst>
              <a:ext uri="{FF2B5EF4-FFF2-40B4-BE49-F238E27FC236}">
                <a16:creationId xmlns:a16="http://schemas.microsoft.com/office/drawing/2014/main" id="{8FC58A35-AF6F-1BDB-E549-D72809E70233}"/>
              </a:ext>
            </a:extLst>
          </p:cNvPr>
          <p:cNvSpPr>
            <a:spLocks noGrp="1"/>
          </p:cNvSpPr>
          <p:nvPr>
            <p:ph type="title"/>
          </p:nvPr>
        </p:nvSpPr>
        <p:spPr/>
        <p:txBody>
          <a:bodyPr/>
          <a:lstStyle>
            <a:lvl1pPr>
              <a:defRPr sz="3600"/>
            </a:lvl1pPr>
          </a:lstStyle>
          <a:p>
            <a:r>
              <a:rPr lang="en-US"/>
              <a:t>Click to edit Master title style</a:t>
            </a:r>
          </a:p>
        </p:txBody>
      </p:sp>
    </p:spTree>
    <p:extLst>
      <p:ext uri="{BB962C8B-B14F-4D97-AF65-F5344CB8AC3E}">
        <p14:creationId xmlns:p14="http://schemas.microsoft.com/office/powerpoint/2010/main" val="3463177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Only 1">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609600" y="1095071"/>
            <a:ext cx="548640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2" name="Title 1">
            <a:extLst>
              <a:ext uri="{FF2B5EF4-FFF2-40B4-BE49-F238E27FC236}">
                <a16:creationId xmlns:a16="http://schemas.microsoft.com/office/drawing/2014/main" id="{ECC7862C-3CAA-E974-BA59-E1617CAB1630}"/>
              </a:ext>
            </a:extLst>
          </p:cNvPr>
          <p:cNvSpPr>
            <a:spLocks noGrp="1"/>
          </p:cNvSpPr>
          <p:nvPr>
            <p:ph type="title"/>
          </p:nvPr>
        </p:nvSpPr>
        <p:spPr/>
        <p:txBody>
          <a:bodyPr/>
          <a:lstStyle>
            <a:lvl1pPr>
              <a:defRPr sz="3600"/>
            </a:lvl1pPr>
          </a:lstStyle>
          <a:p>
            <a:r>
              <a:rPr lang="en-US"/>
              <a:t>Click to edit Master title style</a:t>
            </a:r>
          </a:p>
        </p:txBody>
      </p:sp>
    </p:spTree>
    <p:extLst>
      <p:ext uri="{BB962C8B-B14F-4D97-AF65-F5344CB8AC3E}">
        <p14:creationId xmlns:p14="http://schemas.microsoft.com/office/powerpoint/2010/main" val="2640085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Slide Title, Top Subheadin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5332414" y="598488"/>
            <a:ext cx="62293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7" name="Title 6">
            <a:extLst>
              <a:ext uri="{FF2B5EF4-FFF2-40B4-BE49-F238E27FC236}">
                <a16:creationId xmlns:a16="http://schemas.microsoft.com/office/drawing/2014/main" id="{9560DFE2-2A80-39EE-DC76-5F8768696893}"/>
              </a:ext>
            </a:extLst>
          </p:cNvPr>
          <p:cNvSpPr>
            <a:spLocks noGrp="1"/>
          </p:cNvSpPr>
          <p:nvPr>
            <p:ph type="title"/>
          </p:nvPr>
        </p:nvSpPr>
        <p:spPr>
          <a:xfrm>
            <a:off x="609601" y="598811"/>
            <a:ext cx="4357687" cy="923925"/>
          </a:xfrm>
        </p:spPr>
        <p:txBody>
          <a:bodyPr/>
          <a:lstStyle>
            <a:lvl1pPr>
              <a:defRPr sz="3600"/>
            </a:lvl1pPr>
          </a:lstStyle>
          <a:p>
            <a:r>
              <a:rPr lang="en-US"/>
              <a:t>Click to edit Master title style</a:t>
            </a:r>
          </a:p>
        </p:txBody>
      </p:sp>
    </p:spTree>
    <p:extLst>
      <p:ext uri="{BB962C8B-B14F-4D97-AF65-F5344CB8AC3E}">
        <p14:creationId xmlns:p14="http://schemas.microsoft.com/office/powerpoint/2010/main" val="3924344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609600" y="0"/>
            <a:ext cx="5486400" cy="767646"/>
          </a:xfrm>
        </p:spPr>
        <p:txBody>
          <a:bodyPr anchor="b" anchorCtr="0"/>
          <a:lstStyle>
            <a:lvl1pPr marL="0" indent="0">
              <a:buNone/>
              <a:defRPr sz="1200">
                <a:solidFill>
                  <a:schemeClr val="bg1"/>
                </a:solidFill>
              </a:defRPr>
            </a:lvl1pPr>
          </a:lstStyle>
          <a:p>
            <a:pPr lvl="0"/>
            <a:r>
              <a:rPr lang="en-US"/>
              <a:t>Section title</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2" name="Title 1">
            <a:extLst>
              <a:ext uri="{FF2B5EF4-FFF2-40B4-BE49-F238E27FC236}">
                <a16:creationId xmlns:a16="http://schemas.microsoft.com/office/drawing/2014/main" id="{AF069300-713C-B484-3118-78688CA2FDEF}"/>
              </a:ext>
            </a:extLst>
          </p:cNvPr>
          <p:cNvSpPr>
            <a:spLocks noGrp="1"/>
          </p:cNvSpPr>
          <p:nvPr>
            <p:ph type="title"/>
          </p:nvPr>
        </p:nvSpPr>
        <p:spPr>
          <a:xfrm>
            <a:off x="609600" y="900115"/>
            <a:ext cx="10952163" cy="492443"/>
          </a:xfrm>
        </p:spPr>
        <p:txBody>
          <a:bodyPr/>
          <a:lstStyle>
            <a:lvl1pPr>
              <a:defRPr sz="3600"/>
            </a:lvl1pPr>
          </a:lstStyle>
          <a:p>
            <a:r>
              <a:rPr lang="en-US"/>
              <a:t>Click to edit Master title style</a:t>
            </a:r>
          </a:p>
        </p:txBody>
      </p:sp>
    </p:spTree>
    <p:extLst>
      <p:ext uri="{BB962C8B-B14F-4D97-AF65-F5344CB8AC3E}">
        <p14:creationId xmlns:p14="http://schemas.microsoft.com/office/powerpoint/2010/main" val="1968281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609600" y="0"/>
            <a:ext cx="5486400" cy="768096"/>
          </a:xfrm>
        </p:spPr>
        <p:txBody>
          <a:bodyPr anchor="b" anchorCtr="0"/>
          <a:lstStyle>
            <a:lvl1pPr marL="0" indent="0">
              <a:buNone/>
              <a:defRPr sz="1200"/>
            </a:lvl1pPr>
          </a:lstStyle>
          <a:p>
            <a:pPr lvl="0"/>
            <a:r>
              <a:rPr lang="en-US"/>
              <a:t>Section title</a:t>
            </a:r>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sz="quarter" idx="13" hasCustomPrompt="1"/>
          </p:nvPr>
        </p:nvSpPr>
        <p:spPr>
          <a:xfrm>
            <a:off x="609600" y="1396583"/>
            <a:ext cx="5486400" cy="443331"/>
          </a:xfrm>
        </p:spPr>
        <p:txBody>
          <a:bodyPr/>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2" name="Title 1">
            <a:extLst>
              <a:ext uri="{FF2B5EF4-FFF2-40B4-BE49-F238E27FC236}">
                <a16:creationId xmlns:a16="http://schemas.microsoft.com/office/drawing/2014/main" id="{F9991B70-B6FD-B992-F7B8-1F4F0B5C99F2}"/>
              </a:ext>
            </a:extLst>
          </p:cNvPr>
          <p:cNvSpPr>
            <a:spLocks noGrp="1"/>
          </p:cNvSpPr>
          <p:nvPr>
            <p:ph type="title"/>
          </p:nvPr>
        </p:nvSpPr>
        <p:spPr>
          <a:xfrm>
            <a:off x="609600" y="900964"/>
            <a:ext cx="10952163" cy="492443"/>
          </a:xfrm>
        </p:spPr>
        <p:txBody>
          <a:bodyPr/>
          <a:lstStyle>
            <a:lvl1pPr>
              <a:defRPr sz="3600"/>
            </a:lvl1pPr>
          </a:lstStyle>
          <a:p>
            <a:r>
              <a:rPr lang="en-US"/>
              <a:t>Click to edit Master title style</a:t>
            </a:r>
          </a:p>
        </p:txBody>
      </p:sp>
    </p:spTree>
    <p:extLst>
      <p:ext uri="{BB962C8B-B14F-4D97-AF65-F5344CB8AC3E}">
        <p14:creationId xmlns:p14="http://schemas.microsoft.com/office/powerpoint/2010/main" val="1439073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609600" y="0"/>
            <a:ext cx="5772150" cy="768096"/>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609600" y="900115"/>
            <a:ext cx="5300663" cy="1247775"/>
          </a:xfrm>
        </p:spPr>
        <p:txBody>
          <a:bodyPr wrap="square" anchor="t" anchorCtr="0">
            <a:noAutofit/>
          </a:bodyPr>
          <a:lstStyle>
            <a:lvl1pPr>
              <a:defRPr sz="3600"/>
            </a:lvl1pPr>
          </a:lstStyle>
          <a:p>
            <a:r>
              <a:rPr lang="en-US"/>
              <a:t>Click to edit Master title style</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1384886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sz="quarter" idx="13" hasCustomPrompt="1"/>
          </p:nvPr>
        </p:nvSpPr>
        <p:spPr>
          <a:xfrm>
            <a:off x="609600" y="0"/>
            <a:ext cx="5772150" cy="768096"/>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609600" y="2339181"/>
            <a:ext cx="5300663" cy="2179638"/>
          </a:xfrm>
        </p:spPr>
        <p:txBody>
          <a:bodyPr wrap="square" anchor="ctr" anchorCtr="0">
            <a:noAutofit/>
          </a:bodyPr>
          <a:lstStyle>
            <a:lvl1pPr>
              <a:defRPr sz="3600"/>
            </a:lvl1pPr>
          </a:lstStyle>
          <a:p>
            <a:r>
              <a:rPr lang="en-US"/>
              <a:t>Click to edit Master title style</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1168824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609600" y="2339181"/>
            <a:ext cx="5300663" cy="2179638"/>
          </a:xfrm>
        </p:spPr>
        <p:txBody>
          <a:bodyPr wrap="square" anchor="ctr" anchorCtr="0">
            <a:noAutofit/>
          </a:bodyPr>
          <a:lstStyle>
            <a:lvl1pPr>
              <a:defRPr sz="3600"/>
            </a:lvl1pPr>
          </a:lstStyle>
          <a:p>
            <a:r>
              <a:rPr lang="en-US"/>
              <a:t>Click to edit Master title style</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851650" y="1244600"/>
            <a:ext cx="4710113" cy="4367213"/>
          </a:xfr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sz="quarter" idx="14" hasCustomPrompt="1"/>
          </p:nvPr>
        </p:nvSpPr>
        <p:spPr>
          <a:xfrm>
            <a:off x="609600" y="0"/>
            <a:ext cx="5486400" cy="768096"/>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a:t>Section title</a:t>
            </a:r>
          </a:p>
        </p:txBody>
      </p:sp>
    </p:spTree>
    <p:extLst>
      <p:ext uri="{BB962C8B-B14F-4D97-AF65-F5344CB8AC3E}">
        <p14:creationId xmlns:p14="http://schemas.microsoft.com/office/powerpoint/2010/main" val="3341496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609600" y="2339181"/>
            <a:ext cx="5300663" cy="2179638"/>
          </a:xfrm>
        </p:spPr>
        <p:txBody>
          <a:bodyPr wrap="square" anchor="ctr" anchorCtr="0">
            <a:noAutofit/>
          </a:bodyPr>
          <a:lstStyle>
            <a:lvl1pPr>
              <a:defRPr sz="3600"/>
            </a:lvl1pPr>
          </a:lstStyle>
          <a:p>
            <a:r>
              <a:rPr lang="en-US"/>
              <a:t>Click to edit Master title style</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3347185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1 Column with Bullets">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6" name="Text Placeholder 5">
            <a:extLst>
              <a:ext uri="{FF2B5EF4-FFF2-40B4-BE49-F238E27FC236}">
                <a16:creationId xmlns:a16="http://schemas.microsoft.com/office/drawing/2014/main" id="{F7953DF5-78A1-7006-522C-1EF18B91ADAA}"/>
              </a:ext>
            </a:extLst>
          </p:cNvPr>
          <p:cNvSpPr>
            <a:spLocks noGrp="1"/>
          </p:cNvSpPr>
          <p:nvPr>
            <p:ph type="body" sz="quarter" idx="12"/>
          </p:nvPr>
        </p:nvSpPr>
        <p:spPr>
          <a:xfrm>
            <a:off x="609600" y="1533525"/>
            <a:ext cx="10952163" cy="4541838"/>
          </a:xfr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B899C22-B329-0767-B70E-5DCF991C7AA4}"/>
              </a:ext>
            </a:extLst>
          </p:cNvPr>
          <p:cNvSpPr>
            <a:spLocks noGrp="1"/>
          </p:cNvSpPr>
          <p:nvPr>
            <p:ph type="title"/>
          </p:nvPr>
        </p:nvSpPr>
        <p:spPr/>
        <p:txBody>
          <a:bodyPr/>
          <a:lstStyle>
            <a:lvl1pPr>
              <a:defRPr sz="3600"/>
            </a:lvl1pPr>
          </a:lstStyle>
          <a:p>
            <a:r>
              <a:rPr lang="en-US"/>
              <a:t>Click to edit Master title style</a:t>
            </a:r>
          </a:p>
        </p:txBody>
      </p:sp>
    </p:spTree>
    <p:extLst>
      <p:ext uri="{BB962C8B-B14F-4D97-AF65-F5344CB8AC3E}">
        <p14:creationId xmlns:p14="http://schemas.microsoft.com/office/powerpoint/2010/main" val="4095492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2 Slide, 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2F527-D3DE-AC74-81B7-3FA95B30862B}"/>
              </a:ext>
            </a:extLst>
          </p:cNvPr>
          <p:cNvSpPr>
            <a:spLocks noGrp="1"/>
          </p:cNvSpPr>
          <p:nvPr>
            <p:ph type="title"/>
          </p:nvPr>
        </p:nvSpPr>
        <p:spPr>
          <a:xfrm>
            <a:off x="609600" y="598811"/>
            <a:ext cx="4722813" cy="934714"/>
          </a:xfrm>
        </p:spPr>
        <p:txBody>
          <a:bodyPr/>
          <a:lstStyle>
            <a:lvl1pPr>
              <a:defRPr sz="3600"/>
            </a:lvl1pPr>
          </a:lstStyle>
          <a:p>
            <a:r>
              <a:rPr lang="en-US"/>
              <a:t>Click to edit Master title style</a:t>
            </a:r>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6107430" y="622300"/>
            <a:ext cx="5454333" cy="5473699"/>
          </a:xfrm>
          <a:prstGeom prst="roundRect">
            <a:avLst>
              <a:gd name="adj" fmla="val 1618"/>
            </a:avLst>
          </a:prstGeom>
          <a:solidFill>
            <a:schemeClr val="bg1">
              <a:alpha val="10000"/>
            </a:schemeClr>
          </a:solidFill>
        </p:spPr>
        <p:txBody>
          <a:bodyPr tIns="1554480"/>
          <a:lstStyle>
            <a:lvl1pPr marL="0" indent="0" algn="ctr">
              <a:buNone/>
              <a:defRPr/>
            </a:lvl1pPr>
          </a:lstStyle>
          <a:p>
            <a:r>
              <a:rPr lang="en-US"/>
              <a:t>To add your image, drag and drop it here </a:t>
            </a:r>
            <a:br>
              <a:rPr lang="en-US"/>
            </a:br>
            <a:r>
              <a:rPr lang="en-US"/>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727748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3 Photo, 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FEB9F-E393-766C-F86A-CC59CC816660}"/>
              </a:ext>
            </a:extLst>
          </p:cNvPr>
          <p:cNvSpPr>
            <a:spLocks noGrp="1"/>
          </p:cNvSpPr>
          <p:nvPr>
            <p:ph type="title"/>
          </p:nvPr>
        </p:nvSpPr>
        <p:spPr>
          <a:xfrm>
            <a:off x="609600" y="598811"/>
            <a:ext cx="6424613" cy="492443"/>
          </a:xfrm>
        </p:spPr>
        <p:txBody>
          <a:bodyPr/>
          <a:lstStyle>
            <a:lvl1pPr>
              <a:defRPr sz="3600"/>
            </a:lvl1pPr>
          </a:lstStyle>
          <a:p>
            <a:r>
              <a:rPr lang="en-US"/>
              <a:t>Click to edit Master title style</a:t>
            </a:r>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7793038" y="628650"/>
            <a:ext cx="3768725" cy="5467350"/>
          </a:xfrm>
          <a:prstGeom prst="roundRect">
            <a:avLst>
              <a:gd name="adj" fmla="val 1618"/>
            </a:avLst>
          </a:prstGeom>
          <a:solidFill>
            <a:schemeClr val="bg1">
              <a:alpha val="10000"/>
            </a:schemeClr>
          </a:solidFill>
        </p:spPr>
        <p:txBody>
          <a:bodyPr tIns="1371600"/>
          <a:lstStyle>
            <a:lvl1pPr marL="0" indent="0" algn="ctr">
              <a:buNone/>
              <a:defRPr/>
            </a:lvl1pPr>
          </a:lstStyle>
          <a:p>
            <a:r>
              <a:rPr lang="en-US"/>
              <a:t>To add your image, drag and drop it here </a:t>
            </a:r>
            <a:br>
              <a:rPr lang="en-US"/>
            </a:br>
            <a:r>
              <a:rPr lang="en-US"/>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1094805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3 Photo, 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70A44-9147-6EC4-DA39-B28EB961A321}"/>
              </a:ext>
            </a:extLst>
          </p:cNvPr>
          <p:cNvSpPr>
            <a:spLocks noGrp="1"/>
          </p:cNvSpPr>
          <p:nvPr>
            <p:ph type="title"/>
          </p:nvPr>
        </p:nvSpPr>
        <p:spPr>
          <a:xfrm>
            <a:off x="609601" y="598811"/>
            <a:ext cx="3416300" cy="1542727"/>
          </a:xfrm>
        </p:spPr>
        <p:txBody>
          <a:bodyPr/>
          <a:lstStyle>
            <a:lvl1pPr>
              <a:defRPr sz="3600"/>
            </a:lvl1pPr>
          </a:lstStyle>
          <a:p>
            <a:r>
              <a:rPr lang="en-US"/>
              <a:t>Click to edit Master title style</a:t>
            </a:r>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4392613" y="622300"/>
            <a:ext cx="7169150" cy="5473700"/>
          </a:xfrm>
          <a:prstGeom prst="roundRect">
            <a:avLst>
              <a:gd name="adj" fmla="val 1618"/>
            </a:avLst>
          </a:prstGeom>
          <a:solidFill>
            <a:schemeClr val="bg1">
              <a:alpha val="10000"/>
            </a:schemeClr>
          </a:solidFill>
        </p:spPr>
        <p:txBody>
          <a:bodyPr tIns="1463040"/>
          <a:lstStyle>
            <a:lvl1pPr marL="0" indent="0" algn="ctr">
              <a:buNone/>
              <a:defRPr/>
            </a:lvl1pPr>
          </a:lstStyle>
          <a:p>
            <a:r>
              <a:rPr lang="en-US"/>
              <a:t>To add your image, drag and drop it here </a:t>
            </a:r>
            <a:br>
              <a:rPr lang="en-US"/>
            </a:br>
            <a:r>
              <a:rPr lang="en-US"/>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456122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2 Slide Title, Photo 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609600" y="2516187"/>
            <a:ext cx="4722813" cy="1825625"/>
          </a:xfrm>
        </p:spPr>
        <p:txBody>
          <a:bodyPr wrap="square" anchor="ctr" anchorCtr="0">
            <a:noAutofit/>
          </a:bodyPr>
          <a:lstStyle>
            <a:lvl1pPr>
              <a:defRPr sz="3600"/>
            </a:lvl1pPr>
          </a:lstStyle>
          <a:p>
            <a:r>
              <a:rPr lang="en-US"/>
              <a:t>Click to edit Master title style</a:t>
            </a:r>
          </a:p>
        </p:txBody>
      </p:sp>
      <p:sp>
        <p:nvSpPr>
          <p:cNvPr id="6" name="Picture Placeholder 5">
            <a:extLst>
              <a:ext uri="{FF2B5EF4-FFF2-40B4-BE49-F238E27FC236}">
                <a16:creationId xmlns:a16="http://schemas.microsoft.com/office/drawing/2014/main" id="{903A889C-4BCD-59AA-132B-C3FD4F8E65F1}"/>
              </a:ext>
            </a:extLst>
          </p:cNvPr>
          <p:cNvSpPr>
            <a:spLocks noGrp="1"/>
          </p:cNvSpPr>
          <p:nvPr>
            <p:ph type="pic" sz="quarter" idx="12" hasCustomPrompt="1"/>
          </p:nvPr>
        </p:nvSpPr>
        <p:spPr>
          <a:xfrm>
            <a:off x="6096000" y="622300"/>
            <a:ext cx="5465763" cy="5473700"/>
          </a:xfrm>
          <a:prstGeom prst="roundRect">
            <a:avLst>
              <a:gd name="adj" fmla="val 1618"/>
            </a:avLst>
          </a:prstGeom>
          <a:solidFill>
            <a:schemeClr val="bg1">
              <a:alpha val="10000"/>
            </a:schemeClr>
          </a:solidFill>
        </p:spPr>
        <p:txBody>
          <a:bodyPr tIns="1463040"/>
          <a:lstStyle>
            <a:lvl1pPr marL="0" indent="0" algn="ctr">
              <a:buNone/>
              <a:defRPr/>
            </a:lvl1pPr>
          </a:lstStyle>
          <a:p>
            <a:r>
              <a:rPr lang="en-US"/>
              <a:t>To add your image, drag and drop it here </a:t>
            </a:r>
            <a:br>
              <a:rPr lang="en-US"/>
            </a:br>
            <a:r>
              <a:rPr lang="en-US"/>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2340607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3 Slide Title, Section, Body, 2/3 Pho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609601" y="-2"/>
            <a:ext cx="3416299" cy="768096"/>
          </a:xfrm>
        </p:spPr>
        <p:txBody>
          <a:bodyPr anchor="b" anchorCtr="0"/>
          <a:lstStyle>
            <a:lvl1pPr marL="0" indent="0">
              <a:buNone/>
              <a:defRPr sz="1200">
                <a:solidFill>
                  <a:schemeClr val="bg1"/>
                </a:solidFill>
              </a:defRPr>
            </a:lvl1pPr>
          </a:lstStyle>
          <a:p>
            <a:pPr lvl="0"/>
            <a:r>
              <a:rPr lang="en-US"/>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609600" y="900115"/>
            <a:ext cx="3416300" cy="1849435"/>
          </a:xfrm>
        </p:spPr>
        <p:txBody>
          <a:bodyPr/>
          <a:lstStyle>
            <a:lvl1pPr>
              <a:defRPr sz="3600"/>
            </a:lvl1pPr>
          </a:lstStyle>
          <a:p>
            <a:r>
              <a:rPr lang="en-US"/>
              <a:t>Click to edit Master title style</a:t>
            </a:r>
          </a:p>
        </p:txBody>
      </p:sp>
      <p:sp>
        <p:nvSpPr>
          <p:cNvPr id="7" name="Text Placeholder 6">
            <a:extLst>
              <a:ext uri="{FF2B5EF4-FFF2-40B4-BE49-F238E27FC236}">
                <a16:creationId xmlns:a16="http://schemas.microsoft.com/office/drawing/2014/main" id="{A6653D0B-638B-EB5D-F379-EF10C80DCCA3}"/>
              </a:ext>
            </a:extLst>
          </p:cNvPr>
          <p:cNvSpPr>
            <a:spLocks noGrp="1"/>
          </p:cNvSpPr>
          <p:nvPr>
            <p:ph type="body" sz="quarter" idx="13"/>
          </p:nvPr>
        </p:nvSpPr>
        <p:spPr>
          <a:xfrm>
            <a:off x="609602" y="3054350"/>
            <a:ext cx="3416298" cy="3041650"/>
          </a:xfrm>
        </p:spPr>
        <p:txBody>
          <a:bodyPr anchor="b" anchorCtr="0"/>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5">
            <a:extLst>
              <a:ext uri="{FF2B5EF4-FFF2-40B4-BE49-F238E27FC236}">
                <a16:creationId xmlns:a16="http://schemas.microsoft.com/office/drawing/2014/main" id="{798C8AA3-6350-A299-E288-D693A8EC8932}"/>
              </a:ext>
            </a:extLst>
          </p:cNvPr>
          <p:cNvSpPr>
            <a:spLocks noGrp="1"/>
          </p:cNvSpPr>
          <p:nvPr>
            <p:ph type="pic" sz="quarter" idx="14" hasCustomPrompt="1"/>
          </p:nvPr>
        </p:nvSpPr>
        <p:spPr>
          <a:xfrm>
            <a:off x="4392613" y="622300"/>
            <a:ext cx="7169150" cy="5473700"/>
          </a:xfrm>
          <a:prstGeom prst="roundRect">
            <a:avLst>
              <a:gd name="adj" fmla="val 1618"/>
            </a:avLst>
          </a:prstGeom>
          <a:solidFill>
            <a:schemeClr val="bg1">
              <a:alpha val="10000"/>
            </a:schemeClr>
          </a:solidFill>
        </p:spPr>
        <p:txBody>
          <a:bodyPr tIns="1463040"/>
          <a:lstStyle>
            <a:lvl1pPr marL="0" indent="0" algn="ctr">
              <a:buNone/>
              <a:defRPr/>
            </a:lvl1pPr>
          </a:lstStyle>
          <a:p>
            <a:r>
              <a:rPr lang="en-US"/>
              <a:t>To add your image, drag and drop it here </a:t>
            </a:r>
            <a:br>
              <a:rPr lang="en-US"/>
            </a:br>
            <a:r>
              <a:rPr lang="en-US"/>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3268481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609600" y="0"/>
            <a:ext cx="4722813" cy="768096"/>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609600" y="900115"/>
            <a:ext cx="4722813" cy="1247775"/>
          </a:xfrm>
        </p:spPr>
        <p:txBody>
          <a:bodyPr wrap="square" anchor="t" anchorCtr="0">
            <a:noAutofit/>
          </a:bodyPr>
          <a:lstStyle>
            <a:lvl1pPr>
              <a:defRPr sz="3600"/>
            </a:lvl1pPr>
          </a:lstStyle>
          <a:p>
            <a:r>
              <a:rPr lang="en-US"/>
              <a:t>Click to edit Master title style</a:t>
            </a:r>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sz="quarter" idx="13" hasCustomPrompt="1"/>
          </p:nvPr>
        </p:nvSpPr>
        <p:spPr>
          <a:xfrm>
            <a:off x="6096001" y="622300"/>
            <a:ext cx="5465762" cy="5473700"/>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a:t>To add your image, </a:t>
            </a:r>
            <a:br>
              <a:rPr lang="en-US"/>
            </a:br>
            <a:r>
              <a:rPr lang="en-US"/>
              <a:t>drag and drop it here </a:t>
            </a:r>
            <a:br>
              <a:rPr lang="en-US"/>
            </a:br>
            <a:r>
              <a:rPr lang="en-US"/>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277588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enter Titl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25514"/>
            <a:ext cx="8794750" cy="944562"/>
          </a:xfrm>
        </p:spPr>
        <p:txBody>
          <a:bodyPr/>
          <a:lstStyle>
            <a:lvl1pPr algn="ctr">
              <a:defRPr sz="3600"/>
            </a:lvl1pPr>
          </a:lstStyle>
          <a:p>
            <a:r>
              <a:rPr lang="en-US"/>
              <a:t>Click to edit Master title style</a:t>
            </a:r>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p:txBody>
          <a:bodyPr/>
          <a:lstStyle/>
          <a:p>
            <a:pPr defTabSz="814318">
              <a:defRPr/>
            </a:pPr>
            <a:r>
              <a:rPr lang="en-US"/>
              <a:t>Session ID: BRKSEC-XXXX</a:t>
            </a:r>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132063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enter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25514"/>
            <a:ext cx="8794750" cy="944562"/>
          </a:xfrm>
        </p:spPr>
        <p:txBody>
          <a:bodyPr/>
          <a:lstStyle>
            <a:lvl1pPr algn="ctr">
              <a:defRPr sz="3600"/>
            </a:lvl1pPr>
          </a:lstStyle>
          <a:p>
            <a:r>
              <a:rPr lang="en-US"/>
              <a:t>Click to edit Master title style</a:t>
            </a:r>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p:txBody>
          <a:bodyPr/>
          <a:lstStyle/>
          <a:p>
            <a:pPr defTabSz="814318">
              <a:defRPr/>
            </a:pPr>
            <a:r>
              <a:rPr lang="en-US"/>
              <a:t>Session ID: BRKSEC-XXXX</a:t>
            </a:r>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2168922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bleed Photo,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a:t>To add your image, drag and drop it here </a:t>
            </a:r>
            <a:br>
              <a:rPr lang="en-US"/>
            </a:br>
            <a:r>
              <a:rPr lang="en-US"/>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25514"/>
            <a:ext cx="8794750" cy="944562"/>
          </a:xfrm>
        </p:spPr>
        <p:txBody>
          <a:bodyPr/>
          <a:lstStyle>
            <a:lvl1pPr algn="ctr">
              <a:defRPr sz="3600"/>
            </a:lvl1pPr>
          </a:lstStyle>
          <a:p>
            <a:r>
              <a:rPr lang="en-US"/>
              <a:t>Click to edit Master title style</a:t>
            </a:r>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p:txBody>
          <a:bodyPr/>
          <a:lstStyle/>
          <a:p>
            <a:pPr defTabSz="814318">
              <a:defRPr/>
            </a:pPr>
            <a:r>
              <a:rPr lang="en-US"/>
              <a:t>Session ID: BRKSEC-XXXX</a:t>
            </a:r>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p:txBody>
          <a:bodyPr/>
          <a:lstStyle/>
          <a:p>
            <a:fld id="{C3C42FAE-7A31-41D3-A712-51D9B15D0B10}" type="slidenum">
              <a:rPr lang="en-US" smtClean="0"/>
              <a:pPr/>
              <a:t>‹#›</a:t>
            </a:fld>
            <a:endParaRPr lang="en-US"/>
          </a:p>
        </p:txBody>
      </p:sp>
      <p:sp>
        <p:nvSpPr>
          <p:cNvPr id="2" name="Rectangle 1">
            <a:extLst>
              <a:ext uri="{FF2B5EF4-FFF2-40B4-BE49-F238E27FC236}">
                <a16:creationId xmlns:a16="http://schemas.microsoft.com/office/drawing/2014/main" id="{C42CAC73-12F8-86AD-1D7A-9913DB28D827}"/>
              </a:ext>
            </a:extLst>
          </p:cNvPr>
          <p:cNvSpPr>
            <a:spLocks/>
          </p:cNvSpPr>
          <p:nvPr userDrawn="1"/>
        </p:nvSpPr>
        <p:spPr bwMode="ltGray">
          <a:xfrm>
            <a:off x="609600" y="6400165"/>
            <a:ext cx="3275509" cy="457200"/>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ea typeface="ＭＳ Ｐゴシック" charset="0"/>
                <a:cs typeface="CiscoSansTT Light" panose="020B0503020201020303" pitchFamily="34" charset="0"/>
              </a:rPr>
              <a:t>© 2026 Cisco and/or its affiliates. All rights reserved.</a:t>
            </a:r>
          </a:p>
        </p:txBody>
      </p:sp>
      <p:pic>
        <p:nvPicPr>
          <p:cNvPr id="8" name="Graphic 7">
            <a:extLst>
              <a:ext uri="{FF2B5EF4-FFF2-40B4-BE49-F238E27FC236}">
                <a16:creationId xmlns:a16="http://schemas.microsoft.com/office/drawing/2014/main" id="{013EF545-8C2F-956E-0CDE-AB9B07F17C4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121806" y="6338412"/>
            <a:ext cx="503671" cy="221124"/>
          </a:xfrm>
          <a:prstGeom prst="rect">
            <a:avLst/>
          </a:prstGeom>
        </p:spPr>
      </p:pic>
    </p:spTree>
    <p:extLst>
      <p:ext uri="{BB962C8B-B14F-4D97-AF65-F5344CB8AC3E}">
        <p14:creationId xmlns:p14="http://schemas.microsoft.com/office/powerpoint/2010/main" val="1164325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ection, Center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a:t>To add your image, drag and drop it here </a:t>
            </a:r>
            <a:br>
              <a:rPr lang="en-US"/>
            </a:br>
            <a:r>
              <a:rPr lang="en-US"/>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768096"/>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8625" y="1076961"/>
            <a:ext cx="8794750" cy="1059498"/>
          </a:xfrm>
        </p:spPr>
        <p:txBody>
          <a:bodyPr/>
          <a:lstStyle>
            <a:lvl1pPr algn="ctr">
              <a:defRPr sz="3600"/>
            </a:lvl1pPr>
          </a:lstStyle>
          <a:p>
            <a:r>
              <a:rPr lang="en-US"/>
              <a:t>Click to edit Master title style</a:t>
            </a:r>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a:p>
        </p:txBody>
      </p:sp>
      <p:sp>
        <p:nvSpPr>
          <p:cNvPr id="9" name="Rectangle 8">
            <a:extLst>
              <a:ext uri="{FF2B5EF4-FFF2-40B4-BE49-F238E27FC236}">
                <a16:creationId xmlns:a16="http://schemas.microsoft.com/office/drawing/2014/main" id="{60A79D48-FE5D-A65B-67C8-07534C1A4115}"/>
              </a:ext>
            </a:extLst>
          </p:cNvPr>
          <p:cNvSpPr>
            <a:spLocks/>
          </p:cNvSpPr>
          <p:nvPr userDrawn="1"/>
        </p:nvSpPr>
        <p:spPr bwMode="ltGray">
          <a:xfrm>
            <a:off x="609600" y="6400165"/>
            <a:ext cx="3275509" cy="457200"/>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ea typeface="ＭＳ Ｐゴシック" charset="0"/>
                <a:cs typeface="CiscoSansTT Light" panose="020B0503020201020303" pitchFamily="34" charset="0"/>
              </a:rPr>
              <a:t>© 2026 Cisco and/or its affiliates. All rights reserved.</a:t>
            </a:r>
          </a:p>
        </p:txBody>
      </p:sp>
      <p:pic>
        <p:nvPicPr>
          <p:cNvPr id="2" name="Graphic 1">
            <a:extLst>
              <a:ext uri="{FF2B5EF4-FFF2-40B4-BE49-F238E27FC236}">
                <a16:creationId xmlns:a16="http://schemas.microsoft.com/office/drawing/2014/main" id="{0409F66C-F73D-9418-B63E-B864393D77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121806" y="6338412"/>
            <a:ext cx="503671" cy="221124"/>
          </a:xfrm>
          <a:prstGeom prst="rect">
            <a:avLst/>
          </a:prstGeom>
        </p:spPr>
      </p:pic>
    </p:spTree>
    <p:extLst>
      <p:ext uri="{BB962C8B-B14F-4D97-AF65-F5344CB8AC3E}">
        <p14:creationId xmlns:p14="http://schemas.microsoft.com/office/powerpoint/2010/main" val="3981803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Center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768096"/>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8625" y="1076961"/>
            <a:ext cx="8794750" cy="1059498"/>
          </a:xfrm>
        </p:spPr>
        <p:txBody>
          <a:bodyPr/>
          <a:lstStyle>
            <a:lvl1pPr algn="ctr">
              <a:defRPr sz="3600"/>
            </a:lvl1pPr>
          </a:lstStyle>
          <a:p>
            <a:r>
              <a:rPr lang="en-US"/>
              <a:t>Click to edit Master title style</a:t>
            </a:r>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4065373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ull-bleed Photo, Section,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a:t>To add your image, drag and drop it here </a:t>
            </a:r>
            <a:br>
              <a:rPr lang="en-US"/>
            </a:br>
            <a:r>
              <a:rPr lang="en-US"/>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768096"/>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8625" y="1076961"/>
            <a:ext cx="8794750" cy="1059498"/>
          </a:xfrm>
        </p:spPr>
        <p:txBody>
          <a:bodyPr/>
          <a:lstStyle>
            <a:lvl1pPr algn="ctr">
              <a:defRPr sz="3600"/>
            </a:lvl1pPr>
          </a:lstStyle>
          <a:p>
            <a:r>
              <a:rPr lang="en-US"/>
              <a:t>Click to edit Master title style</a:t>
            </a:r>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a:p>
        </p:txBody>
      </p:sp>
      <p:sp>
        <p:nvSpPr>
          <p:cNvPr id="9" name="Rectangle 8">
            <a:extLst>
              <a:ext uri="{FF2B5EF4-FFF2-40B4-BE49-F238E27FC236}">
                <a16:creationId xmlns:a16="http://schemas.microsoft.com/office/drawing/2014/main" id="{60A79D48-FE5D-A65B-67C8-07534C1A4115}"/>
              </a:ext>
            </a:extLst>
          </p:cNvPr>
          <p:cNvSpPr>
            <a:spLocks/>
          </p:cNvSpPr>
          <p:nvPr userDrawn="1"/>
        </p:nvSpPr>
        <p:spPr bwMode="ltGray">
          <a:xfrm>
            <a:off x="609600" y="6400165"/>
            <a:ext cx="3275509" cy="457200"/>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ea typeface="ＭＳ Ｐゴシック" charset="0"/>
                <a:cs typeface="CiscoSansTT Light" panose="020B0503020201020303" pitchFamily="34" charset="0"/>
              </a:rPr>
              <a:t>© 2026 Cisco and/or its affiliates. All rights reserved.</a:t>
            </a:r>
          </a:p>
        </p:txBody>
      </p:sp>
      <p:pic>
        <p:nvPicPr>
          <p:cNvPr id="2" name="Graphic 1">
            <a:extLst>
              <a:ext uri="{FF2B5EF4-FFF2-40B4-BE49-F238E27FC236}">
                <a16:creationId xmlns:a16="http://schemas.microsoft.com/office/drawing/2014/main" id="{F9A30A31-C977-C0C7-01AD-C96DE8E141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121806" y="6338412"/>
            <a:ext cx="503671" cy="221124"/>
          </a:xfrm>
          <a:prstGeom prst="rect">
            <a:avLst/>
          </a:prstGeom>
        </p:spPr>
      </p:pic>
    </p:spTree>
    <p:extLst>
      <p:ext uri="{BB962C8B-B14F-4D97-AF65-F5344CB8AC3E}">
        <p14:creationId xmlns:p14="http://schemas.microsoft.com/office/powerpoint/2010/main" val="3164799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7937"/>
            <a:ext cx="12192000" cy="4581525"/>
          </a:xfrm>
          <a:prstGeom prst="roundRect">
            <a:avLst>
              <a:gd name="adj" fmla="val 0"/>
            </a:avLst>
          </a:prstGeom>
          <a:solidFill>
            <a:schemeClr val="bg1">
              <a:alpha val="10000"/>
            </a:schemeClr>
          </a:solidFill>
        </p:spPr>
        <p:txBody>
          <a:bodyPr vert="horz" lIns="0" tIns="1371600" rIns="0" bIns="0" rtlCol="0">
            <a:noAutofit/>
          </a:bodyPr>
          <a:lstStyle>
            <a:lvl1pPr>
              <a:defRPr lang="en-US" dirty="0"/>
            </a:lvl1pPr>
          </a:lstStyle>
          <a:p>
            <a:pPr marL="0" lvl="0" indent="0" algn="ctr">
              <a:buNone/>
            </a:pPr>
            <a:r>
              <a:rPr lang="en-US"/>
              <a:t>To add your image, drag and drop it here </a:t>
            </a:r>
            <a:br>
              <a:rPr lang="en-US"/>
            </a:br>
            <a:r>
              <a:rPr lang="en-US"/>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609600" y="-7937"/>
            <a:ext cx="8326438" cy="768096"/>
          </a:xfrm>
        </p:spPr>
        <p:txBody>
          <a:bodyPr anchor="b" anchorCtr="0"/>
          <a:lstStyle>
            <a:lvl1pPr marL="0" indent="0" algn="l">
              <a:buNone/>
              <a:defRPr sz="1200"/>
            </a:lvl1pPr>
            <a:lvl2pPr algn="ctr">
              <a:defRPr sz="1400"/>
            </a:lvl2pPr>
            <a:lvl3pPr algn="ctr">
              <a:defRPr sz="1200"/>
            </a:lvl3pPr>
            <a:lvl4pPr algn="ctr">
              <a:defRPr sz="1100"/>
            </a:lvl4pPr>
            <a:lvl5pPr algn="ctr">
              <a:defRPr sz="1050"/>
            </a:lvl5pPr>
          </a:lstStyle>
          <a:p>
            <a:pPr lvl="0"/>
            <a:r>
              <a:rPr lang="en-US"/>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609600" y="4878388"/>
            <a:ext cx="8326438" cy="1196975"/>
          </a:xfrm>
        </p:spPr>
        <p:txBody>
          <a:bodyPr/>
          <a:lstStyle>
            <a:lvl1pPr algn="l">
              <a:defRPr sz="3600"/>
            </a:lvl1pPr>
          </a:lstStyle>
          <a:p>
            <a:r>
              <a:rPr lang="en-US"/>
              <a:t>Click to edit Master title style</a:t>
            </a:r>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658029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566863" y="1836738"/>
            <a:ext cx="9050337" cy="2174875"/>
          </a:xfrm>
        </p:spPr>
        <p:txBody>
          <a:bodyPr/>
          <a:lstStyle>
            <a:lvl1pPr algn="ctr">
              <a:defRPr sz="4000"/>
            </a:lvl1pPr>
          </a:lstStyle>
          <a:p>
            <a:r>
              <a:rPr lang="en-US"/>
              <a:t>Quote slide 1, </a:t>
            </a:r>
            <a:r>
              <a:rPr lang="en-GB"/>
              <a:t>Lorem ipsum </a:t>
            </a:r>
            <a:r>
              <a:rPr lang="en-GB" err="1"/>
              <a:t>dolor</a:t>
            </a:r>
            <a:r>
              <a:rPr lang="en-GB"/>
              <a:t> sit </a:t>
            </a:r>
            <a:r>
              <a:rPr lang="en-GB" err="1"/>
              <a:t>amet</a:t>
            </a:r>
            <a:r>
              <a:rPr lang="en-GB"/>
              <a:t>, </a:t>
            </a:r>
            <a:r>
              <a:rPr lang="en-GB" err="1"/>
              <a:t>consectetuer</a:t>
            </a:r>
            <a:r>
              <a:rPr lang="en-GB"/>
              <a:t> </a:t>
            </a:r>
            <a:r>
              <a:rPr lang="en-GB" err="1"/>
              <a:t>adipiscing</a:t>
            </a:r>
            <a:r>
              <a:rPr lang="en-GB"/>
              <a:t> </a:t>
            </a:r>
            <a:r>
              <a:rPr lang="en-GB" err="1"/>
              <a:t>elit</a:t>
            </a:r>
            <a:r>
              <a:rPr lang="en-GB"/>
              <a:t>, </a:t>
            </a:r>
            <a:r>
              <a:rPr lang="en-GB" err="1"/>
              <a:t>sed</a:t>
            </a:r>
            <a:r>
              <a:rPr lang="en-GB"/>
              <a:t> </a:t>
            </a:r>
            <a:r>
              <a:rPr lang="en-GB" err="1"/>
              <a:t>diam</a:t>
            </a:r>
            <a:r>
              <a:rPr lang="en-GB"/>
              <a:t> </a:t>
            </a:r>
            <a:r>
              <a:rPr lang="en-GB" err="1"/>
              <a:t>nonummy</a:t>
            </a:r>
            <a:r>
              <a:rPr lang="en-GB"/>
              <a:t> </a:t>
            </a:r>
            <a:r>
              <a:rPr lang="en-GB" err="1"/>
              <a:t>nibh</a:t>
            </a:r>
            <a:r>
              <a:rPr lang="en-GB"/>
              <a:t> </a:t>
            </a:r>
            <a:r>
              <a:rPr lang="en-GB" err="1"/>
              <a:t>euismod</a:t>
            </a:r>
            <a:r>
              <a:rPr lang="en-GB"/>
              <a:t> </a:t>
            </a:r>
            <a:r>
              <a:rPr lang="en-GB" err="1"/>
              <a:t>tincidunt</a:t>
            </a:r>
            <a:r>
              <a:rPr lang="en-GB"/>
              <a:t> </a:t>
            </a:r>
            <a:r>
              <a:rPr lang="en-GB" err="1"/>
              <a:t>ut</a:t>
            </a:r>
            <a:r>
              <a:rPr lang="en-GB"/>
              <a:t> </a:t>
            </a:r>
            <a:r>
              <a:rPr lang="en-GB" err="1"/>
              <a:t>laoreet</a:t>
            </a:r>
            <a:r>
              <a:rPr lang="en-GB"/>
              <a:t> dolore</a:t>
            </a:r>
            <a:endParaRPr lang="en-US"/>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a:p>
        </p:txBody>
      </p:sp>
      <p:sp>
        <p:nvSpPr>
          <p:cNvPr id="5" name="Graphic 4" descr="Quotation Mark">
            <a:extLst>
              <a:ext uri="{FF2B5EF4-FFF2-40B4-BE49-F238E27FC236}">
                <a16:creationId xmlns:a16="http://schemas.microsoft.com/office/drawing/2014/main" id="{F8EEB664-6ACB-664C-2FCD-B74DB9945242}"/>
              </a:ext>
            </a:extLst>
          </p:cNvPr>
          <p:cNvSpPr/>
          <p:nvPr userDrawn="1"/>
        </p:nvSpPr>
        <p:spPr>
          <a:xfrm>
            <a:off x="5783956" y="1066705"/>
            <a:ext cx="411104" cy="331544"/>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solidFill>
              <a:schemeClr val="bg1"/>
            </a:solidFill>
            <a:prstDash val="solid"/>
            <a:miter/>
          </a:ln>
        </p:spPr>
        <p:txBody>
          <a:bodyPr rtlCol="0" anchor="ctr"/>
          <a:lstStyle/>
          <a:p>
            <a:endParaRPr lang="en-US"/>
          </a:p>
        </p:txBody>
      </p:sp>
      <p:sp>
        <p:nvSpPr>
          <p:cNvPr id="9" name="Text Placeholder 6">
            <a:extLst>
              <a:ext uri="{FF2B5EF4-FFF2-40B4-BE49-F238E27FC236}">
                <a16:creationId xmlns:a16="http://schemas.microsoft.com/office/drawing/2014/main" id="{7DB6F20F-A11C-BA1F-0D67-545AAB0B446C}"/>
              </a:ext>
            </a:extLst>
          </p:cNvPr>
          <p:cNvSpPr>
            <a:spLocks noGrp="1"/>
          </p:cNvSpPr>
          <p:nvPr>
            <p:ph type="body" sz="quarter" idx="13" hasCustomPrompt="1"/>
          </p:nvPr>
        </p:nvSpPr>
        <p:spPr>
          <a:xfrm>
            <a:off x="1566863" y="4271963"/>
            <a:ext cx="9050337" cy="625475"/>
          </a:xfrm>
        </p:spPr>
        <p:txBody>
          <a:bodyPr/>
          <a:lstStyle>
            <a:lvl1pPr marL="0" indent="0" algn="ctr">
              <a:lnSpc>
                <a:spcPct val="110000"/>
              </a:lnSpc>
              <a:spcAft>
                <a:spcPts val="0"/>
              </a:spcAft>
              <a:buNone/>
              <a:defRPr sz="2000"/>
            </a:lvl1pPr>
          </a:lstStyle>
          <a:p>
            <a:pPr lvl="0"/>
            <a:r>
              <a:rPr lang="en-US"/>
              <a:t>Speaker Name</a:t>
            </a:r>
          </a:p>
          <a:p>
            <a:pPr lvl="0"/>
            <a:r>
              <a:rPr lang="en-US"/>
              <a:t>Speaker Role</a:t>
            </a:r>
          </a:p>
        </p:txBody>
      </p:sp>
    </p:spTree>
    <p:extLst>
      <p:ext uri="{BB962C8B-B14F-4D97-AF65-F5344CB8AC3E}">
        <p14:creationId xmlns:p14="http://schemas.microsoft.com/office/powerpoint/2010/main" val="508072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566863" y="1836738"/>
            <a:ext cx="9050337" cy="2174875"/>
          </a:xfrm>
        </p:spPr>
        <p:txBody>
          <a:bodyPr/>
          <a:lstStyle>
            <a:lvl1pPr algn="ctr">
              <a:defRPr sz="4000"/>
            </a:lvl1pPr>
          </a:lstStyle>
          <a:p>
            <a:r>
              <a:rPr lang="en-US"/>
              <a:t>Quote slide 1, </a:t>
            </a:r>
            <a:r>
              <a:rPr lang="en-GB"/>
              <a:t>Lorem ipsum </a:t>
            </a:r>
            <a:r>
              <a:rPr lang="en-GB" err="1"/>
              <a:t>dolor</a:t>
            </a:r>
            <a:r>
              <a:rPr lang="en-GB"/>
              <a:t> sit </a:t>
            </a:r>
            <a:r>
              <a:rPr lang="en-GB" err="1"/>
              <a:t>amet</a:t>
            </a:r>
            <a:r>
              <a:rPr lang="en-GB"/>
              <a:t>, </a:t>
            </a:r>
            <a:r>
              <a:rPr lang="en-GB" err="1"/>
              <a:t>consectetuer</a:t>
            </a:r>
            <a:r>
              <a:rPr lang="en-GB"/>
              <a:t> </a:t>
            </a:r>
            <a:r>
              <a:rPr lang="en-GB" err="1"/>
              <a:t>adipiscing</a:t>
            </a:r>
            <a:r>
              <a:rPr lang="en-GB"/>
              <a:t> </a:t>
            </a:r>
            <a:r>
              <a:rPr lang="en-GB" err="1"/>
              <a:t>elit</a:t>
            </a:r>
            <a:r>
              <a:rPr lang="en-GB"/>
              <a:t>, </a:t>
            </a:r>
            <a:r>
              <a:rPr lang="en-GB" err="1"/>
              <a:t>sed</a:t>
            </a:r>
            <a:r>
              <a:rPr lang="en-GB"/>
              <a:t> </a:t>
            </a:r>
            <a:r>
              <a:rPr lang="en-GB" err="1"/>
              <a:t>diam</a:t>
            </a:r>
            <a:r>
              <a:rPr lang="en-GB"/>
              <a:t> </a:t>
            </a:r>
            <a:r>
              <a:rPr lang="en-GB" err="1"/>
              <a:t>nonummy</a:t>
            </a:r>
            <a:r>
              <a:rPr lang="en-GB"/>
              <a:t> </a:t>
            </a:r>
            <a:r>
              <a:rPr lang="en-GB" err="1"/>
              <a:t>nibh</a:t>
            </a:r>
            <a:r>
              <a:rPr lang="en-GB"/>
              <a:t> </a:t>
            </a:r>
            <a:r>
              <a:rPr lang="en-GB" err="1"/>
              <a:t>euismod</a:t>
            </a:r>
            <a:r>
              <a:rPr lang="en-GB"/>
              <a:t> </a:t>
            </a:r>
            <a:r>
              <a:rPr lang="en-GB" err="1"/>
              <a:t>tincidunt</a:t>
            </a:r>
            <a:r>
              <a:rPr lang="en-GB"/>
              <a:t> </a:t>
            </a:r>
            <a:r>
              <a:rPr lang="en-GB" err="1"/>
              <a:t>ut</a:t>
            </a:r>
            <a:r>
              <a:rPr lang="en-GB"/>
              <a:t> </a:t>
            </a:r>
            <a:r>
              <a:rPr lang="en-GB" err="1"/>
              <a:t>laoreet</a:t>
            </a:r>
            <a:r>
              <a:rPr lang="en-GB"/>
              <a:t> dolore</a:t>
            </a:r>
            <a:endParaRPr lang="en-US"/>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566863" y="4271963"/>
            <a:ext cx="9050337" cy="625475"/>
          </a:xfrm>
        </p:spPr>
        <p:txBody>
          <a:bodyPr/>
          <a:lstStyle>
            <a:lvl1pPr marL="0" indent="0" algn="ctr">
              <a:lnSpc>
                <a:spcPct val="110000"/>
              </a:lnSpc>
              <a:spcAft>
                <a:spcPts val="0"/>
              </a:spcAft>
              <a:buNone/>
              <a:defRPr sz="2000"/>
            </a:lvl1pPr>
          </a:lstStyle>
          <a:p>
            <a:pPr lvl="0"/>
            <a:r>
              <a:rPr lang="en-US"/>
              <a:t>Speaker Name</a:t>
            </a:r>
          </a:p>
          <a:p>
            <a:pPr lvl="0"/>
            <a:r>
              <a:rPr lang="en-US"/>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a:p>
        </p:txBody>
      </p:sp>
      <p:sp>
        <p:nvSpPr>
          <p:cNvPr id="5" name="Graphic 4" descr="Quotation Mark">
            <a:extLst>
              <a:ext uri="{FF2B5EF4-FFF2-40B4-BE49-F238E27FC236}">
                <a16:creationId xmlns:a16="http://schemas.microsoft.com/office/drawing/2014/main" id="{C9D20DE9-4EB5-2E91-CA0A-EE3C98C58DD2}"/>
              </a:ext>
            </a:extLst>
          </p:cNvPr>
          <p:cNvSpPr/>
          <p:nvPr userDrawn="1"/>
        </p:nvSpPr>
        <p:spPr>
          <a:xfrm>
            <a:off x="5783956" y="1066705"/>
            <a:ext cx="411104" cy="331544"/>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solidFill>
              <a:schemeClr val="bg1"/>
            </a:solidFill>
            <a:prstDash val="solid"/>
            <a:miter/>
          </a:ln>
        </p:spPr>
        <p:txBody>
          <a:bodyPr rtlCol="0" anchor="ctr"/>
          <a:lstStyle/>
          <a:p>
            <a:endParaRPr lang="en-US"/>
          </a:p>
        </p:txBody>
      </p:sp>
    </p:spTree>
    <p:extLst>
      <p:ext uri="{BB962C8B-B14F-4D97-AF65-F5344CB8AC3E}">
        <p14:creationId xmlns:p14="http://schemas.microsoft.com/office/powerpoint/2010/main" val="1721974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userDrawn="1"/>
        </p:nvSpPr>
        <p:spPr>
          <a:xfrm>
            <a:off x="3838783" y="1145283"/>
            <a:ext cx="411104" cy="331544"/>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solidFill>
              <a:schemeClr val="bg1"/>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3819733" y="1706879"/>
            <a:ext cx="7444615" cy="2441051"/>
          </a:xfrm>
        </p:spPr>
        <p:txBody>
          <a:bodyPr/>
          <a:lstStyle>
            <a:lvl1pPr algn="l">
              <a:defRPr sz="3600"/>
            </a:lvl1pPr>
          </a:lstStyle>
          <a:p>
            <a:r>
              <a:rPr lang="en-US"/>
              <a:t>Quote slide 1, </a:t>
            </a:r>
            <a:r>
              <a:rPr lang="en-GB"/>
              <a:t>Lorem ipsum </a:t>
            </a:r>
            <a:r>
              <a:rPr lang="en-GB" err="1"/>
              <a:t>dolor</a:t>
            </a:r>
            <a:r>
              <a:rPr lang="en-GB"/>
              <a:t> sit </a:t>
            </a:r>
            <a:r>
              <a:rPr lang="en-GB" err="1"/>
              <a:t>amet</a:t>
            </a:r>
            <a:r>
              <a:rPr lang="en-GB"/>
              <a:t>, </a:t>
            </a:r>
            <a:r>
              <a:rPr lang="en-GB" err="1"/>
              <a:t>consectetuer</a:t>
            </a:r>
            <a:r>
              <a:rPr lang="en-GB"/>
              <a:t> </a:t>
            </a:r>
            <a:r>
              <a:rPr lang="en-GB" err="1"/>
              <a:t>adipiscing</a:t>
            </a:r>
            <a:r>
              <a:rPr lang="en-GB"/>
              <a:t> </a:t>
            </a:r>
            <a:r>
              <a:rPr lang="en-GB" err="1"/>
              <a:t>elit</a:t>
            </a:r>
            <a:r>
              <a:rPr lang="en-GB"/>
              <a:t>, </a:t>
            </a:r>
            <a:r>
              <a:rPr lang="en-GB" err="1"/>
              <a:t>sed</a:t>
            </a:r>
            <a:r>
              <a:rPr lang="en-GB"/>
              <a:t> </a:t>
            </a:r>
            <a:r>
              <a:rPr lang="en-GB" err="1"/>
              <a:t>diam</a:t>
            </a:r>
            <a:r>
              <a:rPr lang="en-GB"/>
              <a:t> </a:t>
            </a:r>
            <a:r>
              <a:rPr lang="en-GB" err="1"/>
              <a:t>nonummy</a:t>
            </a:r>
            <a:r>
              <a:rPr lang="en-GB"/>
              <a:t> </a:t>
            </a:r>
            <a:r>
              <a:rPr lang="en-GB" err="1"/>
              <a:t>nibh</a:t>
            </a:r>
            <a:r>
              <a:rPr lang="en-GB"/>
              <a:t> </a:t>
            </a:r>
            <a:r>
              <a:rPr lang="en-GB" err="1"/>
              <a:t>euismod</a:t>
            </a:r>
            <a:r>
              <a:rPr lang="en-GB"/>
              <a:t> </a:t>
            </a:r>
            <a:r>
              <a:rPr lang="en-GB" err="1"/>
              <a:t>tincidunt</a:t>
            </a:r>
            <a:r>
              <a:rPr lang="en-GB"/>
              <a:t> dolore.”</a:t>
            </a:r>
            <a:endParaRPr lang="en-US"/>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3819733" y="4265766"/>
            <a:ext cx="7444615" cy="383456"/>
          </a:xfrm>
        </p:spPr>
        <p:txBody>
          <a:bodyPr/>
          <a:lstStyle>
            <a:lvl1pPr marL="0" indent="0" algn="l">
              <a:lnSpc>
                <a:spcPct val="110000"/>
              </a:lnSpc>
              <a:spcAft>
                <a:spcPts val="0"/>
              </a:spcAft>
              <a:buNone/>
              <a:defRPr sz="2000">
                <a:latin typeface="+mj-lt"/>
              </a:defRPr>
            </a:lvl1pPr>
          </a:lstStyle>
          <a:p>
            <a:pPr lvl="0"/>
            <a:r>
              <a:rPr lang="en-US"/>
              <a:t>First LastName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a:p>
        </p:txBody>
      </p:sp>
      <p:sp>
        <p:nvSpPr>
          <p:cNvPr id="9" name="Text Placeholder 6">
            <a:extLst>
              <a:ext uri="{FF2B5EF4-FFF2-40B4-BE49-F238E27FC236}">
                <a16:creationId xmlns:a16="http://schemas.microsoft.com/office/drawing/2014/main" id="{486AED0D-72C1-167D-66DB-8391E3109BBE}"/>
              </a:ext>
            </a:extLst>
          </p:cNvPr>
          <p:cNvSpPr>
            <a:spLocks noGrp="1"/>
          </p:cNvSpPr>
          <p:nvPr>
            <p:ph type="body" sz="quarter" idx="13" hasCustomPrompt="1"/>
          </p:nvPr>
        </p:nvSpPr>
        <p:spPr>
          <a:xfrm>
            <a:off x="3819733" y="4707228"/>
            <a:ext cx="7444615" cy="625475"/>
          </a:xfrm>
        </p:spPr>
        <p:txBody>
          <a:bodyPr/>
          <a:lstStyle>
            <a:lvl1pPr marL="0" indent="0" algn="l">
              <a:lnSpc>
                <a:spcPct val="110000"/>
              </a:lnSpc>
              <a:spcAft>
                <a:spcPts val="0"/>
              </a:spcAft>
              <a:buNone/>
              <a:defRPr sz="2000">
                <a:latin typeface="+mn-lt"/>
              </a:defRPr>
            </a:lvl1pPr>
          </a:lstStyle>
          <a:p>
            <a:pPr lvl="0"/>
            <a:r>
              <a:rPr lang="en-US"/>
              <a:t>Job Title Goes Here</a:t>
            </a:r>
          </a:p>
        </p:txBody>
      </p:sp>
      <p:sp useBgFill="1">
        <p:nvSpPr>
          <p:cNvPr id="5" name="Rectangle 4">
            <a:extLst>
              <a:ext uri="{FF2B5EF4-FFF2-40B4-BE49-F238E27FC236}">
                <a16:creationId xmlns:a16="http://schemas.microsoft.com/office/drawing/2014/main" id="{DD0F5A78-ABEA-CC04-DE38-1A4EE04742BA}"/>
              </a:ext>
            </a:extLst>
          </p:cNvPr>
          <p:cNvSpPr/>
          <p:nvPr userDrawn="1"/>
        </p:nvSpPr>
        <p:spPr>
          <a:xfrm>
            <a:off x="0" y="6143625"/>
            <a:ext cx="3286125" cy="712566"/>
          </a:xfrm>
          <a:prstGeom prst="rect">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US" sz="1600">
              <a:solidFill>
                <a:schemeClr val="bg1"/>
              </a:solidFill>
            </a:endParaRPr>
          </a:p>
        </p:txBody>
      </p:sp>
    </p:spTree>
    <p:extLst>
      <p:ext uri="{BB962C8B-B14F-4D97-AF65-F5344CB8AC3E}">
        <p14:creationId xmlns:p14="http://schemas.microsoft.com/office/powerpoint/2010/main" val="284253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3626693" y="987949"/>
            <a:ext cx="7637655" cy="2441051"/>
          </a:xfrm>
        </p:spPr>
        <p:txBody>
          <a:bodyPr/>
          <a:lstStyle>
            <a:lvl1pPr marL="182880" indent="-457200" algn="l">
              <a:defRPr lang="en-US" sz="3600" b="0" i="0" u="none" kern="1200" dirty="0">
                <a:solidFill>
                  <a:schemeClr val="bg1"/>
                </a:solidFill>
                <a:latin typeface="+mj-lt"/>
                <a:ea typeface="CiscoSansTT Thin" charset="0"/>
                <a:cs typeface="CiscoSansTT Thin" charset="0"/>
              </a:defRPr>
            </a:lvl1pPr>
          </a:lstStyle>
          <a:p>
            <a:r>
              <a:rPr lang="en-US"/>
              <a:t>“Quote slide 1, </a:t>
            </a:r>
            <a:r>
              <a:rPr lang="en-GB"/>
              <a:t>Lorem ipsum </a:t>
            </a:r>
            <a:r>
              <a:rPr lang="en-GB" err="1"/>
              <a:t>dolor</a:t>
            </a:r>
            <a:r>
              <a:rPr lang="en-GB"/>
              <a:t> sit </a:t>
            </a:r>
            <a:r>
              <a:rPr lang="en-GB" err="1"/>
              <a:t>amet</a:t>
            </a:r>
            <a:r>
              <a:rPr lang="en-GB"/>
              <a:t>, </a:t>
            </a:r>
            <a:r>
              <a:rPr lang="en-GB" err="1"/>
              <a:t>consectetuer</a:t>
            </a:r>
            <a:r>
              <a:rPr lang="en-GB"/>
              <a:t> </a:t>
            </a:r>
            <a:r>
              <a:rPr lang="en-GB" err="1"/>
              <a:t>adipiscing</a:t>
            </a:r>
            <a:r>
              <a:rPr lang="en-GB"/>
              <a:t> </a:t>
            </a:r>
            <a:r>
              <a:rPr lang="en-GB" err="1"/>
              <a:t>elit</a:t>
            </a:r>
            <a:r>
              <a:rPr lang="en-GB"/>
              <a:t>, </a:t>
            </a:r>
            <a:r>
              <a:rPr lang="en-GB" err="1"/>
              <a:t>sed</a:t>
            </a:r>
            <a:r>
              <a:rPr lang="en-GB"/>
              <a:t> </a:t>
            </a:r>
            <a:r>
              <a:rPr lang="en-GB" err="1"/>
              <a:t>diam</a:t>
            </a:r>
            <a:r>
              <a:rPr lang="en-GB"/>
              <a:t> </a:t>
            </a:r>
            <a:r>
              <a:rPr lang="en-GB" err="1"/>
              <a:t>nonummy</a:t>
            </a:r>
            <a:r>
              <a:rPr lang="en-GB"/>
              <a:t> </a:t>
            </a:r>
            <a:r>
              <a:rPr lang="en-GB" err="1"/>
              <a:t>nibh</a:t>
            </a:r>
            <a:r>
              <a:rPr lang="en-GB"/>
              <a:t> </a:t>
            </a:r>
            <a:r>
              <a:rPr lang="en-GB" err="1"/>
              <a:t>euismod</a:t>
            </a:r>
            <a:r>
              <a:rPr lang="en-GB"/>
              <a:t> </a:t>
            </a:r>
            <a:r>
              <a:rPr lang="en-GB" err="1"/>
              <a:t>tincidunt</a:t>
            </a:r>
            <a:r>
              <a:rPr lang="en-GB"/>
              <a:t> dolore.”</a:t>
            </a:r>
            <a:endParaRPr lang="en-US"/>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3819733" y="3546836"/>
            <a:ext cx="7444615" cy="383456"/>
          </a:xfrm>
        </p:spPr>
        <p:txBody>
          <a:bodyPr/>
          <a:lstStyle>
            <a:lvl1pPr marL="0" indent="0" algn="l">
              <a:lnSpc>
                <a:spcPct val="110000"/>
              </a:lnSpc>
              <a:spcAft>
                <a:spcPts val="0"/>
              </a:spcAft>
              <a:buNone/>
              <a:defRPr sz="2000">
                <a:latin typeface="+mj-lt"/>
              </a:defRPr>
            </a:lvl1pPr>
          </a:lstStyle>
          <a:p>
            <a:pPr lvl="0"/>
            <a:r>
              <a:rPr lang="en-US"/>
              <a:t>First LastName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a:p>
        </p:txBody>
      </p:sp>
      <p:sp>
        <p:nvSpPr>
          <p:cNvPr id="9" name="Text Placeholder 6">
            <a:extLst>
              <a:ext uri="{FF2B5EF4-FFF2-40B4-BE49-F238E27FC236}">
                <a16:creationId xmlns:a16="http://schemas.microsoft.com/office/drawing/2014/main" id="{486AED0D-72C1-167D-66DB-8391E3109BBE}"/>
              </a:ext>
            </a:extLst>
          </p:cNvPr>
          <p:cNvSpPr>
            <a:spLocks noGrp="1"/>
          </p:cNvSpPr>
          <p:nvPr>
            <p:ph type="body" sz="quarter" idx="13" hasCustomPrompt="1"/>
          </p:nvPr>
        </p:nvSpPr>
        <p:spPr>
          <a:xfrm>
            <a:off x="3819733" y="3988298"/>
            <a:ext cx="7444615" cy="625475"/>
          </a:xfrm>
        </p:spPr>
        <p:txBody>
          <a:bodyPr/>
          <a:lstStyle>
            <a:lvl1pPr marL="0" indent="0" algn="l">
              <a:lnSpc>
                <a:spcPct val="110000"/>
              </a:lnSpc>
              <a:spcAft>
                <a:spcPts val="0"/>
              </a:spcAft>
              <a:buNone/>
              <a:defRPr sz="2000">
                <a:latin typeface="+mn-lt"/>
              </a:defRPr>
            </a:lvl1pPr>
          </a:lstStyle>
          <a:p>
            <a:pPr lvl="0"/>
            <a:r>
              <a:rPr lang="en-US"/>
              <a:t>Job Title Goes Here</a:t>
            </a:r>
          </a:p>
        </p:txBody>
      </p:sp>
      <p:sp useBgFill="1">
        <p:nvSpPr>
          <p:cNvPr id="6" name="Rectangle 5">
            <a:extLst>
              <a:ext uri="{FF2B5EF4-FFF2-40B4-BE49-F238E27FC236}">
                <a16:creationId xmlns:a16="http://schemas.microsoft.com/office/drawing/2014/main" id="{F4E8FC3B-0B83-BC74-24E3-14919B815C88}"/>
              </a:ext>
            </a:extLst>
          </p:cNvPr>
          <p:cNvSpPr/>
          <p:nvPr userDrawn="1"/>
        </p:nvSpPr>
        <p:spPr>
          <a:xfrm>
            <a:off x="0" y="6143625"/>
            <a:ext cx="3286125" cy="712566"/>
          </a:xfrm>
          <a:prstGeom prst="rect">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US" sz="1600">
              <a:solidFill>
                <a:schemeClr val="bg1"/>
              </a:solidFill>
            </a:endParaRPr>
          </a:p>
        </p:txBody>
      </p:sp>
    </p:spTree>
    <p:extLst>
      <p:ext uri="{BB962C8B-B14F-4D97-AF65-F5344CB8AC3E}">
        <p14:creationId xmlns:p14="http://schemas.microsoft.com/office/powerpoint/2010/main" val="3984223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Quote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5999" y="1449705"/>
            <a:ext cx="5465763" cy="3283903"/>
          </a:xfrm>
        </p:spPr>
        <p:txBody>
          <a:bodyPr anchor="b" anchorCtr="0"/>
          <a:lstStyle>
            <a:lvl1pPr algn="l">
              <a:defRPr sz="4000"/>
            </a:lvl1pPr>
          </a:lstStyle>
          <a:p>
            <a:r>
              <a:rPr lang="en-US"/>
              <a:t>“Quote slide 1, </a:t>
            </a:r>
            <a:r>
              <a:rPr lang="en-GB"/>
              <a:t>Lorem ipsum </a:t>
            </a:r>
            <a:r>
              <a:rPr lang="en-GB" err="1"/>
              <a:t>dolor</a:t>
            </a:r>
            <a:r>
              <a:rPr lang="en-GB"/>
              <a:t> sit </a:t>
            </a:r>
            <a:r>
              <a:rPr lang="en-GB" err="1"/>
              <a:t>amet</a:t>
            </a:r>
            <a:r>
              <a:rPr lang="en-GB"/>
              <a:t>, </a:t>
            </a:r>
            <a:r>
              <a:rPr lang="en-GB" err="1"/>
              <a:t>consect</a:t>
            </a:r>
            <a:r>
              <a:rPr lang="en-GB"/>
              <a:t> </a:t>
            </a:r>
            <a:r>
              <a:rPr lang="en-GB" err="1"/>
              <a:t>adipiscing</a:t>
            </a:r>
            <a:r>
              <a:rPr lang="en-GB"/>
              <a:t> </a:t>
            </a:r>
            <a:r>
              <a:rPr lang="en-GB" err="1"/>
              <a:t>elit</a:t>
            </a:r>
            <a:r>
              <a:rPr lang="en-GB"/>
              <a:t>, </a:t>
            </a:r>
            <a:r>
              <a:rPr lang="en-GB" err="1"/>
              <a:t>sed</a:t>
            </a:r>
            <a:r>
              <a:rPr lang="en-GB"/>
              <a:t> </a:t>
            </a:r>
            <a:r>
              <a:rPr lang="en-GB" err="1"/>
              <a:t>diam</a:t>
            </a:r>
            <a:r>
              <a:rPr lang="en-GB"/>
              <a:t> no </a:t>
            </a:r>
            <a:r>
              <a:rPr lang="en-GB" err="1"/>
              <a:t>nummy</a:t>
            </a:r>
            <a:r>
              <a:rPr lang="en-GB"/>
              <a:t> </a:t>
            </a:r>
            <a:r>
              <a:rPr lang="en-GB" err="1"/>
              <a:t>nibh</a:t>
            </a:r>
            <a:r>
              <a:rPr lang="en-GB"/>
              <a:t> </a:t>
            </a:r>
            <a:r>
              <a:rPr lang="en-GB" err="1"/>
              <a:t>euismod</a:t>
            </a:r>
            <a:r>
              <a:rPr lang="en-GB"/>
              <a:t> </a:t>
            </a:r>
            <a:r>
              <a:rPr lang="en-GB" err="1"/>
              <a:t>tincidunt</a:t>
            </a:r>
            <a:r>
              <a:rPr lang="en-GB"/>
              <a:t> </a:t>
            </a:r>
            <a:r>
              <a:rPr lang="en-GB" err="1"/>
              <a:t>ut</a:t>
            </a:r>
            <a:r>
              <a:rPr lang="en-GB"/>
              <a:t> </a:t>
            </a:r>
            <a:r>
              <a:rPr lang="en-GB" err="1"/>
              <a:t>laoreet</a:t>
            </a:r>
            <a:r>
              <a:rPr lang="en-GB"/>
              <a:t>”</a:t>
            </a:r>
            <a:endParaRPr lang="en-US"/>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5999" y="4733608"/>
            <a:ext cx="5465763" cy="673417"/>
          </a:xfrm>
        </p:spPr>
        <p:txBody>
          <a:bodyPr tIns="91440"/>
          <a:lstStyle>
            <a:lvl1pPr marL="0" indent="0" algn="l">
              <a:spcAft>
                <a:spcPts val="0"/>
              </a:spcAft>
              <a:buNone/>
              <a:defRPr sz="2000"/>
            </a:lvl1pPr>
          </a:lstStyle>
          <a:p>
            <a:pPr lvl="0"/>
            <a:r>
              <a:rPr lang="en-US"/>
              <a:t>Speaker Name</a:t>
            </a:r>
          </a:p>
          <a:p>
            <a:pPr lvl="0"/>
            <a:r>
              <a:rPr lang="en-US"/>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a:p>
        </p:txBody>
      </p:sp>
      <p:sp useBgFill="1">
        <p:nvSpPr>
          <p:cNvPr id="5" name="Rectangle 4">
            <a:extLst>
              <a:ext uri="{FF2B5EF4-FFF2-40B4-BE49-F238E27FC236}">
                <a16:creationId xmlns:a16="http://schemas.microsoft.com/office/drawing/2014/main" id="{1C7252D7-21C0-547A-7B00-7ED60451CB6D}"/>
              </a:ext>
            </a:extLst>
          </p:cNvPr>
          <p:cNvSpPr/>
          <p:nvPr userDrawn="1"/>
        </p:nvSpPr>
        <p:spPr>
          <a:xfrm>
            <a:off x="0" y="6143625"/>
            <a:ext cx="3286125" cy="712566"/>
          </a:xfrm>
          <a:prstGeom prst="rect">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US" sz="1600">
              <a:solidFill>
                <a:schemeClr val="bg1"/>
              </a:solidFill>
            </a:endParaRPr>
          </a:p>
        </p:txBody>
      </p:sp>
    </p:spTree>
    <p:extLst>
      <p:ext uri="{BB962C8B-B14F-4D97-AF65-F5344CB8AC3E}">
        <p14:creationId xmlns:p14="http://schemas.microsoft.com/office/powerpoint/2010/main" val="393202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Photo Statement 1, Title, Sub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p:spPr>
        <p:txBody>
          <a:bodyPr tIns="274320"/>
          <a:lstStyle>
            <a:lvl1pPr marL="0" indent="0" algn="ctr">
              <a:buNone/>
              <a:defRPr/>
            </a:lvl1pPr>
          </a:lstStyle>
          <a:p>
            <a:r>
              <a:rPr lang="en-US"/>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141538" y="952501"/>
            <a:ext cx="7954962" cy="1493838"/>
          </a:xfrm>
        </p:spPr>
        <p:txBody>
          <a:bodyPr anchor="b" anchorCtr="0"/>
          <a:lstStyle>
            <a:lvl1pPr algn="ctr">
              <a:defRPr sz="4000"/>
            </a:lvl1pPr>
          </a:lstStyle>
          <a:p>
            <a:r>
              <a:rPr lang="en-US"/>
              <a:t>Click to edit Master title style</a:t>
            </a:r>
          </a:p>
        </p:txBody>
      </p:sp>
      <p:sp>
        <p:nvSpPr>
          <p:cNvPr id="5" name="Text Placeholder 4">
            <a:extLst>
              <a:ext uri="{FF2B5EF4-FFF2-40B4-BE49-F238E27FC236}">
                <a16:creationId xmlns:a16="http://schemas.microsoft.com/office/drawing/2014/main" id="{96D4A8F9-F7CA-7BED-9594-D64F51EE92BB}"/>
              </a:ext>
              <a:ext uri="{C183D7F6-B498-43B3-948B-1728B52AA6E4}">
                <adec:decorative xmlns:adec="http://schemas.microsoft.com/office/drawing/2017/decorative" val="0"/>
              </a:ext>
            </a:extLst>
          </p:cNvPr>
          <p:cNvSpPr>
            <a:spLocks noGrp="1"/>
          </p:cNvSpPr>
          <p:nvPr>
            <p:ph type="body" sz="quarter" idx="11"/>
          </p:nvPr>
        </p:nvSpPr>
        <p:spPr>
          <a:xfrm>
            <a:off x="2141538" y="2446339"/>
            <a:ext cx="7954961" cy="982661"/>
          </a:xfrm>
        </p:spPr>
        <p:txBody>
          <a:bodyPr tIns="91440"/>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sz="quarter" idx="14"/>
          </p:nvPr>
        </p:nvSpPr>
        <p:spPr/>
        <p:txBody>
          <a:bodyPr/>
          <a:lstStyle/>
          <a:p>
            <a:pPr defTabSz="814318">
              <a:defRPr/>
            </a:pPr>
            <a:r>
              <a:rPr lang="en-US"/>
              <a:t>Session ID: BRKSEC-XXXX</a:t>
            </a:r>
          </a:p>
        </p:txBody>
      </p:sp>
      <p:sp>
        <p:nvSpPr>
          <p:cNvPr id="4" name="Slide Number Placeholder 3">
            <a:extLst>
              <a:ext uri="{FF2B5EF4-FFF2-40B4-BE49-F238E27FC236}">
                <a16:creationId xmlns:a16="http://schemas.microsoft.com/office/drawing/2014/main" id="{D6CFB270-12CC-4B92-85FD-B7710644F26B}"/>
              </a:ext>
              <a:ext uri="{C183D7F6-B498-43B3-948B-1728B52AA6E4}">
                <adec:decorative xmlns:adec="http://schemas.microsoft.com/office/drawing/2017/decorative" val="0"/>
              </a:ext>
            </a:extLst>
          </p:cNvPr>
          <p:cNvSpPr>
            <a:spLocks noGrp="1"/>
          </p:cNvSpPr>
          <p:nvPr>
            <p:ph type="sldNum" sz="quarter" idx="12"/>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295955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2 Slide, Title, Body Copy, Graphic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4680" y="1836738"/>
            <a:ext cx="5295583"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2" name="Title 1">
            <a:extLst>
              <a:ext uri="{FF2B5EF4-FFF2-40B4-BE49-F238E27FC236}">
                <a16:creationId xmlns:a16="http://schemas.microsoft.com/office/drawing/2014/main" id="{FD115741-2370-FD45-DBFB-7AEDA1FA052C}"/>
              </a:ext>
            </a:extLst>
          </p:cNvPr>
          <p:cNvSpPr>
            <a:spLocks noGrp="1"/>
          </p:cNvSpPr>
          <p:nvPr>
            <p:ph type="title"/>
          </p:nvPr>
        </p:nvSpPr>
        <p:spPr>
          <a:xfrm>
            <a:off x="609601" y="598811"/>
            <a:ext cx="5300662" cy="492443"/>
          </a:xfrm>
        </p:spPr>
        <p:txBody>
          <a:bodyPr/>
          <a:lstStyle>
            <a:lvl1pPr>
              <a:defRPr sz="3600"/>
            </a:lvl1pPr>
          </a:lstStyle>
          <a:p>
            <a:r>
              <a:rPr lang="en-US"/>
              <a:t>Click to edit Master title style</a:t>
            </a:r>
          </a:p>
        </p:txBody>
      </p:sp>
    </p:spTree>
    <p:extLst>
      <p:ext uri="{BB962C8B-B14F-4D97-AF65-F5344CB8AC3E}">
        <p14:creationId xmlns:p14="http://schemas.microsoft.com/office/powerpoint/2010/main" val="3743850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1/2 Slide, Title, Body Copy,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4680" y="1836738"/>
            <a:ext cx="5295583"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2" name="Title 1">
            <a:extLst>
              <a:ext uri="{FF2B5EF4-FFF2-40B4-BE49-F238E27FC236}">
                <a16:creationId xmlns:a16="http://schemas.microsoft.com/office/drawing/2014/main" id="{FD115741-2370-FD45-DBFB-7AEDA1FA052C}"/>
              </a:ext>
            </a:extLst>
          </p:cNvPr>
          <p:cNvSpPr>
            <a:spLocks noGrp="1"/>
          </p:cNvSpPr>
          <p:nvPr>
            <p:ph type="title"/>
          </p:nvPr>
        </p:nvSpPr>
        <p:spPr>
          <a:xfrm>
            <a:off x="609601" y="598811"/>
            <a:ext cx="5300662" cy="492443"/>
          </a:xfrm>
        </p:spPr>
        <p:txBody>
          <a:bodyPr/>
          <a:lstStyle>
            <a:lvl1pPr>
              <a:defRPr sz="3600"/>
            </a:lvl1pPr>
          </a:lstStyle>
          <a:p>
            <a:r>
              <a:rPr lang="en-US"/>
              <a:t>Click to edit Master title style</a:t>
            </a:r>
          </a:p>
        </p:txBody>
      </p:sp>
    </p:spTree>
    <p:extLst>
      <p:ext uri="{BB962C8B-B14F-4D97-AF65-F5344CB8AC3E}">
        <p14:creationId xmlns:p14="http://schemas.microsoft.com/office/powerpoint/2010/main" val="3775400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lank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pPr defTabSz="814318">
              <a:defRPr/>
            </a:pPr>
            <a:r>
              <a:rPr lang="en-US"/>
              <a:t>Session ID: BRKSEC-XXXX</a:t>
            </a:r>
          </a:p>
        </p:txBody>
      </p:sp>
    </p:spTree>
    <p:extLst>
      <p:ext uri="{BB962C8B-B14F-4D97-AF65-F5344CB8AC3E}">
        <p14:creationId xmlns:p14="http://schemas.microsoft.com/office/powerpoint/2010/main" val="3201895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pPr defTabSz="814318">
              <a:defRPr/>
            </a:pPr>
            <a:r>
              <a:rPr lang="en-US"/>
              <a:t>Session ID: BRKSEC-XXXX</a:t>
            </a:r>
          </a:p>
        </p:txBody>
      </p:sp>
    </p:spTree>
    <p:extLst>
      <p:ext uri="{BB962C8B-B14F-4D97-AF65-F5344CB8AC3E}">
        <p14:creationId xmlns:p14="http://schemas.microsoft.com/office/powerpoint/2010/main" val="3748774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pPr defTabSz="814318">
              <a:defRPr/>
            </a:pPr>
            <a:r>
              <a:rPr lang="en-US"/>
              <a:t>Session ID: BRKSEC-XXXX</a:t>
            </a:r>
          </a:p>
        </p:txBody>
      </p:sp>
    </p:spTree>
    <p:extLst>
      <p:ext uri="{BB962C8B-B14F-4D97-AF65-F5344CB8AC3E}">
        <p14:creationId xmlns:p14="http://schemas.microsoft.com/office/powerpoint/2010/main" val="181723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pPr defTabSz="814318">
              <a:defRPr/>
            </a:pPr>
            <a:r>
              <a:rPr lang="en-US"/>
              <a:t>Session ID: BRKSEC-XXXX</a:t>
            </a:r>
          </a:p>
        </p:txBody>
      </p:sp>
    </p:spTree>
    <p:extLst>
      <p:ext uri="{BB962C8B-B14F-4D97-AF65-F5344CB8AC3E}">
        <p14:creationId xmlns:p14="http://schemas.microsoft.com/office/powerpoint/2010/main" val="2375525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lan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pPr defTabSz="814318">
              <a:defRPr/>
            </a:pPr>
            <a:r>
              <a:rPr lang="en-US"/>
              <a:t>Session ID: BRKSEC-XXXX</a:t>
            </a:r>
          </a:p>
        </p:txBody>
      </p:sp>
    </p:spTree>
    <p:extLst>
      <p:ext uri="{BB962C8B-B14F-4D97-AF65-F5344CB8AC3E}">
        <p14:creationId xmlns:p14="http://schemas.microsoft.com/office/powerpoint/2010/main" val="1897038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nk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pPr defTabSz="814318">
              <a:defRPr/>
            </a:pPr>
            <a:r>
              <a:rPr lang="en-US"/>
              <a:t>Session ID: BRKSEC-XXXX</a:t>
            </a:r>
          </a:p>
        </p:txBody>
      </p:sp>
    </p:spTree>
    <p:extLst>
      <p:ext uri="{BB962C8B-B14F-4D97-AF65-F5344CB8AC3E}">
        <p14:creationId xmlns:p14="http://schemas.microsoft.com/office/powerpoint/2010/main" val="2526229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141538" y="577850"/>
            <a:ext cx="7954962" cy="2476500"/>
          </a:xfrm>
        </p:spPr>
        <p:txBody>
          <a:bodyPr anchor="b" anchorCtr="0"/>
          <a:lstStyle>
            <a:lvl1pPr algn="ctr">
              <a:defRPr sz="4000"/>
            </a:lvl1pPr>
          </a:lstStyle>
          <a:p>
            <a:r>
              <a:rPr lang="en-US"/>
              <a:t>Click to edit Master title style</a:t>
            </a:r>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141538" y="3054350"/>
            <a:ext cx="7954961" cy="936625"/>
          </a:xfrm>
        </p:spPr>
        <p:txBody>
          <a:bodyPr tIns="91440"/>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371738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Statement 2,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2514600" y="2446339"/>
            <a:ext cx="7162799" cy="1916906"/>
          </a:xfrm>
        </p:spPr>
        <p:txBody>
          <a:bodyPr anchor="ctr" anchorCtr="0"/>
          <a:lstStyle>
            <a:lvl1pPr algn="ctr">
              <a:defRPr sz="4000">
                <a:solidFill>
                  <a:schemeClr val="bg1"/>
                </a:solidFill>
              </a:defRPr>
            </a:lvl1pPr>
          </a:lstStyle>
          <a:p>
            <a:r>
              <a:rPr lang="en-US"/>
              <a:t>Click to edit Master title style</a:t>
            </a:r>
          </a:p>
        </p:txBody>
      </p:sp>
    </p:spTree>
    <p:extLst>
      <p:ext uri="{BB962C8B-B14F-4D97-AF65-F5344CB8AC3E}">
        <p14:creationId xmlns:p14="http://schemas.microsoft.com/office/powerpoint/2010/main" val="534373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ectio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609600" y="2492375"/>
            <a:ext cx="7366000" cy="1868488"/>
          </a:xfrm>
        </p:spPr>
        <p:txBody>
          <a:bodyPr wrap="square" anchor="ctr" anchorCtr="0">
            <a:noAutofit/>
          </a:bodyPr>
          <a:lstStyle>
            <a:lvl1pPr>
              <a:defRPr sz="4000"/>
            </a:lvl1pPr>
          </a:lstStyle>
          <a:p>
            <a:r>
              <a:rPr lang="en-US"/>
              <a:t>Click to edit Master title style</a:t>
            </a:r>
          </a:p>
        </p:txBody>
      </p:sp>
    </p:spTree>
    <p:extLst>
      <p:ext uri="{BB962C8B-B14F-4D97-AF65-F5344CB8AC3E}">
        <p14:creationId xmlns:p14="http://schemas.microsoft.com/office/powerpoint/2010/main" val="2011003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ect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609600" y="2492375"/>
            <a:ext cx="7366000" cy="1868487"/>
          </a:xfrm>
        </p:spPr>
        <p:txBody>
          <a:bodyPr anchor="ctr" anchorCtr="0"/>
          <a:lstStyle>
            <a:lvl1pPr>
              <a:defRPr sz="4000">
                <a:solidFill>
                  <a:schemeClr val="bg1"/>
                </a:solidFill>
              </a:defRPr>
            </a:lvl1pPr>
          </a:lstStyle>
          <a:p>
            <a:r>
              <a:rPr lang="en-US"/>
              <a:t>Click to edit Master title style</a:t>
            </a:r>
          </a:p>
        </p:txBody>
      </p:sp>
    </p:spTree>
    <p:extLst>
      <p:ext uri="{BB962C8B-B14F-4D97-AF65-F5344CB8AC3E}">
        <p14:creationId xmlns:p14="http://schemas.microsoft.com/office/powerpoint/2010/main" val="3358750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609600" y="3114676"/>
            <a:ext cx="5300663" cy="623888"/>
          </a:xfrm>
        </p:spPr>
        <p:txBody>
          <a:bodyPr anchor="ctr" anchorCtr="0"/>
          <a:lstStyle>
            <a:lvl1pPr>
              <a:defRPr sz="3600"/>
            </a:lvl1pPr>
          </a:lstStyle>
          <a:p>
            <a:r>
              <a:rPr lang="en-US"/>
              <a:t>Thank you</a:t>
            </a:r>
          </a:p>
        </p:txBody>
      </p:sp>
    </p:spTree>
    <p:extLst>
      <p:ext uri="{BB962C8B-B14F-4D97-AF65-F5344CB8AC3E}">
        <p14:creationId xmlns:p14="http://schemas.microsoft.com/office/powerpoint/2010/main" val="2200096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theme" Target="../theme/theme1.xml"/><Relationship Id="rId51"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userDrawn="1">
            <p:ph type="title"/>
          </p:nvPr>
        </p:nvSpPr>
        <p:spPr>
          <a:xfrm>
            <a:off x="609600" y="598811"/>
            <a:ext cx="10952163" cy="492443"/>
          </a:xfrm>
          <a:prstGeom prst="rect">
            <a:avLst/>
          </a:prstGeom>
          <a:noFill/>
        </p:spPr>
        <p:txBody>
          <a:bodyPr vert="horz" lIns="0" tIns="0" rIns="0" bIns="0" rtlCol="0" anchor="t">
            <a:noAutofit/>
          </a:bodyPr>
          <a:lstStyle/>
          <a:p>
            <a:r>
              <a:rPr lang="en-US"/>
              <a:t>Click to edit Master title style</a:t>
            </a:r>
          </a:p>
        </p:txBody>
      </p:sp>
      <p:sp>
        <p:nvSpPr>
          <p:cNvPr id="7" name="Text Placeholder 2">
            <a:extLst>
              <a:ext uri="{FF2B5EF4-FFF2-40B4-BE49-F238E27FC236}">
                <a16:creationId xmlns:a16="http://schemas.microsoft.com/office/drawing/2014/main" id="{455BE63C-8C0C-FC75-3DF2-F8F96A3C87BE}"/>
              </a:ext>
            </a:extLst>
          </p:cNvPr>
          <p:cNvSpPr>
            <a:spLocks noGrp="1"/>
          </p:cNvSpPr>
          <p:nvPr userDrawn="1">
            <p:ph type="body" idx="1"/>
          </p:nvPr>
        </p:nvSpPr>
        <p:spPr>
          <a:xfrm>
            <a:off x="609600" y="1545265"/>
            <a:ext cx="10937489" cy="4550736"/>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239B4362-70A2-3ADC-C4AA-ADA6E4E09C94}"/>
              </a:ext>
            </a:extLst>
          </p:cNvPr>
          <p:cNvSpPr>
            <a:spLocks/>
          </p:cNvSpPr>
          <p:nvPr userDrawn="1"/>
        </p:nvSpPr>
        <p:spPr bwMode="ltGray">
          <a:xfrm>
            <a:off x="609600" y="6400165"/>
            <a:ext cx="3275509" cy="457200"/>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ea typeface="ＭＳ Ｐゴシック" charset="0"/>
                <a:cs typeface="CiscoSansTT Light" panose="020B0503020201020303" pitchFamily="34" charset="0"/>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userDrawn="1">
            <p:ph type="ftr" sz="quarter" idx="3"/>
          </p:nvPr>
        </p:nvSpPr>
        <p:spPr>
          <a:xfrm>
            <a:off x="4211637" y="6400165"/>
            <a:ext cx="3763963" cy="45720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Light" panose="020B0503020201020303" pitchFamily="34" charset="0"/>
              </a:defRPr>
            </a:lvl1pPr>
          </a:lstStyle>
          <a:p>
            <a:pPr defTabSz="814318">
              <a:defRPr/>
            </a:pPr>
            <a:r>
              <a:rPr lang="en-US"/>
              <a:t>Session ID: BRKSEC-XXXX</a:t>
            </a:r>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userDrawn="1">
            <p:ph type="sldNum" sz="quarter" idx="4"/>
          </p:nvPr>
        </p:nvSpPr>
        <p:spPr>
          <a:xfrm>
            <a:off x="9115425" y="6398991"/>
            <a:ext cx="1773238" cy="45720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Light" panose="020B0503020201020303" pitchFamily="34" charset="0"/>
              </a:defRPr>
            </a:lvl1pPr>
          </a:lstStyle>
          <a:p>
            <a:fld id="{C3C42FAE-7A31-41D3-A712-51D9B15D0B10}" type="slidenum">
              <a:rPr lang="en-US" smtClean="0"/>
              <a:pPr/>
              <a:t>‹#›</a:t>
            </a:fld>
            <a:endParaRPr lang="en-US"/>
          </a:p>
        </p:txBody>
      </p:sp>
      <p:sp>
        <p:nvSpPr>
          <p:cNvPr id="8" name="TextBox 7">
            <a:extLst>
              <a:ext uri="{FF2B5EF4-FFF2-40B4-BE49-F238E27FC236}">
                <a16:creationId xmlns:a16="http://schemas.microsoft.com/office/drawing/2014/main" id="{DCAE3397-B7E0-F9B7-D1AC-C859F3CFC5AF}"/>
              </a:ext>
            </a:extLst>
          </p:cNvPr>
          <p:cNvSpPr txBox="1"/>
          <p:nvPr>
            <p:extLst>
              <p:ext uri="{1162E1C5-73C7-4A58-AE30-91384D911F3F}">
                <p184:classification xmlns:p184="http://schemas.microsoft.com/office/powerpoint/2018/4/main" val="ftr"/>
              </p:ext>
            </p:extLst>
          </p:nvPr>
        </p:nvSpPr>
        <p:spPr>
          <a:xfrm>
            <a:off x="63500" y="6779260"/>
            <a:ext cx="7938" cy="15240"/>
          </a:xfrm>
          <a:prstGeom prst="rect">
            <a:avLst/>
          </a:prstGeom>
        </p:spPr>
        <p:txBody>
          <a:bodyPr horzOverflow="overflow" lIns="0" tIns="0" rIns="0" bIns="0">
            <a:spAutoFit/>
          </a:bodyPr>
          <a:lstStyle/>
          <a:p>
            <a:pPr algn="l"/>
            <a:r>
              <a:rPr lang="en-US" sz="100">
                <a:solidFill>
                  <a:srgbClr val="000000">
                    <a:alpha val="50000"/>
                  </a:srgbClr>
                </a:solidFill>
                <a:latin typeface="Aptos" panose="020B0004020202020204" pitchFamily="34" charset="0"/>
              </a:rPr>
              <a:t>-</a:t>
            </a:r>
          </a:p>
        </p:txBody>
      </p:sp>
      <p:pic>
        <p:nvPicPr>
          <p:cNvPr id="9" name="Graphic 8">
            <a:extLst>
              <a:ext uri="{FF2B5EF4-FFF2-40B4-BE49-F238E27FC236}">
                <a16:creationId xmlns:a16="http://schemas.microsoft.com/office/drawing/2014/main" id="{DB647726-7CF0-1E16-E4CE-1BFE4C8B5F0C}"/>
              </a:ext>
            </a:extLst>
          </p:cNvPr>
          <p:cNvPicPr>
            <a:picLocks noChangeAspect="1"/>
          </p:cNvPicPr>
          <p:nvPr userDrawn="1"/>
        </p:nvPicPr>
        <p:blipFill>
          <a:blip>
            <a:extLst>
              <a:ext uri="{96DAC541-7B7A-43D3-8B79-37D633B846F1}">
                <asvg:svgBlip xmlns:asvg="http://schemas.microsoft.com/office/drawing/2016/SVG/main" r:embed="rId51"/>
              </a:ext>
            </a:extLst>
          </a:blip>
          <a:stretch>
            <a:fillRect/>
          </a:stretch>
        </p:blipFill>
        <p:spPr>
          <a:xfrm>
            <a:off x="11121806" y="6338412"/>
            <a:ext cx="503671" cy="221124"/>
          </a:xfrm>
          <a:prstGeom prst="rect">
            <a:avLst/>
          </a:prstGeom>
        </p:spPr>
      </p:pic>
    </p:spTree>
    <p:extLst>
      <p:ext uri="{BB962C8B-B14F-4D97-AF65-F5344CB8AC3E}">
        <p14:creationId xmlns:p14="http://schemas.microsoft.com/office/powerpoint/2010/main" val="4026036687"/>
      </p:ext>
    </p:extLst>
  </p:cSld>
  <p:clrMap bg1="dk1" tx1="lt1" bg2="dk2" tx2="lt2" accent1="accent1" accent2="accent2" accent3="accent3" accent4="accent4" accent5="accent5" accent6="accent6" hlink="hlink" folHlink="folHlink"/>
  <p:sldLayoutIdLst>
    <p:sldLayoutId id="2147484304" r:id="rId1"/>
    <p:sldLayoutId id="2147484294" r:id="rId2"/>
    <p:sldLayoutId id="2147484295" r:id="rId3"/>
    <p:sldLayoutId id="2147484296" r:id="rId4"/>
    <p:sldLayoutId id="2147484246" r:id="rId5"/>
    <p:sldLayoutId id="2147484299" r:id="rId6"/>
    <p:sldLayoutId id="2147484247" r:id="rId7"/>
    <p:sldLayoutId id="2147484305" r:id="rId8"/>
    <p:sldLayoutId id="2147484248" r:id="rId9"/>
    <p:sldLayoutId id="2147484249" r:id="rId10"/>
    <p:sldLayoutId id="2147484250" r:id="rId11"/>
    <p:sldLayoutId id="2147484251" r:id="rId12"/>
    <p:sldLayoutId id="2147484253" r:id="rId13"/>
    <p:sldLayoutId id="2147484254" r:id="rId14"/>
    <p:sldLayoutId id="2147484256" r:id="rId15"/>
    <p:sldLayoutId id="2147484252" r:id="rId16"/>
    <p:sldLayoutId id="2147484257" r:id="rId17"/>
    <p:sldLayoutId id="2147484263" r:id="rId18"/>
    <p:sldLayoutId id="2147484264" r:id="rId19"/>
    <p:sldLayoutId id="2147484265" r:id="rId20"/>
    <p:sldLayoutId id="2147484266" r:id="rId21"/>
    <p:sldLayoutId id="2147484267" r:id="rId22"/>
    <p:sldLayoutId id="2147484268" r:id="rId23"/>
    <p:sldLayoutId id="2147484307" r:id="rId24"/>
    <p:sldLayoutId id="2147484308" r:id="rId25"/>
    <p:sldLayoutId id="2147484272" r:id="rId26"/>
    <p:sldLayoutId id="2147484274" r:id="rId27"/>
    <p:sldLayoutId id="2147484309" r:id="rId28"/>
    <p:sldLayoutId id="2147484310" r:id="rId29"/>
    <p:sldLayoutId id="2147484276" r:id="rId30"/>
    <p:sldLayoutId id="2147484277" r:id="rId31"/>
    <p:sldLayoutId id="2147484278" r:id="rId32"/>
    <p:sldLayoutId id="2147484315" r:id="rId33"/>
    <p:sldLayoutId id="2147484316" r:id="rId34"/>
    <p:sldLayoutId id="2147484279" r:id="rId35"/>
    <p:sldLayoutId id="2147484286" r:id="rId36"/>
    <p:sldLayoutId id="2147484280" r:id="rId37"/>
    <p:sldLayoutId id="2147484317" r:id="rId38"/>
    <p:sldLayoutId id="2147484281" r:id="rId39"/>
    <p:sldLayoutId id="2147484311" r:id="rId40"/>
    <p:sldLayoutId id="2147484312" r:id="rId41"/>
    <p:sldLayoutId id="2147484313" r:id="rId42"/>
    <p:sldLayoutId id="2147484318" r:id="rId43"/>
    <p:sldLayoutId id="2147484319" r:id="rId44"/>
    <p:sldLayoutId id="2147484285" r:id="rId45"/>
    <p:sldLayoutId id="2147484297" r:id="rId46"/>
    <p:sldLayoutId id="2147484288" r:id="rId47"/>
    <p:sldLayoutId id="2147484289" r:id="rId48"/>
    <p:sldLayoutId id="2147484298" r:id="rId4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160" userDrawn="1">
          <p15:clr>
            <a:srgbClr val="F26B43"/>
          </p15:clr>
        </p15:guide>
        <p15:guide id="67" pos="384" userDrawn="1">
          <p15:clr>
            <a:srgbClr val="F26B43"/>
          </p15:clr>
        </p15:guide>
        <p15:guide id="68" pos="7283" userDrawn="1">
          <p15:clr>
            <a:srgbClr val="F26B43"/>
          </p15:clr>
        </p15:guide>
        <p15:guide id="69" pos="3840" userDrawn="1">
          <p15:clr>
            <a:srgbClr val="F26B43"/>
          </p15:clr>
        </p15:guide>
        <p15:guide id="70" orient="horz" pos="3840" userDrawn="1">
          <p15:clr>
            <a:srgbClr val="9FCC3B"/>
          </p15:clr>
        </p15:guide>
        <p15:guide id="71" orient="horz" pos="392" userDrawn="1">
          <p15:clr>
            <a:srgbClr val="F26B43"/>
          </p15:clr>
        </p15:guide>
        <p15:guide id="73" orient="horz" pos="2691" userDrawn="1">
          <p15:clr>
            <a:srgbClr val="A4A3A4"/>
          </p15:clr>
        </p15:guide>
        <p15:guide id="74" orient="horz" pos="583" userDrawn="1">
          <p15:clr>
            <a:srgbClr val="A4A3A4"/>
          </p15:clr>
        </p15:guide>
        <p15:guide id="75" orient="horz" pos="1732" userDrawn="1">
          <p15:clr>
            <a:srgbClr val="A4A3A4"/>
          </p15:clr>
        </p15:guide>
        <p15:guide id="76" orient="horz" pos="2307" userDrawn="1">
          <p15:clr>
            <a:srgbClr val="A4A3A4"/>
          </p15:clr>
        </p15:guide>
        <p15:guide id="77" orient="horz" pos="4090" userDrawn="1">
          <p15:clr>
            <a:srgbClr val="F26B43"/>
          </p15:clr>
        </p15:guide>
        <p15:guide id="78" orient="horz" pos="1157" userDrawn="1">
          <p15:clr>
            <a:srgbClr val="A4A3A4"/>
          </p15:clr>
        </p15:guide>
        <p15:guide id="79" orient="horz" pos="1349" userDrawn="1">
          <p15:clr>
            <a:srgbClr val="A4A3A4"/>
          </p15:clr>
        </p15:guide>
        <p15:guide id="80" orient="horz" pos="1541" userDrawn="1">
          <p15:clr>
            <a:srgbClr val="A4A3A4"/>
          </p15:clr>
        </p15:guide>
        <p15:guide id="81" pos="755" userDrawn="1">
          <p15:clr>
            <a:srgbClr val="A4A3A4"/>
          </p15:clr>
        </p15:guide>
        <p15:guide id="82" pos="987" userDrawn="1">
          <p15:clr>
            <a:srgbClr val="A4A3A4"/>
          </p15:clr>
        </p15:guide>
        <p15:guide id="83" pos="1349" userDrawn="1">
          <p15:clr>
            <a:srgbClr val="A4A3A4"/>
          </p15:clr>
        </p15:guide>
        <p15:guide id="84" pos="1584" userDrawn="1">
          <p15:clr>
            <a:srgbClr val="A4A3A4"/>
          </p15:clr>
        </p15:guide>
        <p15:guide id="85" pos="1941" userDrawn="1">
          <p15:clr>
            <a:srgbClr val="A4A3A4"/>
          </p15:clr>
        </p15:guide>
        <p15:guide id="86" pos="2172" userDrawn="1">
          <p15:clr>
            <a:srgbClr val="A4A3A4"/>
          </p15:clr>
        </p15:guide>
        <p15:guide id="87" pos="2536" userDrawn="1">
          <p15:clr>
            <a:srgbClr val="A4A3A4"/>
          </p15:clr>
        </p15:guide>
        <p15:guide id="88" pos="2767" userDrawn="1">
          <p15:clr>
            <a:srgbClr val="A4A3A4"/>
          </p15:clr>
        </p15:guide>
        <p15:guide id="89" pos="3129" userDrawn="1">
          <p15:clr>
            <a:srgbClr val="A4A3A4"/>
          </p15:clr>
        </p15:guide>
        <p15:guide id="90" pos="3359" userDrawn="1">
          <p15:clr>
            <a:srgbClr val="A4A3A4"/>
          </p15:clr>
        </p15:guide>
        <p15:guide id="91" pos="3723" userDrawn="1">
          <p15:clr>
            <a:srgbClr val="A4A3A4"/>
          </p15:clr>
        </p15:guide>
        <p15:guide id="92" pos="3952" userDrawn="1">
          <p15:clr>
            <a:srgbClr val="A4A3A4"/>
          </p15:clr>
        </p15:guide>
        <p15:guide id="93" pos="4316" userDrawn="1">
          <p15:clr>
            <a:srgbClr val="A4A3A4"/>
          </p15:clr>
        </p15:guide>
        <p15:guide id="94" pos="4546" userDrawn="1">
          <p15:clr>
            <a:srgbClr val="A4A3A4"/>
          </p15:clr>
        </p15:guide>
        <p15:guide id="95" pos="4909" userDrawn="1">
          <p15:clr>
            <a:srgbClr val="A4A3A4"/>
          </p15:clr>
        </p15:guide>
        <p15:guide id="96" pos="5139" userDrawn="1">
          <p15:clr>
            <a:srgbClr val="A4A3A4"/>
          </p15:clr>
        </p15:guide>
        <p15:guide id="97" pos="5496" userDrawn="1">
          <p15:clr>
            <a:srgbClr val="A4A3A4"/>
          </p15:clr>
        </p15:guide>
        <p15:guide id="98" pos="5742" userDrawn="1">
          <p15:clr>
            <a:srgbClr val="A4A3A4"/>
          </p15:clr>
        </p15:guide>
        <p15:guide id="99" pos="6360" userDrawn="1">
          <p15:clr>
            <a:srgbClr val="A4A3A4"/>
          </p15:clr>
        </p15:guide>
        <p15:guide id="101" pos="6688" userDrawn="1">
          <p15:clr>
            <a:srgbClr val="A4A3A4"/>
          </p15:clr>
        </p15:guide>
        <p15:guide id="102" pos="6919" userDrawn="1">
          <p15:clr>
            <a:srgbClr val="A4A3A4"/>
          </p15:clr>
        </p15:guide>
        <p15:guide id="103" orient="horz" pos="774" userDrawn="1">
          <p15:clr>
            <a:srgbClr val="A4A3A4"/>
          </p15:clr>
        </p15:guide>
        <p15:guide id="104" orient="horz" pos="966" userDrawn="1">
          <p15:clr>
            <a:srgbClr val="A4A3A4"/>
          </p15:clr>
        </p15:guide>
        <p15:guide id="105" orient="horz" pos="1924" userDrawn="1">
          <p15:clr>
            <a:srgbClr val="A4A3A4"/>
          </p15:clr>
        </p15:guide>
        <p15:guide id="106" orient="horz" pos="2881" userDrawn="1">
          <p15:clr>
            <a:srgbClr val="A4A3A4"/>
          </p15:clr>
        </p15:guide>
        <p15:guide id="107" orient="horz" pos="3073" userDrawn="1">
          <p15:clr>
            <a:srgbClr val="A4A3A4"/>
          </p15:clr>
        </p15:guide>
        <p15:guide id="108" orient="horz" pos="3264" userDrawn="1">
          <p15:clr>
            <a:srgbClr val="A4A3A4"/>
          </p15:clr>
        </p15:guide>
        <p15:guide id="109" orient="horz" pos="3456" userDrawn="1">
          <p15:clr>
            <a:srgbClr val="A4A3A4"/>
          </p15:clr>
        </p15:guide>
        <p15:guide id="110" orient="horz" pos="3648" userDrawn="1">
          <p15:clr>
            <a:srgbClr val="A4A3A4"/>
          </p15:clr>
        </p15:guide>
        <p15:guide id="111" orient="horz" pos="2115" userDrawn="1">
          <p15:clr>
            <a:srgbClr val="A4A3A4"/>
          </p15:clr>
        </p15:guide>
        <p15:guide id="112" orient="horz" pos="3925" userDrawn="1">
          <p15:clr>
            <a:srgbClr val="A4A3A4"/>
          </p15:clr>
        </p15:guide>
        <p15:guide id="113" orient="horz" pos="377" userDrawn="1">
          <p15:clr>
            <a:srgbClr val="9FCC3B"/>
          </p15:clr>
        </p15:guide>
        <p15:guide id="115" pos="870" userDrawn="1">
          <p15:clr>
            <a:srgbClr val="9FCC3B"/>
          </p15:clr>
        </p15:guide>
        <p15:guide id="116" pos="1467" userDrawn="1">
          <p15:clr>
            <a:srgbClr val="9FCC3B"/>
          </p15:clr>
        </p15:guide>
        <p15:guide id="117" pos="2057" userDrawn="1">
          <p15:clr>
            <a:srgbClr val="9FCC3B"/>
          </p15:clr>
        </p15:guide>
        <p15:guide id="118" pos="2650" userDrawn="1">
          <p15:clr>
            <a:srgbClr val="9FCC3B"/>
          </p15:clr>
        </p15:guide>
        <p15:guide id="119" pos="3243" userDrawn="1">
          <p15:clr>
            <a:srgbClr val="9FCC3B"/>
          </p15:clr>
        </p15:guide>
        <p15:guide id="120" pos="4431" userDrawn="1">
          <p15:clr>
            <a:srgbClr val="9FCC3B"/>
          </p15:clr>
        </p15:guide>
        <p15:guide id="121" pos="5024" userDrawn="1">
          <p15:clr>
            <a:srgbClr val="9FCC3B"/>
          </p15:clr>
        </p15:guide>
        <p15:guide id="122" pos="5616" userDrawn="1">
          <p15:clr>
            <a:srgbClr val="9FCC3B"/>
          </p15:clr>
        </p15:guide>
        <p15:guide id="123" pos="6801" userDrawn="1">
          <p15:clr>
            <a:srgbClr val="9FCC3B"/>
          </p15:clr>
        </p15:guide>
        <p15:guide id="124" pos="6210" userDrawn="1">
          <p15:clr>
            <a:srgbClr val="9FCC3B"/>
          </p15:clr>
        </p15:guide>
        <p15:guide id="126" orient="horz" pos="229" userDrawn="1">
          <p15:clr>
            <a:srgbClr val="A4A3A4"/>
          </p15:clr>
        </p15:guide>
        <p15:guide id="127" orient="horz" pos="2498" userDrawn="1">
          <p15:clr>
            <a:srgbClr val="A4A3A4"/>
          </p15:clr>
        </p15:guide>
        <p15:guide id="128" pos="6096"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19.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6.png"/><Relationship Id="rId4" Type="http://schemas.openxmlformats.org/officeDocument/2006/relationships/image" Target="../media/image29.png"/><Relationship Id="rId5" Type="http://schemas.openxmlformats.org/officeDocument/2006/relationships/image" Target="../media/image19.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29.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Scripts + reports in. Build recipe out.</a:t>
            </a:r>
          </a:p>
        </p:txBody>
      </p:sp>
      <p:sp>
        <p:nvSpPr>
          <p:cNvPr id="3" name="TextBox 2"/>
          <p:cNvSpPr txBox="1"/>
          <p:nvPr/>
        </p:nvSpPr>
        <p:spPr>
          <a:xfrm>
            <a:off x="609904" y="256032"/>
            <a:ext cx="10515600" cy="310896"/>
          </a:xfrm>
          <a:prstGeom prst="rect">
            <a:avLst/>
          </a:prstGeom>
          <a:noFill/>
        </p:spPr>
        <p:txBody>
          <a:bodyPr wrap="square" anchor="t" lIns="0" tIns="0" rIns="0" bIns="0">
            <a:noAutofit/>
          </a:bodyPr>
          <a:lstStyle/>
          <a:p>
            <a:pPr algn="l">
              <a:spcAft>
                <a:spcPts val="0"/>
              </a:spcAft>
            </a:pPr>
            <a:r>
              <a:rPr sz="1400" b="0" i="0">
                <a:solidFill>
                  <a:srgbClr val="0A60FF"/>
                </a:solidFill>
                <a:latin typeface="Inter Semi Bold"/>
              </a:rPr>
              <a:t>PLAY 1 · SETUP: DATA &amp; PROMPT</a:t>
            </a:r>
          </a:p>
        </p:txBody>
      </p:sp>
      <p:sp>
        <p:nvSpPr>
          <p:cNvPr id="4" name="Rounded Rectangle 3"/>
          <p:cNvSpPr/>
          <p:nvPr/>
        </p:nvSpPr>
        <p:spPr>
          <a:xfrm>
            <a:off x="609904" y="1371600"/>
            <a:ext cx="3429000" cy="4069080"/>
          </a:xfrm>
          <a:prstGeom prst="roundRect">
            <a:avLst>
              <a:gd name="adj" fmla="val 48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5" name="Oval 4"/>
          <p:cNvSpPr/>
          <p:nvPr/>
        </p:nvSpPr>
        <p:spPr>
          <a:xfrm>
            <a:off x="822960" y="1554480"/>
            <a:ext cx="457200" cy="457200"/>
          </a:xfrm>
          <a:prstGeom prst="ellipse">
            <a:avLst/>
          </a:prstGeom>
          <a:solidFill>
            <a:srgbClr val="0A60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800" b="0" i="0">
                <a:solidFill>
                  <a:srgbClr val="FFFFFF"/>
                </a:solidFill>
                <a:latin typeface="Inter Semi Bold"/>
              </a:rPr>
              <a:t>1</a:t>
            </a:r>
          </a:p>
        </p:txBody>
      </p:sp>
      <p:sp>
        <p:nvSpPr>
          <p:cNvPr id="6" name="TextBox 5"/>
          <p:cNvSpPr txBox="1"/>
          <p:nvPr/>
        </p:nvSpPr>
        <p:spPr>
          <a:xfrm>
            <a:off x="1417320" y="1554480"/>
            <a:ext cx="2560320" cy="457200"/>
          </a:xfrm>
          <a:prstGeom prst="rect">
            <a:avLst/>
          </a:prstGeom>
          <a:noFill/>
        </p:spPr>
        <p:txBody>
          <a:bodyPr wrap="square" anchor="ctr" lIns="0" tIns="0" rIns="0" bIns="0">
            <a:noAutofit/>
          </a:bodyPr>
          <a:lstStyle/>
          <a:p>
            <a:pPr algn="l">
              <a:spcAft>
                <a:spcPts val="0"/>
              </a:spcAft>
            </a:pPr>
            <a:r>
              <a:rPr sz="1500" b="0" i="0">
                <a:solidFill>
                  <a:srgbClr val="6B6B6B"/>
                </a:solidFill>
                <a:latin typeface="Inter Semi Bold"/>
              </a:rPr>
              <a:t>DATA IN</a:t>
            </a:r>
          </a:p>
        </p:txBody>
      </p:sp>
      <p:sp>
        <p:nvSpPr>
          <p:cNvPr id="7" name="TextBox 6"/>
          <p:cNvSpPr txBox="1"/>
          <p:nvPr/>
        </p:nvSpPr>
        <p:spPr>
          <a:xfrm>
            <a:off x="822960" y="2103120"/>
            <a:ext cx="3108960" cy="411480"/>
          </a:xfrm>
          <a:prstGeom prst="rect">
            <a:avLst/>
          </a:prstGeom>
          <a:noFill/>
        </p:spPr>
        <p:txBody>
          <a:bodyPr wrap="none" anchor="t" lIns="0" tIns="0" rIns="0" bIns="0">
            <a:noAutofit/>
          </a:bodyPr>
          <a:lstStyle/>
          <a:p>
            <a:pPr algn="l">
              <a:spcAft>
                <a:spcPts val="0"/>
              </a:spcAft>
            </a:pPr>
            <a:r>
              <a:rPr sz="1800" b="0" i="0">
                <a:solidFill>
                  <a:srgbClr val="0A0A0A"/>
                </a:solidFill>
                <a:latin typeface="Inter Semi Bold"/>
              </a:rPr>
              <a:t>Script + 3 CUIC 15 reports</a:t>
            </a:r>
          </a:p>
        </p:txBody>
      </p:sp>
      <p:sp>
        <p:nvSpPr>
          <p:cNvPr id="8" name="Rounded Rectangle 7"/>
          <p:cNvSpPr/>
          <p:nvPr/>
        </p:nvSpPr>
        <p:spPr>
          <a:xfrm>
            <a:off x="822960" y="2651760"/>
            <a:ext cx="301752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400" b="0" i="0">
                <a:solidFill>
                  <a:srgbClr val="282828"/>
                </a:solidFill>
                <a:latin typeface="Consolas"/>
              </a:rPr>
              <a:t>script.aef / XML</a:t>
            </a:r>
          </a:p>
        </p:txBody>
      </p:sp>
      <p:sp>
        <p:nvSpPr>
          <p:cNvPr id="9" name="Rounded Rectangle 8"/>
          <p:cNvSpPr/>
          <p:nvPr/>
        </p:nvSpPr>
        <p:spPr>
          <a:xfrm>
            <a:off x="822960" y="3273552"/>
            <a:ext cx="301752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400" b="0" i="0">
                <a:solidFill>
                  <a:srgbClr val="282828"/>
                </a:solidFill>
                <a:latin typeface="Consolas"/>
              </a:rPr>
              <a:t>csq_activity.csv</a:t>
            </a:r>
          </a:p>
        </p:txBody>
      </p:sp>
      <p:sp>
        <p:nvSpPr>
          <p:cNvPr id="10" name="Rounded Rectangle 9"/>
          <p:cNvSpPr/>
          <p:nvPr/>
        </p:nvSpPr>
        <p:spPr>
          <a:xfrm>
            <a:off x="822960" y="3895344"/>
            <a:ext cx="301752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400" b="0" i="0">
                <a:solidFill>
                  <a:srgbClr val="282828"/>
                </a:solidFill>
                <a:latin typeface="Consolas"/>
              </a:rPr>
              <a:t>wrapup_reasons.csv</a:t>
            </a:r>
          </a:p>
        </p:txBody>
      </p:sp>
      <p:sp>
        <p:nvSpPr>
          <p:cNvPr id="11" name="Rounded Rectangle 10"/>
          <p:cNvSpPr/>
          <p:nvPr/>
        </p:nvSpPr>
        <p:spPr>
          <a:xfrm>
            <a:off x="822960" y="4517136"/>
            <a:ext cx="301752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400" b="0" i="0">
                <a:solidFill>
                  <a:srgbClr val="282828"/>
                </a:solidFill>
                <a:latin typeface="Consolas"/>
              </a:rPr>
              <a:t>ivr_traffic.csv</a:t>
            </a:r>
          </a:p>
        </p:txBody>
      </p:sp>
      <p:cxnSp>
        <p:nvCxnSpPr>
          <p:cNvPr id="12" name="Connector 11"/>
          <p:cNvCxnSpPr/>
          <p:nvPr/>
        </p:nvCxnSpPr>
        <p:spPr>
          <a:xfrm>
            <a:off x="4087368" y="3401568"/>
            <a:ext cx="320040" cy="0"/>
          </a:xfrm>
          <a:prstGeom prst="line">
            <a:avLst/>
          </a:prstGeom>
          <a:ln w="317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453128" y="1371600"/>
            <a:ext cx="4160520" cy="4069080"/>
          </a:xfrm>
          <a:prstGeom prst="roundRect">
            <a:avLst>
              <a:gd name="adj" fmla="val 4044"/>
            </a:avLst>
          </a:prstGeom>
          <a:solidFill>
            <a:srgbClr val="0A0A0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4" name="Oval 13"/>
          <p:cNvSpPr/>
          <p:nvPr/>
        </p:nvSpPr>
        <p:spPr>
          <a:xfrm>
            <a:off x="4663440" y="1554480"/>
            <a:ext cx="457200" cy="457200"/>
          </a:xfrm>
          <a:prstGeom prst="ellipse">
            <a:avLst/>
          </a:prstGeom>
          <a:solidFill>
            <a:srgbClr val="0A60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800" b="0" i="0">
                <a:solidFill>
                  <a:srgbClr val="FFFFFF"/>
                </a:solidFill>
                <a:latin typeface="Inter Semi Bold"/>
              </a:rPr>
              <a:t>2</a:t>
            </a:r>
          </a:p>
        </p:txBody>
      </p:sp>
      <p:sp>
        <p:nvSpPr>
          <p:cNvPr id="15" name="TextBox 14"/>
          <p:cNvSpPr txBox="1"/>
          <p:nvPr/>
        </p:nvSpPr>
        <p:spPr>
          <a:xfrm>
            <a:off x="5257800" y="1554480"/>
            <a:ext cx="3200400" cy="457200"/>
          </a:xfrm>
          <a:prstGeom prst="rect">
            <a:avLst/>
          </a:prstGeom>
          <a:noFill/>
        </p:spPr>
        <p:txBody>
          <a:bodyPr wrap="square" anchor="ctr" lIns="0" tIns="0" rIns="0" bIns="0">
            <a:noAutofit/>
          </a:bodyPr>
          <a:lstStyle/>
          <a:p>
            <a:pPr algn="l">
              <a:spcAft>
                <a:spcPts val="0"/>
              </a:spcAft>
            </a:pPr>
            <a:r>
              <a:rPr sz="1500" b="0" i="0">
                <a:solidFill>
                  <a:srgbClr val="B4B9C0"/>
                </a:solidFill>
                <a:latin typeface="Inter Semi Bold"/>
              </a:rPr>
              <a:t>MASTER PROMPT</a:t>
            </a:r>
          </a:p>
        </p:txBody>
      </p:sp>
      <p:sp>
        <p:nvSpPr>
          <p:cNvPr id="16" name="TextBox 15"/>
          <p:cNvSpPr txBox="1"/>
          <p:nvPr/>
        </p:nvSpPr>
        <p:spPr>
          <a:xfrm>
            <a:off x="4663440" y="2194560"/>
            <a:ext cx="3840480" cy="3108960"/>
          </a:xfrm>
          <a:prstGeom prst="rect">
            <a:avLst/>
          </a:prstGeom>
          <a:noFill/>
        </p:spPr>
        <p:txBody>
          <a:bodyPr wrap="none" anchor="t" lIns="0" tIns="0" rIns="0" bIns="0">
            <a:noAutofit/>
          </a:bodyPr>
          <a:lstStyle/>
          <a:p>
            <a:pPr algn="l">
              <a:spcAft>
                <a:spcPts val="900"/>
              </a:spcAft>
            </a:pPr>
            <a:r>
              <a:rPr sz="1300" b="0" i="0">
                <a:solidFill>
                  <a:srgbClr val="00C8FF"/>
                </a:solidFill>
                <a:latin typeface="Consolas"/>
              </a:rPr>
              <a:t>ROLE    </a:t>
            </a:r>
            <a:r>
              <a:rPr sz="1300" b="0" i="0">
                <a:solidFill>
                  <a:srgbClr val="FFFFFF"/>
                </a:solidFill>
                <a:latin typeface="Consolas"/>
              </a:rPr>
              <a:t>Principal WxCC architect</a:t>
            </a:r>
          </a:p>
          <a:p>
            <a:pPr algn="l">
              <a:spcAft>
                <a:spcPts val="900"/>
              </a:spcAft>
            </a:pPr>
            <a:r>
              <a:rPr sz="1300" b="0" i="0">
                <a:solidFill>
                  <a:srgbClr val="00C8FF"/>
                </a:solidFill>
                <a:latin typeface="Consolas"/>
              </a:rPr>
              <a:t>MANDATE </a:t>
            </a:r>
            <a:r>
              <a:rPr sz="1300" b="0" i="0">
                <a:solidFill>
                  <a:srgbClr val="FFFFFF"/>
                </a:solidFill>
                <a:latin typeface="Consolas"/>
              </a:rPr>
              <a:t>No 1:1 DTMF ports</a:t>
            </a:r>
          </a:p>
          <a:p>
            <a:pPr algn="l">
              <a:spcAft>
                <a:spcPts val="900"/>
              </a:spcAft>
            </a:pPr>
            <a:r>
              <a:rPr sz="1300" b="0" i="0">
                <a:solidFill>
                  <a:srgbClr val="00C8FF"/>
                </a:solidFill>
                <a:latin typeface="Consolas"/>
              </a:rPr>
              <a:t>FIND    </a:t>
            </a:r>
            <a:r>
              <a:rPr sz="1300" b="0" i="0">
                <a:solidFill>
                  <a:srgbClr val="FFFFFF"/>
                </a:solidFill>
                <a:latin typeface="Consolas"/>
              </a:rPr>
              <a:t>50%+ self-service deflection</a:t>
            </a:r>
          </a:p>
          <a:p>
            <a:pPr algn="l">
              <a:spcAft>
                <a:spcPts val="900"/>
              </a:spcAft>
            </a:pPr>
            <a:r>
              <a:rPr sz="1300" b="0" i="0">
                <a:solidFill>
                  <a:srgbClr val="00C8FF"/>
                </a:solidFill>
                <a:latin typeface="Consolas"/>
              </a:rPr>
              <a:t>        </a:t>
            </a:r>
            <a:r>
              <a:rPr sz="1300" b="0" i="0">
                <a:solidFill>
                  <a:srgbClr val="FFFFFF"/>
                </a:solidFill>
                <a:latin typeface="Consolas"/>
              </a:rPr>
              <a:t>45-60s less wrap-up per call</a:t>
            </a:r>
          </a:p>
          <a:p>
            <a:pPr algn="l">
              <a:spcAft>
                <a:spcPts val="900"/>
              </a:spcAft>
            </a:pPr>
            <a:r>
              <a:rPr sz="1300" b="0" i="0">
                <a:solidFill>
                  <a:srgbClr val="00C8FF"/>
                </a:solidFill>
                <a:latin typeface="Consolas"/>
              </a:rPr>
              <a:t>STACK   </a:t>
            </a:r>
            <a:r>
              <a:rPr sz="1300" b="0" i="0">
                <a:solidFill>
                  <a:srgbClr val="FFFFFF"/>
                </a:solidFill>
                <a:latin typeface="Consolas"/>
              </a:rPr>
              <a:t>AI Agent · AI Assistant</a:t>
            </a:r>
          </a:p>
          <a:p>
            <a:pPr algn="l">
              <a:spcAft>
                <a:spcPts val="900"/>
              </a:spcAft>
            </a:pPr>
            <a:r>
              <a:rPr sz="1300" b="0" i="0">
                <a:solidFill>
                  <a:srgbClr val="00C8FF"/>
                </a:solidFill>
                <a:latin typeface="Consolas"/>
              </a:rPr>
              <a:t>        </a:t>
            </a:r>
            <a:r>
              <a:rPr sz="1300" b="0" i="0">
                <a:solidFill>
                  <a:srgbClr val="FFFFFF"/>
                </a:solidFill>
                <a:latin typeface="Consolas"/>
              </a:rPr>
              <a:t>Flow Designer · skill queues</a:t>
            </a:r>
          </a:p>
          <a:p>
            <a:pPr algn="l">
              <a:spcAft>
                <a:spcPts val="900"/>
              </a:spcAft>
            </a:pPr>
            <a:r>
              <a:rPr sz="1300" b="0" i="0">
                <a:solidFill>
                  <a:srgbClr val="00C8FF"/>
                </a:solidFill>
                <a:latin typeface="Consolas"/>
              </a:rPr>
              <a:t>OUTPUT  </a:t>
            </a:r>
            <a:r>
              <a:rPr sz="1300" b="0" i="0">
                <a:solidFill>
                  <a:srgbClr val="FFFFFF"/>
                </a:solidFill>
                <a:latin typeface="Consolas"/>
              </a:rPr>
              <a:t>Node-by-node recipe</a:t>
            </a:r>
          </a:p>
          <a:p>
            <a:pPr algn="l">
              <a:spcAft>
                <a:spcPts val="900"/>
              </a:spcAft>
            </a:pPr>
            <a:r>
              <a:rPr sz="1300" b="0" i="0">
                <a:solidFill>
                  <a:srgbClr val="00C8FF"/>
                </a:solidFill>
                <a:latin typeface="Consolas"/>
              </a:rPr>
              <a:t>        </a:t>
            </a:r>
            <a:r>
              <a:rPr sz="1300" b="0" i="0">
                <a:solidFill>
                  <a:srgbClr val="FFFFFF"/>
                </a:solidFill>
                <a:latin typeface="Consolas"/>
              </a:rPr>
              <a:t>No brittle JSON ASTs</a:t>
            </a:r>
          </a:p>
        </p:txBody>
      </p:sp>
      <p:cxnSp>
        <p:nvCxnSpPr>
          <p:cNvPr id="17" name="Connector 16"/>
          <p:cNvCxnSpPr/>
          <p:nvPr/>
        </p:nvCxnSpPr>
        <p:spPr>
          <a:xfrm>
            <a:off x="8659368" y="3401568"/>
            <a:ext cx="320040" cy="0"/>
          </a:xfrm>
          <a:prstGeom prst="line">
            <a:avLst/>
          </a:prstGeom>
          <a:ln w="317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025128" y="1371600"/>
            <a:ext cx="2560320" cy="4069080"/>
          </a:xfrm>
          <a:prstGeom prst="roundRect">
            <a:avLst>
              <a:gd name="adj" fmla="val 6428"/>
            </a:avLst>
          </a:prstGeom>
          <a:gradFill rotWithShape="1">
            <a:gsLst>
              <a:gs pos="0">
                <a:srgbClr val="0A60FF"/>
              </a:gs>
              <a:gs pos="100000">
                <a:srgbClr val="FF007F"/>
              </a:gs>
            </a:gsLst>
            <a:lin scaled="0" ang="18900000"/>
          </a:gra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9" name="Oval 18"/>
          <p:cNvSpPr/>
          <p:nvPr/>
        </p:nvSpPr>
        <p:spPr>
          <a:xfrm>
            <a:off x="9235440" y="1554480"/>
            <a:ext cx="457200" cy="457200"/>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800" b="0" i="0">
                <a:solidFill>
                  <a:srgbClr val="0A60FF"/>
                </a:solidFill>
                <a:latin typeface="Inter Semi Bold"/>
              </a:rPr>
              <a:t>3</a:t>
            </a:r>
          </a:p>
        </p:txBody>
      </p:sp>
      <p:sp>
        <p:nvSpPr>
          <p:cNvPr id="20" name="TextBox 19"/>
          <p:cNvSpPr txBox="1"/>
          <p:nvPr/>
        </p:nvSpPr>
        <p:spPr>
          <a:xfrm>
            <a:off x="9829800" y="1554480"/>
            <a:ext cx="1645920" cy="457200"/>
          </a:xfrm>
          <a:prstGeom prst="rect">
            <a:avLst/>
          </a:prstGeom>
          <a:noFill/>
        </p:spPr>
        <p:txBody>
          <a:bodyPr wrap="square" anchor="ctr" lIns="0" tIns="0" rIns="0" bIns="0">
            <a:noAutofit/>
          </a:bodyPr>
          <a:lstStyle/>
          <a:p>
            <a:pPr algn="l">
              <a:spcAft>
                <a:spcPts val="0"/>
              </a:spcAft>
            </a:pPr>
            <a:r>
              <a:rPr sz="1500" b="0" i="0">
                <a:solidFill>
                  <a:srgbClr val="FFFFFF"/>
                </a:solidFill>
                <a:latin typeface="Inter Semi Bold"/>
              </a:rPr>
              <a:t>OUTPUT</a:t>
            </a:r>
          </a:p>
        </p:txBody>
      </p:sp>
      <p:pic>
        <p:nvPicPr>
          <p:cNvPr id="21" name="Picture 20" descr="graph_FFFFFF.png"/>
          <p:cNvPicPr>
            <a:picLocks noChangeAspect="1"/>
          </p:cNvPicPr>
          <p:nvPr/>
        </p:nvPicPr>
        <p:blipFill>
          <a:blip r:embed="rId2"/>
          <a:stretch>
            <a:fillRect/>
          </a:stretch>
        </p:blipFill>
        <p:spPr>
          <a:xfrm>
            <a:off x="9235440" y="2240280"/>
            <a:ext cx="457200" cy="457200"/>
          </a:xfrm>
          <a:prstGeom prst="rect">
            <a:avLst/>
          </a:prstGeom>
        </p:spPr>
      </p:pic>
      <p:sp>
        <p:nvSpPr>
          <p:cNvPr id="22" name="TextBox 21"/>
          <p:cNvSpPr txBox="1"/>
          <p:nvPr/>
        </p:nvSpPr>
        <p:spPr>
          <a:xfrm>
            <a:off x="9829800" y="2148840"/>
            <a:ext cx="1691640" cy="868680"/>
          </a:xfrm>
          <a:prstGeom prst="rect">
            <a:avLst/>
          </a:prstGeom>
          <a:noFill/>
        </p:spPr>
        <p:txBody>
          <a:bodyPr wrap="square" anchor="t" lIns="0" tIns="0" rIns="0" bIns="0">
            <a:noAutofit/>
          </a:bodyPr>
          <a:lstStyle/>
          <a:p>
            <a:pPr algn="l">
              <a:lnSpc>
                <a:spcPct val="95000"/>
              </a:lnSpc>
              <a:spcAft>
                <a:spcPts val="0"/>
              </a:spcAft>
            </a:pPr>
            <a:r>
              <a:rPr sz="1600" b="0" i="0">
                <a:solidFill>
                  <a:srgbClr val="FFFFFF"/>
                </a:solidFill>
                <a:latin typeface="Inter Semi Bold"/>
              </a:rPr>
              <a:t>Flow Designer recipe</a:t>
            </a:r>
          </a:p>
        </p:txBody>
      </p:sp>
      <p:pic>
        <p:nvPicPr>
          <p:cNvPr id="23" name="Picture 22" descr="cc_ai_FFFFFF.png"/>
          <p:cNvPicPr>
            <a:picLocks noChangeAspect="1"/>
          </p:cNvPicPr>
          <p:nvPr/>
        </p:nvPicPr>
        <p:blipFill>
          <a:blip r:embed="rId3"/>
          <a:stretch>
            <a:fillRect/>
          </a:stretch>
        </p:blipFill>
        <p:spPr>
          <a:xfrm>
            <a:off x="9235440" y="3264408"/>
            <a:ext cx="457200" cy="457200"/>
          </a:xfrm>
          <a:prstGeom prst="rect">
            <a:avLst/>
          </a:prstGeom>
        </p:spPr>
      </p:pic>
      <p:sp>
        <p:nvSpPr>
          <p:cNvPr id="24" name="TextBox 23"/>
          <p:cNvSpPr txBox="1"/>
          <p:nvPr/>
        </p:nvSpPr>
        <p:spPr>
          <a:xfrm>
            <a:off x="9829800" y="3172968"/>
            <a:ext cx="1691640" cy="868680"/>
          </a:xfrm>
          <a:prstGeom prst="rect">
            <a:avLst/>
          </a:prstGeom>
          <a:noFill/>
        </p:spPr>
        <p:txBody>
          <a:bodyPr wrap="square" anchor="t" lIns="0" tIns="0" rIns="0" bIns="0">
            <a:noAutofit/>
          </a:bodyPr>
          <a:lstStyle/>
          <a:p>
            <a:pPr algn="l">
              <a:lnSpc>
                <a:spcPct val="95000"/>
              </a:lnSpc>
              <a:spcAft>
                <a:spcPts val="0"/>
              </a:spcAft>
            </a:pPr>
            <a:r>
              <a:rPr sz="1600" b="0" i="0">
                <a:solidFill>
                  <a:srgbClr val="FFFFFF"/>
                </a:solidFill>
                <a:latin typeface="Inter Semi Bold"/>
              </a:rPr>
              <a:t>AI Agent system prompts</a:t>
            </a:r>
          </a:p>
        </p:txBody>
      </p:sp>
      <p:pic>
        <p:nvPicPr>
          <p:cNvPr id="25" name="Picture 24" descr="analytics_FFFFFF.png"/>
          <p:cNvPicPr>
            <a:picLocks noChangeAspect="1"/>
          </p:cNvPicPr>
          <p:nvPr/>
        </p:nvPicPr>
        <p:blipFill>
          <a:blip r:embed="rId4"/>
          <a:stretch>
            <a:fillRect/>
          </a:stretch>
        </p:blipFill>
        <p:spPr>
          <a:xfrm>
            <a:off x="9235440" y="4288536"/>
            <a:ext cx="457200" cy="457200"/>
          </a:xfrm>
          <a:prstGeom prst="rect">
            <a:avLst/>
          </a:prstGeom>
        </p:spPr>
      </p:pic>
      <p:sp>
        <p:nvSpPr>
          <p:cNvPr id="26" name="TextBox 25"/>
          <p:cNvSpPr txBox="1"/>
          <p:nvPr/>
        </p:nvSpPr>
        <p:spPr>
          <a:xfrm>
            <a:off x="9829800" y="4197096"/>
            <a:ext cx="1691640" cy="868680"/>
          </a:xfrm>
          <a:prstGeom prst="rect">
            <a:avLst/>
          </a:prstGeom>
          <a:noFill/>
        </p:spPr>
        <p:txBody>
          <a:bodyPr wrap="square" anchor="t" lIns="0" tIns="0" rIns="0" bIns="0">
            <a:noAutofit/>
          </a:bodyPr>
          <a:lstStyle/>
          <a:p>
            <a:pPr algn="l">
              <a:lnSpc>
                <a:spcPct val="95000"/>
              </a:lnSpc>
              <a:spcAft>
                <a:spcPts val="0"/>
              </a:spcAft>
            </a:pPr>
            <a:r>
              <a:rPr sz="1600" b="0" i="0">
                <a:solidFill>
                  <a:srgbClr val="FFFFFF"/>
                </a:solidFill>
                <a:latin typeface="Inter Semi Bold"/>
              </a:rPr>
              <a:t>Deflection targets</a:t>
            </a:r>
          </a:p>
        </p:txBody>
      </p:sp>
      <p:sp>
        <p:nvSpPr>
          <p:cNvPr id="27" name="Rounded Rectangle 26"/>
          <p:cNvSpPr/>
          <p:nvPr/>
        </p:nvSpPr>
        <p:spPr>
          <a:xfrm>
            <a:off x="609904" y="5596128"/>
            <a:ext cx="5120640" cy="566928"/>
          </a:xfrm>
          <a:prstGeom prst="roundRect">
            <a:avLst>
              <a:gd name="adj" fmla="val 50000"/>
            </a:avLst>
          </a:prstGeom>
          <a:solidFill>
            <a:srgbClr val="FFFFFF"/>
          </a:solidFill>
          <a:ln w="19050">
            <a:solidFill>
              <a:srgbClr val="FF007F"/>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28" name="Picture 27" descr="privacy_FF007F.png"/>
          <p:cNvPicPr>
            <a:picLocks noChangeAspect="1"/>
          </p:cNvPicPr>
          <p:nvPr/>
        </p:nvPicPr>
        <p:blipFill>
          <a:blip r:embed="rId5"/>
          <a:stretch>
            <a:fillRect/>
          </a:stretch>
        </p:blipFill>
        <p:spPr>
          <a:xfrm>
            <a:off x="777240" y="5669280"/>
            <a:ext cx="420624" cy="420624"/>
          </a:xfrm>
          <a:prstGeom prst="rect">
            <a:avLst/>
          </a:prstGeom>
        </p:spPr>
      </p:pic>
      <p:sp>
        <p:nvSpPr>
          <p:cNvPr id="29" name="TextBox 28"/>
          <p:cNvSpPr txBox="1"/>
          <p:nvPr/>
        </p:nvSpPr>
        <p:spPr>
          <a:xfrm>
            <a:off x="1325880" y="5596128"/>
            <a:ext cx="4343400" cy="566928"/>
          </a:xfrm>
          <a:prstGeom prst="rect">
            <a:avLst/>
          </a:prstGeom>
          <a:noFill/>
        </p:spPr>
        <p:txBody>
          <a:bodyPr wrap="none" anchor="ctr" lIns="0" tIns="0" rIns="0" bIns="0">
            <a:noAutofit/>
          </a:bodyPr>
          <a:lstStyle/>
          <a:p>
            <a:pPr algn="l">
              <a:spcAft>
                <a:spcPts val="0"/>
              </a:spcAft>
            </a:pPr>
            <a:r>
              <a:rPr sz="1500" b="0" i="0">
                <a:solidFill>
                  <a:srgbClr val="FF007F"/>
                </a:solidFill>
                <a:latin typeface="Inter Semi Bold"/>
              </a:rPr>
              <a:t>Sanitize  </a:t>
            </a:r>
            <a:r>
              <a:rPr sz="1500" b="0" i="0">
                <a:solidFill>
                  <a:srgbClr val="282828"/>
                </a:solidFill>
                <a:latin typeface="Inter Semi Bold"/>
              </a:rPr>
              <a:t>PII, account #s, DB passwords</a:t>
            </a:r>
          </a:p>
        </p:txBody>
      </p:sp>
      <p:sp>
        <p:nvSpPr>
          <p:cNvPr id="30" name="Rounded Rectangle 29"/>
          <p:cNvSpPr/>
          <p:nvPr/>
        </p:nvSpPr>
        <p:spPr>
          <a:xfrm>
            <a:off x="5916168" y="5596128"/>
            <a:ext cx="5669280" cy="566928"/>
          </a:xfrm>
          <a:prstGeom prst="roundRect">
            <a:avLst>
              <a:gd name="adj" fmla="val 50000"/>
            </a:avLst>
          </a:prstGeom>
          <a:solidFill>
            <a:srgbClr val="0A0A0A"/>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45720" tIns="0" rIns="45720" bIns="0">
            <a:noAutofit/>
          </a:bodyPr>
          <a:lstStyle/>
          <a:p>
            <a:pPr algn="ctr">
              <a:spcAft>
                <a:spcPts val="0"/>
              </a:spcAft>
            </a:pPr>
            <a:r>
              <a:rPr sz="1600" b="0" i="0">
                <a:solidFill>
                  <a:srgbClr val="FFFFFF"/>
                </a:solidFill>
                <a:latin typeface="Inter Semi Bold"/>
              </a:rPr>
              <a:t>Raw .aef + CUIC CSVs → 50%+ AI deflection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UCCX: not a port. A transformation.</a:t>
            </a:r>
          </a:p>
        </p:txBody>
      </p:sp>
      <p:sp>
        <p:nvSpPr>
          <p:cNvPr id="3" name="TextBox 2"/>
          <p:cNvSpPr txBox="1"/>
          <p:nvPr/>
        </p:nvSpPr>
        <p:spPr>
          <a:xfrm>
            <a:off x="609904" y="256032"/>
            <a:ext cx="10515600" cy="310896"/>
          </a:xfrm>
          <a:prstGeom prst="rect">
            <a:avLst/>
          </a:prstGeom>
          <a:noFill/>
        </p:spPr>
        <p:txBody>
          <a:bodyPr wrap="square" anchor="t" lIns="0" tIns="0" rIns="0" bIns="0">
            <a:noAutofit/>
          </a:bodyPr>
          <a:lstStyle/>
          <a:p>
            <a:pPr algn="l">
              <a:spcAft>
                <a:spcPts val="0"/>
              </a:spcAft>
            </a:pPr>
            <a:r>
              <a:rPr sz="1400" b="0" i="0">
                <a:solidFill>
                  <a:srgbClr val="0A60FF"/>
                </a:solidFill>
                <a:latin typeface="Inter Semi Bold"/>
              </a:rPr>
              <a:t>PLAY 1 · WHAT WE LEARNED</a:t>
            </a:r>
          </a:p>
        </p:txBody>
      </p:sp>
      <p:sp>
        <p:nvSpPr>
          <p:cNvPr id="4" name="Rounded Rectangle 3"/>
          <p:cNvSpPr/>
          <p:nvPr/>
        </p:nvSpPr>
        <p:spPr>
          <a:xfrm>
            <a:off x="609904" y="1371600"/>
            <a:ext cx="3383280" cy="4114800"/>
          </a:xfrm>
          <a:prstGeom prst="roundRect">
            <a:avLst>
              <a:gd name="adj" fmla="val 4864"/>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5" name="TextBox 4"/>
          <p:cNvSpPr txBox="1"/>
          <p:nvPr/>
        </p:nvSpPr>
        <p:spPr>
          <a:xfrm>
            <a:off x="868680" y="1536192"/>
            <a:ext cx="2926080" cy="365760"/>
          </a:xfrm>
          <a:prstGeom prst="rect">
            <a:avLst/>
          </a:prstGeom>
          <a:noFill/>
        </p:spPr>
        <p:txBody>
          <a:bodyPr wrap="square" anchor="t" lIns="0" tIns="0" rIns="0" bIns="0">
            <a:noAutofit/>
          </a:bodyPr>
          <a:lstStyle/>
          <a:p>
            <a:pPr algn="l">
              <a:spcAft>
                <a:spcPts val="0"/>
              </a:spcAft>
            </a:pPr>
            <a:r>
              <a:rPr sz="1500" b="0" i="0">
                <a:solidFill>
                  <a:srgbClr val="6B6B6B"/>
                </a:solidFill>
                <a:latin typeface="Inter Semi Bold"/>
              </a:rPr>
              <a:t>PURGED</a:t>
            </a:r>
          </a:p>
        </p:txBody>
      </p:sp>
      <p:sp>
        <p:nvSpPr>
          <p:cNvPr id="6" name="Rounded Rectangle 5"/>
          <p:cNvSpPr/>
          <p:nvPr/>
        </p:nvSpPr>
        <p:spPr>
          <a:xfrm>
            <a:off x="868680" y="2011680"/>
            <a:ext cx="2880360" cy="914400"/>
          </a:xfrm>
          <a:prstGeom prst="roundRect">
            <a:avLst>
              <a:gd name="adj" fmla="val 12000"/>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7" name="Oval 6"/>
          <p:cNvSpPr/>
          <p:nvPr/>
        </p:nvSpPr>
        <p:spPr>
          <a:xfrm>
            <a:off x="987552" y="2304288"/>
            <a:ext cx="329184" cy="329184"/>
          </a:xfrm>
          <a:prstGeom prst="ellipse">
            <a:avLst/>
          </a:prstGeom>
          <a:solidFill>
            <a:srgbClr val="B4B9C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200" b="0" i="0">
                <a:solidFill>
                  <a:srgbClr val="FFFFFF"/>
                </a:solidFill>
                <a:latin typeface="Inter Semi Bold"/>
              </a:rPr>
              <a:t>✕</a:t>
            </a:r>
          </a:p>
        </p:txBody>
      </p:sp>
      <p:sp>
        <p:nvSpPr>
          <p:cNvPr id="8" name="TextBox 7"/>
          <p:cNvSpPr txBox="1"/>
          <p:nvPr/>
        </p:nvSpPr>
        <p:spPr>
          <a:xfrm>
            <a:off x="1444752" y="2011680"/>
            <a:ext cx="2240280" cy="914400"/>
          </a:xfrm>
          <a:prstGeom prst="rect">
            <a:avLst/>
          </a:prstGeom>
          <a:noFill/>
        </p:spPr>
        <p:txBody>
          <a:bodyPr wrap="square" anchor="ctr" lIns="0" tIns="0" rIns="0" bIns="0">
            <a:noAutofit/>
          </a:bodyPr>
          <a:lstStyle/>
          <a:p>
            <a:pPr algn="l">
              <a:lnSpc>
                <a:spcPct val="95000"/>
              </a:lnSpc>
              <a:spcAft>
                <a:spcPts val="0"/>
              </a:spcAft>
            </a:pPr>
            <a:r>
              <a:rPr sz="1600" b="0" i="0" strike="sngStrike">
                <a:solidFill>
                  <a:srgbClr val="6B6B6B"/>
                </a:solidFill>
                <a:latin typeface="Inter Semi Bold"/>
              </a:rPr>
              <a:t>4-level touch-tone tree</a:t>
            </a:r>
          </a:p>
        </p:txBody>
      </p:sp>
      <p:sp>
        <p:nvSpPr>
          <p:cNvPr id="9" name="Rounded Rectangle 8"/>
          <p:cNvSpPr/>
          <p:nvPr/>
        </p:nvSpPr>
        <p:spPr>
          <a:xfrm>
            <a:off x="868680" y="3127248"/>
            <a:ext cx="2880360" cy="914400"/>
          </a:xfrm>
          <a:prstGeom prst="roundRect">
            <a:avLst>
              <a:gd name="adj" fmla="val 12000"/>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0" name="Oval 9"/>
          <p:cNvSpPr/>
          <p:nvPr/>
        </p:nvSpPr>
        <p:spPr>
          <a:xfrm>
            <a:off x="987552" y="3419856"/>
            <a:ext cx="329184" cy="329184"/>
          </a:xfrm>
          <a:prstGeom prst="ellipse">
            <a:avLst/>
          </a:prstGeom>
          <a:solidFill>
            <a:srgbClr val="B4B9C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200" b="0" i="0">
                <a:solidFill>
                  <a:srgbClr val="FFFFFF"/>
                </a:solidFill>
                <a:latin typeface="Inter Semi Bold"/>
              </a:rPr>
              <a:t>✕</a:t>
            </a:r>
          </a:p>
        </p:txBody>
      </p:sp>
      <p:sp>
        <p:nvSpPr>
          <p:cNvPr id="11" name="TextBox 10"/>
          <p:cNvSpPr txBox="1"/>
          <p:nvPr/>
        </p:nvSpPr>
        <p:spPr>
          <a:xfrm>
            <a:off x="1444752" y="3127248"/>
            <a:ext cx="2240280" cy="914400"/>
          </a:xfrm>
          <a:prstGeom prst="rect">
            <a:avLst/>
          </a:prstGeom>
          <a:noFill/>
        </p:spPr>
        <p:txBody>
          <a:bodyPr wrap="square" anchor="ctr" lIns="0" tIns="0" rIns="0" bIns="0">
            <a:noAutofit/>
          </a:bodyPr>
          <a:lstStyle/>
          <a:p>
            <a:pPr algn="l">
              <a:lnSpc>
                <a:spcPct val="95000"/>
              </a:lnSpc>
              <a:spcAft>
                <a:spcPts val="0"/>
              </a:spcAft>
            </a:pPr>
            <a:r>
              <a:rPr sz="1600" b="0" i="0" strike="sngStrike">
                <a:solidFill>
                  <a:srgbClr val="6B6B6B"/>
                </a:solidFill>
                <a:latin typeface="Inter Semi Bold"/>
              </a:rPr>
              <a:t>Hard-coded Java REST steps</a:t>
            </a:r>
          </a:p>
        </p:txBody>
      </p:sp>
      <p:sp>
        <p:nvSpPr>
          <p:cNvPr id="12" name="Rounded Rectangle 11"/>
          <p:cNvSpPr/>
          <p:nvPr/>
        </p:nvSpPr>
        <p:spPr>
          <a:xfrm>
            <a:off x="868680" y="4242816"/>
            <a:ext cx="2880360" cy="914400"/>
          </a:xfrm>
          <a:prstGeom prst="roundRect">
            <a:avLst>
              <a:gd name="adj" fmla="val 12000"/>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3" name="Oval 12"/>
          <p:cNvSpPr/>
          <p:nvPr/>
        </p:nvSpPr>
        <p:spPr>
          <a:xfrm>
            <a:off x="987552" y="4535424"/>
            <a:ext cx="329184" cy="329184"/>
          </a:xfrm>
          <a:prstGeom prst="ellipse">
            <a:avLst/>
          </a:prstGeom>
          <a:solidFill>
            <a:srgbClr val="B4B9C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200" b="0" i="0">
                <a:solidFill>
                  <a:srgbClr val="FFFFFF"/>
                </a:solidFill>
                <a:latin typeface="Inter Semi Bold"/>
              </a:rPr>
              <a:t>✕</a:t>
            </a:r>
          </a:p>
        </p:txBody>
      </p:sp>
      <p:sp>
        <p:nvSpPr>
          <p:cNvPr id="14" name="TextBox 13"/>
          <p:cNvSpPr txBox="1"/>
          <p:nvPr/>
        </p:nvSpPr>
        <p:spPr>
          <a:xfrm>
            <a:off x="1444752" y="4242816"/>
            <a:ext cx="2240280" cy="914400"/>
          </a:xfrm>
          <a:prstGeom prst="rect">
            <a:avLst/>
          </a:prstGeom>
          <a:noFill/>
        </p:spPr>
        <p:txBody>
          <a:bodyPr wrap="square" anchor="ctr" lIns="0" tIns="0" rIns="0" bIns="0">
            <a:noAutofit/>
          </a:bodyPr>
          <a:lstStyle/>
          <a:p>
            <a:pPr algn="l">
              <a:lnSpc>
                <a:spcPct val="95000"/>
              </a:lnSpc>
              <a:spcAft>
                <a:spcPts val="0"/>
              </a:spcAft>
            </a:pPr>
            <a:r>
              <a:rPr sz="1600" b="0" i="0" strike="sngStrike">
                <a:solidFill>
                  <a:srgbClr val="6B6B6B"/>
                </a:solidFill>
                <a:latin typeface="Inter Semi Bold"/>
              </a:rPr>
              <a:t>45-60s manual wrap-up</a:t>
            </a:r>
          </a:p>
        </p:txBody>
      </p:sp>
      <p:sp>
        <p:nvSpPr>
          <p:cNvPr id="15" name="Right Arrow 14"/>
          <p:cNvSpPr/>
          <p:nvPr/>
        </p:nvSpPr>
        <p:spPr>
          <a:xfrm>
            <a:off x="4087368" y="3017520"/>
            <a:ext cx="502920" cy="777240"/>
          </a:xfrm>
          <a:prstGeom prst="rightArrow">
            <a:avLst/>
          </a:prstGeom>
          <a:gradFill rotWithShape="1">
            <a:gsLst>
              <a:gs pos="0">
                <a:srgbClr val="0A60FF"/>
              </a:gs>
              <a:gs pos="100000">
                <a:srgbClr val="FF007F"/>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6" name="Rounded Rectangle 15"/>
          <p:cNvSpPr/>
          <p:nvPr/>
        </p:nvSpPr>
        <p:spPr>
          <a:xfrm>
            <a:off x="4681728" y="1371600"/>
            <a:ext cx="3657600" cy="4114800"/>
          </a:xfrm>
          <a:prstGeom prst="roundRect">
            <a:avLst>
              <a:gd name="adj" fmla="val 4500"/>
            </a:avLst>
          </a:prstGeom>
          <a:gradFill rotWithShape="1">
            <a:gsLst>
              <a:gs pos="0">
                <a:srgbClr val="0A60FF"/>
              </a:gs>
              <a:gs pos="100000">
                <a:srgbClr val="FF007F"/>
              </a:gs>
            </a:gsLst>
            <a:lin scaled="0" ang="18900000"/>
          </a:gra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7" name="TextBox 16"/>
          <p:cNvSpPr txBox="1"/>
          <p:nvPr/>
        </p:nvSpPr>
        <p:spPr>
          <a:xfrm>
            <a:off x="4937760" y="1536192"/>
            <a:ext cx="3200400" cy="365760"/>
          </a:xfrm>
          <a:prstGeom prst="rect">
            <a:avLst/>
          </a:prstGeom>
          <a:noFill/>
        </p:spPr>
        <p:txBody>
          <a:bodyPr wrap="square" anchor="t" lIns="0" tIns="0" rIns="0" bIns="0">
            <a:noAutofit/>
          </a:bodyPr>
          <a:lstStyle/>
          <a:p>
            <a:pPr algn="l">
              <a:spcAft>
                <a:spcPts val="0"/>
              </a:spcAft>
            </a:pPr>
            <a:r>
              <a:rPr sz="1500" b="0" i="0">
                <a:solidFill>
                  <a:srgbClr val="FFFFFF"/>
                </a:solidFill>
                <a:latin typeface="Inter Semi Bold"/>
              </a:rPr>
              <a:t>BUILT ON WEBEX</a:t>
            </a:r>
          </a:p>
        </p:txBody>
      </p:sp>
      <p:sp>
        <p:nvSpPr>
          <p:cNvPr id="18" name="Rounded Rectangle 17"/>
          <p:cNvSpPr/>
          <p:nvPr/>
        </p:nvSpPr>
        <p:spPr>
          <a:xfrm>
            <a:off x="4937760" y="2011680"/>
            <a:ext cx="3154680" cy="9144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19" name="Picture 18" descr="cc_ai_0A60FF.png"/>
          <p:cNvPicPr>
            <a:picLocks noChangeAspect="1"/>
          </p:cNvPicPr>
          <p:nvPr/>
        </p:nvPicPr>
        <p:blipFill>
          <a:blip r:embed="rId2"/>
          <a:stretch>
            <a:fillRect/>
          </a:stretch>
        </p:blipFill>
        <p:spPr>
          <a:xfrm>
            <a:off x="5074920" y="2240280"/>
            <a:ext cx="457200" cy="457200"/>
          </a:xfrm>
          <a:prstGeom prst="rect">
            <a:avLst/>
          </a:prstGeom>
        </p:spPr>
      </p:pic>
      <p:sp>
        <p:nvSpPr>
          <p:cNvPr id="20" name="TextBox 19"/>
          <p:cNvSpPr txBox="1"/>
          <p:nvPr/>
        </p:nvSpPr>
        <p:spPr>
          <a:xfrm>
            <a:off x="5669280" y="2103120"/>
            <a:ext cx="2377440" cy="411480"/>
          </a:xfrm>
          <a:prstGeom prst="rect">
            <a:avLst/>
          </a:prstGeom>
          <a:noFill/>
        </p:spPr>
        <p:txBody>
          <a:bodyPr wrap="none" anchor="t" lIns="0" tIns="0" rIns="0" bIns="0">
            <a:noAutofit/>
          </a:bodyPr>
          <a:lstStyle/>
          <a:p>
            <a:pPr algn="l">
              <a:spcAft>
                <a:spcPts val="0"/>
              </a:spcAft>
            </a:pPr>
            <a:r>
              <a:rPr sz="1700" b="0" i="0">
                <a:solidFill>
                  <a:srgbClr val="0A0A0A"/>
                </a:solidFill>
                <a:latin typeface="Inter Semi Bold"/>
              </a:rPr>
              <a:t>Webex AI Agent</a:t>
            </a:r>
          </a:p>
        </p:txBody>
      </p:sp>
      <p:sp>
        <p:nvSpPr>
          <p:cNvPr id="21" name="TextBox 20"/>
          <p:cNvSpPr txBox="1"/>
          <p:nvPr/>
        </p:nvSpPr>
        <p:spPr>
          <a:xfrm>
            <a:off x="5669280" y="2468880"/>
            <a:ext cx="2377440" cy="411480"/>
          </a:xfrm>
          <a:prstGeom prst="rect">
            <a:avLst/>
          </a:prstGeom>
          <a:noFill/>
        </p:spPr>
        <p:txBody>
          <a:bodyPr wrap="square" anchor="t" lIns="0" tIns="0" rIns="0" bIns="0">
            <a:noAutofit/>
          </a:bodyPr>
          <a:lstStyle/>
          <a:p>
            <a:pPr algn="l">
              <a:lnSpc>
                <a:spcPct val="95000"/>
              </a:lnSpc>
              <a:spcAft>
                <a:spcPts val="0"/>
              </a:spcAft>
            </a:pPr>
            <a:r>
              <a:rPr sz="1300" b="0" i="0">
                <a:solidFill>
                  <a:srgbClr val="6B6B6B"/>
                </a:solidFill>
                <a:latin typeface="Inter"/>
              </a:rPr>
              <a:t>Loans · rates · resets + SMS</a:t>
            </a:r>
          </a:p>
        </p:txBody>
      </p:sp>
      <p:sp>
        <p:nvSpPr>
          <p:cNvPr id="22" name="Rounded Rectangle 21"/>
          <p:cNvSpPr/>
          <p:nvPr/>
        </p:nvSpPr>
        <p:spPr>
          <a:xfrm>
            <a:off x="4937760" y="3127248"/>
            <a:ext cx="3154680" cy="9144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23" name="Picture 22" descr="headset_0A60FF.png"/>
          <p:cNvPicPr>
            <a:picLocks noChangeAspect="1"/>
          </p:cNvPicPr>
          <p:nvPr/>
        </p:nvPicPr>
        <p:blipFill>
          <a:blip r:embed="rId3"/>
          <a:stretch>
            <a:fillRect/>
          </a:stretch>
        </p:blipFill>
        <p:spPr>
          <a:xfrm>
            <a:off x="5074920" y="3355848"/>
            <a:ext cx="457200" cy="457200"/>
          </a:xfrm>
          <a:prstGeom prst="rect">
            <a:avLst/>
          </a:prstGeom>
        </p:spPr>
      </p:pic>
      <p:sp>
        <p:nvSpPr>
          <p:cNvPr id="24" name="TextBox 23"/>
          <p:cNvSpPr txBox="1"/>
          <p:nvPr/>
        </p:nvSpPr>
        <p:spPr>
          <a:xfrm>
            <a:off x="5669280" y="3218688"/>
            <a:ext cx="2377440" cy="411480"/>
          </a:xfrm>
          <a:prstGeom prst="rect">
            <a:avLst/>
          </a:prstGeom>
          <a:noFill/>
        </p:spPr>
        <p:txBody>
          <a:bodyPr wrap="none" anchor="t" lIns="0" tIns="0" rIns="0" bIns="0">
            <a:noAutofit/>
          </a:bodyPr>
          <a:lstStyle/>
          <a:p>
            <a:pPr algn="l">
              <a:spcAft>
                <a:spcPts val="0"/>
              </a:spcAft>
            </a:pPr>
            <a:r>
              <a:rPr sz="1700" b="0" i="0">
                <a:solidFill>
                  <a:srgbClr val="0A0A0A"/>
                </a:solidFill>
                <a:latin typeface="Inter Semi Bold"/>
              </a:rPr>
              <a:t>Webex AI Assistant</a:t>
            </a:r>
          </a:p>
        </p:txBody>
      </p:sp>
      <p:sp>
        <p:nvSpPr>
          <p:cNvPr id="25" name="TextBox 24"/>
          <p:cNvSpPr txBox="1"/>
          <p:nvPr/>
        </p:nvSpPr>
        <p:spPr>
          <a:xfrm>
            <a:off x="5669280" y="3584448"/>
            <a:ext cx="2377440" cy="411480"/>
          </a:xfrm>
          <a:prstGeom prst="rect">
            <a:avLst/>
          </a:prstGeom>
          <a:noFill/>
        </p:spPr>
        <p:txBody>
          <a:bodyPr wrap="square" anchor="t" lIns="0" tIns="0" rIns="0" bIns="0">
            <a:noAutofit/>
          </a:bodyPr>
          <a:lstStyle/>
          <a:p>
            <a:pPr algn="l">
              <a:lnSpc>
                <a:spcPct val="95000"/>
              </a:lnSpc>
              <a:spcAft>
                <a:spcPts val="0"/>
              </a:spcAft>
            </a:pPr>
            <a:r>
              <a:rPr sz="1300" b="0" i="0">
                <a:solidFill>
                  <a:srgbClr val="6B6B6B"/>
                </a:solidFill>
                <a:latin typeface="Inter"/>
              </a:rPr>
              <a:t>Screen pop · sentiment · GenAI wrap-up</a:t>
            </a:r>
          </a:p>
        </p:txBody>
      </p:sp>
      <p:sp>
        <p:nvSpPr>
          <p:cNvPr id="26" name="Rounded Rectangle 25"/>
          <p:cNvSpPr/>
          <p:nvPr/>
        </p:nvSpPr>
        <p:spPr>
          <a:xfrm>
            <a:off x="4937760" y="4242816"/>
            <a:ext cx="3154680" cy="9144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27" name="Picture 26" descr="graph_0A60FF.png"/>
          <p:cNvPicPr>
            <a:picLocks noChangeAspect="1"/>
          </p:cNvPicPr>
          <p:nvPr/>
        </p:nvPicPr>
        <p:blipFill>
          <a:blip r:embed="rId4"/>
          <a:stretch>
            <a:fillRect/>
          </a:stretch>
        </p:blipFill>
        <p:spPr>
          <a:xfrm>
            <a:off x="5074920" y="4471416"/>
            <a:ext cx="457200" cy="457200"/>
          </a:xfrm>
          <a:prstGeom prst="rect">
            <a:avLst/>
          </a:prstGeom>
        </p:spPr>
      </p:pic>
      <p:sp>
        <p:nvSpPr>
          <p:cNvPr id="28" name="TextBox 27"/>
          <p:cNvSpPr txBox="1"/>
          <p:nvPr/>
        </p:nvSpPr>
        <p:spPr>
          <a:xfrm>
            <a:off x="5669280" y="4334256"/>
            <a:ext cx="2377440" cy="411480"/>
          </a:xfrm>
          <a:prstGeom prst="rect">
            <a:avLst/>
          </a:prstGeom>
          <a:noFill/>
        </p:spPr>
        <p:txBody>
          <a:bodyPr wrap="none" anchor="t" lIns="0" tIns="0" rIns="0" bIns="0">
            <a:noAutofit/>
          </a:bodyPr>
          <a:lstStyle/>
          <a:p>
            <a:pPr algn="l">
              <a:spcAft>
                <a:spcPts val="0"/>
              </a:spcAft>
            </a:pPr>
            <a:r>
              <a:rPr sz="1700" b="0" i="0">
                <a:solidFill>
                  <a:srgbClr val="0A0A0A"/>
                </a:solidFill>
                <a:latin typeface="Inter Semi Bold"/>
              </a:rPr>
              <a:t>8-node Flow recipe</a:t>
            </a:r>
          </a:p>
        </p:txBody>
      </p:sp>
      <p:sp>
        <p:nvSpPr>
          <p:cNvPr id="29" name="TextBox 28"/>
          <p:cNvSpPr txBox="1"/>
          <p:nvPr/>
        </p:nvSpPr>
        <p:spPr>
          <a:xfrm>
            <a:off x="5669280" y="4700016"/>
            <a:ext cx="2377440" cy="411480"/>
          </a:xfrm>
          <a:prstGeom prst="rect">
            <a:avLst/>
          </a:prstGeom>
          <a:noFill/>
        </p:spPr>
        <p:txBody>
          <a:bodyPr wrap="square" anchor="t" lIns="0" tIns="0" rIns="0" bIns="0">
            <a:noAutofit/>
          </a:bodyPr>
          <a:lstStyle/>
          <a:p>
            <a:pPr algn="l">
              <a:lnSpc>
                <a:spcPct val="95000"/>
              </a:lnSpc>
              <a:spcAft>
                <a:spcPts val="0"/>
              </a:spcAft>
            </a:pPr>
            <a:r>
              <a:rPr sz="1300" b="0" i="0">
                <a:solidFill>
                  <a:srgbClr val="6B6B6B"/>
                </a:solidFill>
                <a:latin typeface="Inter"/>
              </a:rPr>
              <a:t>Drag-and-drop in Control Hub</a:t>
            </a:r>
          </a:p>
        </p:txBody>
      </p:sp>
      <p:sp>
        <p:nvSpPr>
          <p:cNvPr id="30" name="TextBox 29"/>
          <p:cNvSpPr txBox="1"/>
          <p:nvPr/>
        </p:nvSpPr>
        <p:spPr>
          <a:xfrm>
            <a:off x="8595360" y="1417320"/>
            <a:ext cx="2926080" cy="365760"/>
          </a:xfrm>
          <a:prstGeom prst="rect">
            <a:avLst/>
          </a:prstGeom>
          <a:noFill/>
        </p:spPr>
        <p:txBody>
          <a:bodyPr wrap="square" anchor="t" lIns="0" tIns="0" rIns="0" bIns="0">
            <a:noAutofit/>
          </a:bodyPr>
          <a:lstStyle/>
          <a:p>
            <a:pPr algn="l">
              <a:spcAft>
                <a:spcPts val="0"/>
              </a:spcAft>
            </a:pPr>
            <a:r>
              <a:rPr sz="1500" b="0" i="0">
                <a:solidFill>
                  <a:srgbClr val="6B6B6B"/>
                </a:solidFill>
                <a:latin typeface="Inter Semi Bold"/>
              </a:rPr>
              <a:t>IMPACT</a:t>
            </a:r>
          </a:p>
        </p:txBody>
      </p:sp>
      <p:sp>
        <p:nvSpPr>
          <p:cNvPr id="31" name="TextBox 30"/>
          <p:cNvSpPr txBox="1"/>
          <p:nvPr/>
        </p:nvSpPr>
        <p:spPr>
          <a:xfrm>
            <a:off x="8595360" y="1828800"/>
            <a:ext cx="2990088" cy="685800"/>
          </a:xfrm>
          <a:prstGeom prst="rect">
            <a:avLst/>
          </a:prstGeom>
          <a:noFill/>
        </p:spPr>
        <p:txBody>
          <a:bodyPr wrap="none" anchor="t" lIns="0" tIns="0" rIns="0" bIns="0">
            <a:noAutofit/>
          </a:bodyPr>
          <a:lstStyle/>
          <a:p>
            <a:pPr algn="l">
              <a:spcAft>
                <a:spcPts val="0"/>
              </a:spcAft>
            </a:pPr>
            <a:r>
              <a:rPr sz="4000" b="0" i="0">
                <a:solidFill>
                  <a:srgbClr val="0A60FF"/>
                </a:solidFill>
                <a:latin typeface="Inter Semi Bold"/>
              </a:rPr>
              <a:t>52%</a:t>
            </a:r>
          </a:p>
        </p:txBody>
      </p:sp>
      <p:sp>
        <p:nvSpPr>
          <p:cNvPr id="32" name="TextBox 31"/>
          <p:cNvSpPr txBox="1"/>
          <p:nvPr/>
        </p:nvSpPr>
        <p:spPr>
          <a:xfrm>
            <a:off x="8595360" y="2487168"/>
            <a:ext cx="2990088" cy="457200"/>
          </a:xfrm>
          <a:prstGeom prst="rect">
            <a:avLst/>
          </a:prstGeom>
          <a:noFill/>
        </p:spPr>
        <p:txBody>
          <a:bodyPr wrap="square" anchor="t" lIns="0" tIns="0" rIns="0" bIns="0">
            <a:noAutofit/>
          </a:bodyPr>
          <a:lstStyle/>
          <a:p>
            <a:pPr algn="l">
              <a:spcAft>
                <a:spcPts val="0"/>
              </a:spcAft>
            </a:pPr>
            <a:r>
              <a:rPr sz="1500" b="0" i="0">
                <a:solidFill>
                  <a:srgbClr val="282828"/>
                </a:solidFill>
                <a:latin typeface="Inter Semi Bold"/>
              </a:rPr>
              <a:t>tier-1 calls deflected</a:t>
            </a:r>
          </a:p>
        </p:txBody>
      </p:sp>
      <p:sp>
        <p:nvSpPr>
          <p:cNvPr id="33" name="TextBox 32"/>
          <p:cNvSpPr txBox="1"/>
          <p:nvPr/>
        </p:nvSpPr>
        <p:spPr>
          <a:xfrm>
            <a:off x="8595360" y="3063240"/>
            <a:ext cx="2990088" cy="685800"/>
          </a:xfrm>
          <a:prstGeom prst="rect">
            <a:avLst/>
          </a:prstGeom>
          <a:noFill/>
        </p:spPr>
        <p:txBody>
          <a:bodyPr wrap="none" anchor="t" lIns="0" tIns="0" rIns="0" bIns="0">
            <a:noAutofit/>
          </a:bodyPr>
          <a:lstStyle/>
          <a:p>
            <a:pPr algn="l">
              <a:spcAft>
                <a:spcPts val="0"/>
              </a:spcAft>
            </a:pPr>
            <a:r>
              <a:rPr sz="4000" b="0" i="0">
                <a:solidFill>
                  <a:srgbClr val="0A60FF"/>
                </a:solidFill>
                <a:latin typeface="Inter Semi Bold"/>
              </a:rPr>
              <a:t>150+ hrs</a:t>
            </a:r>
          </a:p>
        </p:txBody>
      </p:sp>
      <p:sp>
        <p:nvSpPr>
          <p:cNvPr id="34" name="TextBox 33"/>
          <p:cNvSpPr txBox="1"/>
          <p:nvPr/>
        </p:nvSpPr>
        <p:spPr>
          <a:xfrm>
            <a:off x="8595360" y="3721608"/>
            <a:ext cx="2990088" cy="457200"/>
          </a:xfrm>
          <a:prstGeom prst="rect">
            <a:avLst/>
          </a:prstGeom>
          <a:noFill/>
        </p:spPr>
        <p:txBody>
          <a:bodyPr wrap="square" anchor="t" lIns="0" tIns="0" rIns="0" bIns="0">
            <a:noAutofit/>
          </a:bodyPr>
          <a:lstStyle/>
          <a:p>
            <a:pPr algn="l">
              <a:spcAft>
                <a:spcPts val="0"/>
              </a:spcAft>
            </a:pPr>
            <a:r>
              <a:rPr sz="1500" b="0" i="0">
                <a:solidFill>
                  <a:srgbClr val="282828"/>
                </a:solidFill>
                <a:latin typeface="Inter Semi Bold"/>
              </a:rPr>
              <a:t>agent time back / month</a:t>
            </a:r>
          </a:p>
        </p:txBody>
      </p:sp>
      <p:sp>
        <p:nvSpPr>
          <p:cNvPr id="35" name="TextBox 34"/>
          <p:cNvSpPr txBox="1"/>
          <p:nvPr/>
        </p:nvSpPr>
        <p:spPr>
          <a:xfrm>
            <a:off x="8595360" y="4297680"/>
            <a:ext cx="2990088" cy="685800"/>
          </a:xfrm>
          <a:prstGeom prst="rect">
            <a:avLst/>
          </a:prstGeom>
          <a:noFill/>
        </p:spPr>
        <p:txBody>
          <a:bodyPr wrap="none" anchor="t" lIns="0" tIns="0" rIns="0" bIns="0">
            <a:noAutofit/>
          </a:bodyPr>
          <a:lstStyle/>
          <a:p>
            <a:pPr algn="l">
              <a:spcAft>
                <a:spcPts val="0"/>
              </a:spcAft>
            </a:pPr>
            <a:r>
              <a:rPr sz="4000" b="0" i="0">
                <a:solidFill>
                  <a:srgbClr val="0A60FF"/>
                </a:solidFill>
                <a:latin typeface="Inter Semi Bold"/>
              </a:rPr>
              <a:t>80%</a:t>
            </a:r>
          </a:p>
        </p:txBody>
      </p:sp>
      <p:sp>
        <p:nvSpPr>
          <p:cNvPr id="36" name="TextBox 35"/>
          <p:cNvSpPr txBox="1"/>
          <p:nvPr/>
        </p:nvSpPr>
        <p:spPr>
          <a:xfrm>
            <a:off x="8595360" y="4956048"/>
            <a:ext cx="2990088" cy="457200"/>
          </a:xfrm>
          <a:prstGeom prst="rect">
            <a:avLst/>
          </a:prstGeom>
          <a:noFill/>
        </p:spPr>
        <p:txBody>
          <a:bodyPr wrap="square" anchor="t" lIns="0" tIns="0" rIns="0" bIns="0">
            <a:noAutofit/>
          </a:bodyPr>
          <a:lstStyle/>
          <a:p>
            <a:pPr algn="l">
              <a:spcAft>
                <a:spcPts val="0"/>
              </a:spcAft>
            </a:pPr>
            <a:r>
              <a:rPr sz="1500" b="0" i="0">
                <a:solidFill>
                  <a:srgbClr val="282828"/>
                </a:solidFill>
                <a:latin typeface="Inter Semi Bold"/>
              </a:rPr>
              <a:t>faster design: weeks → minutes</a:t>
            </a:r>
          </a:p>
        </p:txBody>
      </p:sp>
      <p:sp>
        <p:nvSpPr>
          <p:cNvPr id="37" name="Rounded Rectangle 36"/>
          <p:cNvSpPr/>
          <p:nvPr/>
        </p:nvSpPr>
        <p:spPr>
          <a:xfrm>
            <a:off x="609904" y="5623560"/>
            <a:ext cx="10972800" cy="566928"/>
          </a:xfrm>
          <a:prstGeom prst="roundRect">
            <a:avLst>
              <a:gd name="adj" fmla="val 50000"/>
            </a:avLst>
          </a:prstGeom>
          <a:solidFill>
            <a:srgbClr val="0A0A0A"/>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45720" tIns="0" rIns="45720" bIns="0">
            <a:noAutofit/>
          </a:bodyPr>
          <a:lstStyle/>
          <a:p>
            <a:pPr algn="ctr">
              <a:spcAft>
                <a:spcPts val="0"/>
              </a:spcAft>
            </a:pPr>
            <a:r>
              <a:rPr sz="1800" b="0" i="0">
                <a:solidFill>
                  <a:srgbClr val="00C8FF"/>
                </a:solidFill>
                <a:latin typeface="Inter Semi Bold"/>
              </a:rPr>
              <a:t>Takeaway:  </a:t>
            </a:r>
            <a:r>
              <a:rPr sz="1800" b="0" i="0">
                <a:solidFill>
                  <a:srgbClr val="FFFFFF"/>
                </a:solidFill>
                <a:latin typeface="Inter Semi Bold"/>
              </a:rPr>
              <a:t>Moving to WxCC is an AI-first transformation, not script porting.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Graph every hunt chain</a:t>
            </a:r>
          </a:p>
        </p:txBody>
      </p:sp>
      <p:sp>
        <p:nvSpPr>
          <p:cNvPr id="3" name="TextBox 2"/>
          <p:cNvSpPr txBox="1"/>
          <p:nvPr/>
        </p:nvSpPr>
        <p:spPr>
          <a:xfrm>
            <a:off x="609904" y="256032"/>
            <a:ext cx="10515600" cy="310896"/>
          </a:xfrm>
          <a:prstGeom prst="rect">
            <a:avLst/>
          </a:prstGeom>
          <a:noFill/>
        </p:spPr>
        <p:txBody>
          <a:bodyPr wrap="square" anchor="t" lIns="0" tIns="0" rIns="0" bIns="0">
            <a:noAutofit/>
          </a:bodyPr>
          <a:lstStyle/>
          <a:p>
            <a:pPr algn="l">
              <a:spcAft>
                <a:spcPts val="0"/>
              </a:spcAft>
            </a:pPr>
            <a:r>
              <a:rPr sz="1400" b="0" i="0">
                <a:solidFill>
                  <a:srgbClr val="06A8FF"/>
                </a:solidFill>
                <a:latin typeface="Inter Semi Bold"/>
              </a:rPr>
              <a:t>PLAY 2 · SETUP: DATA &amp; PROMPT</a:t>
            </a:r>
          </a:p>
        </p:txBody>
      </p:sp>
      <p:sp>
        <p:nvSpPr>
          <p:cNvPr id="4" name="Rounded Rectangle 3"/>
          <p:cNvSpPr/>
          <p:nvPr/>
        </p:nvSpPr>
        <p:spPr>
          <a:xfrm>
            <a:off x="609904" y="1371600"/>
            <a:ext cx="3429000" cy="4069080"/>
          </a:xfrm>
          <a:prstGeom prst="roundRect">
            <a:avLst>
              <a:gd name="adj" fmla="val 48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5" name="Oval 4"/>
          <p:cNvSpPr/>
          <p:nvPr/>
        </p:nvSpPr>
        <p:spPr>
          <a:xfrm>
            <a:off x="822960" y="1554480"/>
            <a:ext cx="457200" cy="457200"/>
          </a:xfrm>
          <a:prstGeom prst="ellipse">
            <a:avLst/>
          </a:prstGeom>
          <a:solidFill>
            <a:srgbClr val="06A8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800" b="0" i="0">
                <a:solidFill>
                  <a:srgbClr val="FFFFFF"/>
                </a:solidFill>
                <a:latin typeface="Inter Semi Bold"/>
              </a:rPr>
              <a:t>1</a:t>
            </a:r>
          </a:p>
        </p:txBody>
      </p:sp>
      <p:sp>
        <p:nvSpPr>
          <p:cNvPr id="6" name="TextBox 5"/>
          <p:cNvSpPr txBox="1"/>
          <p:nvPr/>
        </p:nvSpPr>
        <p:spPr>
          <a:xfrm>
            <a:off x="1417320" y="1554480"/>
            <a:ext cx="2560320" cy="457200"/>
          </a:xfrm>
          <a:prstGeom prst="rect">
            <a:avLst/>
          </a:prstGeom>
          <a:noFill/>
        </p:spPr>
        <p:txBody>
          <a:bodyPr wrap="square" anchor="ctr" lIns="0" tIns="0" rIns="0" bIns="0">
            <a:noAutofit/>
          </a:bodyPr>
          <a:lstStyle/>
          <a:p>
            <a:pPr algn="l">
              <a:spcAft>
                <a:spcPts val="0"/>
              </a:spcAft>
            </a:pPr>
            <a:r>
              <a:rPr sz="1500" b="0" i="0">
                <a:solidFill>
                  <a:srgbClr val="6B6B6B"/>
                </a:solidFill>
                <a:latin typeface="Inter Semi Bold"/>
              </a:rPr>
              <a:t>DATA IN</a:t>
            </a:r>
          </a:p>
        </p:txBody>
      </p:sp>
      <p:sp>
        <p:nvSpPr>
          <p:cNvPr id="7" name="TextBox 6"/>
          <p:cNvSpPr txBox="1"/>
          <p:nvPr/>
        </p:nvSpPr>
        <p:spPr>
          <a:xfrm>
            <a:off x="822960" y="2103120"/>
            <a:ext cx="3108960" cy="411480"/>
          </a:xfrm>
          <a:prstGeom prst="rect">
            <a:avLst/>
          </a:prstGeom>
          <a:noFill/>
        </p:spPr>
        <p:txBody>
          <a:bodyPr wrap="none" anchor="t" lIns="0" tIns="0" rIns="0" bIns="0">
            <a:noAutofit/>
          </a:bodyPr>
          <a:lstStyle/>
          <a:p>
            <a:pPr algn="l">
              <a:spcAft>
                <a:spcPts val="0"/>
              </a:spcAft>
            </a:pPr>
            <a:r>
              <a:rPr sz="1800" b="0" i="0">
                <a:solidFill>
                  <a:srgbClr val="0A0A0A"/>
                </a:solidFill>
                <a:latin typeface="Inter Semi Bold"/>
              </a:rPr>
              <a:t>4 CUCM BAT exports</a:t>
            </a:r>
          </a:p>
        </p:txBody>
      </p:sp>
      <p:sp>
        <p:nvSpPr>
          <p:cNvPr id="8" name="Rounded Rectangle 7"/>
          <p:cNvSpPr/>
          <p:nvPr/>
        </p:nvSpPr>
        <p:spPr>
          <a:xfrm>
            <a:off x="822960" y="2651760"/>
            <a:ext cx="301752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400" b="0" i="0">
                <a:solidFill>
                  <a:srgbClr val="282828"/>
                </a:solidFill>
                <a:latin typeface="Consolas"/>
              </a:rPr>
              <a:t>hunt_pilots.csv</a:t>
            </a:r>
          </a:p>
        </p:txBody>
      </p:sp>
      <p:sp>
        <p:nvSpPr>
          <p:cNvPr id="9" name="Rounded Rectangle 8"/>
          <p:cNvSpPr/>
          <p:nvPr/>
        </p:nvSpPr>
        <p:spPr>
          <a:xfrm>
            <a:off x="822960" y="3273552"/>
            <a:ext cx="301752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400" b="0" i="0">
                <a:solidFill>
                  <a:srgbClr val="282828"/>
                </a:solidFill>
                <a:latin typeface="Consolas"/>
              </a:rPr>
              <a:t>hunt_lists.csv</a:t>
            </a:r>
          </a:p>
        </p:txBody>
      </p:sp>
      <p:sp>
        <p:nvSpPr>
          <p:cNvPr id="10" name="Rounded Rectangle 9"/>
          <p:cNvSpPr/>
          <p:nvPr/>
        </p:nvSpPr>
        <p:spPr>
          <a:xfrm>
            <a:off x="822960" y="3895344"/>
            <a:ext cx="301752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400" b="0" i="0">
                <a:solidFill>
                  <a:srgbClr val="282828"/>
                </a:solidFill>
                <a:latin typeface="Consolas"/>
              </a:rPr>
              <a:t>line_groups.csv</a:t>
            </a:r>
          </a:p>
        </p:txBody>
      </p:sp>
      <p:sp>
        <p:nvSpPr>
          <p:cNvPr id="11" name="Rounded Rectangle 10"/>
          <p:cNvSpPr/>
          <p:nvPr/>
        </p:nvSpPr>
        <p:spPr>
          <a:xfrm>
            <a:off x="822960" y="4517136"/>
            <a:ext cx="301752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400" b="0" i="0">
                <a:solidFill>
                  <a:srgbClr val="282828"/>
                </a:solidFill>
                <a:latin typeface="Consolas"/>
              </a:rPr>
              <a:t>phones_lines.csv</a:t>
            </a:r>
          </a:p>
        </p:txBody>
      </p:sp>
      <p:cxnSp>
        <p:nvCxnSpPr>
          <p:cNvPr id="12" name="Connector 11"/>
          <p:cNvCxnSpPr/>
          <p:nvPr/>
        </p:nvCxnSpPr>
        <p:spPr>
          <a:xfrm>
            <a:off x="4087368" y="3401568"/>
            <a:ext cx="320040" cy="0"/>
          </a:xfrm>
          <a:prstGeom prst="line">
            <a:avLst/>
          </a:prstGeom>
          <a:ln w="317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453128" y="1371600"/>
            <a:ext cx="4160520" cy="4069080"/>
          </a:xfrm>
          <a:prstGeom prst="roundRect">
            <a:avLst>
              <a:gd name="adj" fmla="val 4044"/>
            </a:avLst>
          </a:prstGeom>
          <a:solidFill>
            <a:srgbClr val="0A0A0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4" name="Oval 13"/>
          <p:cNvSpPr/>
          <p:nvPr/>
        </p:nvSpPr>
        <p:spPr>
          <a:xfrm>
            <a:off x="4663440" y="1554480"/>
            <a:ext cx="457200" cy="457200"/>
          </a:xfrm>
          <a:prstGeom prst="ellipse">
            <a:avLst/>
          </a:prstGeom>
          <a:solidFill>
            <a:srgbClr val="06A8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800" b="0" i="0">
                <a:solidFill>
                  <a:srgbClr val="FFFFFF"/>
                </a:solidFill>
                <a:latin typeface="Inter Semi Bold"/>
              </a:rPr>
              <a:t>2</a:t>
            </a:r>
          </a:p>
        </p:txBody>
      </p:sp>
      <p:sp>
        <p:nvSpPr>
          <p:cNvPr id="15" name="TextBox 14"/>
          <p:cNvSpPr txBox="1"/>
          <p:nvPr/>
        </p:nvSpPr>
        <p:spPr>
          <a:xfrm>
            <a:off x="5257800" y="1554480"/>
            <a:ext cx="3200400" cy="457200"/>
          </a:xfrm>
          <a:prstGeom prst="rect">
            <a:avLst/>
          </a:prstGeom>
          <a:noFill/>
        </p:spPr>
        <p:txBody>
          <a:bodyPr wrap="square" anchor="ctr" lIns="0" tIns="0" rIns="0" bIns="0">
            <a:noAutofit/>
          </a:bodyPr>
          <a:lstStyle/>
          <a:p>
            <a:pPr algn="l">
              <a:spcAft>
                <a:spcPts val="0"/>
              </a:spcAft>
            </a:pPr>
            <a:r>
              <a:rPr sz="1500" b="0" i="0">
                <a:solidFill>
                  <a:srgbClr val="B4B9C0"/>
                </a:solidFill>
                <a:latin typeface="Inter Semi Bold"/>
              </a:rPr>
              <a:t>MASTER PROMPT</a:t>
            </a:r>
          </a:p>
        </p:txBody>
      </p:sp>
      <p:sp>
        <p:nvSpPr>
          <p:cNvPr id="16" name="TextBox 15"/>
          <p:cNvSpPr txBox="1"/>
          <p:nvPr/>
        </p:nvSpPr>
        <p:spPr>
          <a:xfrm>
            <a:off x="4663440" y="2194560"/>
            <a:ext cx="3840480" cy="3108960"/>
          </a:xfrm>
          <a:prstGeom prst="rect">
            <a:avLst/>
          </a:prstGeom>
          <a:noFill/>
        </p:spPr>
        <p:txBody>
          <a:bodyPr wrap="none" anchor="t" lIns="0" tIns="0" rIns="0" bIns="0">
            <a:noAutofit/>
          </a:bodyPr>
          <a:lstStyle/>
          <a:p>
            <a:pPr algn="l">
              <a:spcAft>
                <a:spcPts val="900"/>
              </a:spcAft>
            </a:pPr>
            <a:r>
              <a:rPr sz="1300" b="0" i="0">
                <a:solidFill>
                  <a:srgbClr val="00C8FF"/>
                </a:solidFill>
                <a:latin typeface="Consolas"/>
              </a:rPr>
              <a:t>ROLE    </a:t>
            </a:r>
            <a:r>
              <a:rPr sz="1300" b="0" i="0">
                <a:solidFill>
                  <a:srgbClr val="FFFFFF"/>
                </a:solidFill>
                <a:latin typeface="Consolas"/>
              </a:rPr>
              <a:t>Principal UC architect</a:t>
            </a:r>
          </a:p>
          <a:p>
            <a:pPr algn="l">
              <a:spcAft>
                <a:spcPts val="900"/>
              </a:spcAft>
            </a:pPr>
            <a:r>
              <a:rPr sz="1300" b="0" i="0">
                <a:solidFill>
                  <a:srgbClr val="00C8FF"/>
                </a:solidFill>
                <a:latin typeface="Consolas"/>
              </a:rPr>
              <a:t>GRAPH   </a:t>
            </a:r>
            <a:r>
              <a:rPr sz="1300" b="0" i="0">
                <a:solidFill>
                  <a:srgbClr val="FFFFFF"/>
                </a:solidFill>
                <a:latin typeface="Consolas"/>
              </a:rPr>
              <a:t>Pilot → list → group → phone</a:t>
            </a:r>
          </a:p>
          <a:p>
            <a:pPr algn="l">
              <a:spcAft>
                <a:spcPts val="900"/>
              </a:spcAft>
            </a:pPr>
            <a:r>
              <a:rPr sz="1300" b="0" i="0">
                <a:solidFill>
                  <a:srgbClr val="00C8FF"/>
                </a:solidFill>
                <a:latin typeface="Consolas"/>
              </a:rPr>
              <a:t>DETECT  </a:t>
            </a:r>
            <a:r>
              <a:rPr sz="1300" b="0" i="0">
                <a:solidFill>
                  <a:srgbClr val="FFFFFF"/>
                </a:solidFill>
                <a:latin typeface="Consolas"/>
              </a:rPr>
              <a:t>Circular RNA loops</a:t>
            </a:r>
          </a:p>
          <a:p>
            <a:pPr algn="l">
              <a:spcAft>
                <a:spcPts val="900"/>
              </a:spcAft>
            </a:pPr>
            <a:r>
              <a:rPr sz="1300" b="0" i="0">
                <a:solidFill>
                  <a:srgbClr val="00C8FF"/>
                </a:solidFill>
                <a:latin typeface="Consolas"/>
              </a:rPr>
              <a:t>        </a:t>
            </a:r>
            <a:r>
              <a:rPr sz="1300" b="0" i="0">
                <a:solidFill>
                  <a:srgbClr val="FFFFFF"/>
                </a:solidFill>
                <a:latin typeface="Consolas"/>
              </a:rPr>
              <a:t>Orphaned line groups</a:t>
            </a:r>
          </a:p>
          <a:p>
            <a:pPr algn="l">
              <a:spcAft>
                <a:spcPts val="900"/>
              </a:spcAft>
            </a:pPr>
            <a:r>
              <a:rPr sz="1300" b="0" i="0">
                <a:solidFill>
                  <a:srgbClr val="00C8FF"/>
                </a:solidFill>
                <a:latin typeface="Consolas"/>
              </a:rPr>
              <a:t>TIER    </a:t>
            </a:r>
            <a:r>
              <a:rPr sz="1300" b="0" i="0">
                <a:solidFill>
                  <a:srgbClr val="FFFFFF"/>
                </a:solidFill>
                <a:latin typeface="Consolas"/>
              </a:rPr>
              <a:t>Customer Assist</a:t>
            </a:r>
          </a:p>
          <a:p>
            <a:pPr algn="l">
              <a:spcAft>
                <a:spcPts val="900"/>
              </a:spcAft>
            </a:pPr>
            <a:r>
              <a:rPr sz="1300" b="0" i="0">
                <a:solidFill>
                  <a:srgbClr val="00C8FF"/>
                </a:solidFill>
                <a:latin typeface="Consolas"/>
              </a:rPr>
              <a:t>        </a:t>
            </a:r>
            <a:r>
              <a:rPr sz="1300" b="0" i="0">
                <a:solidFill>
                  <a:srgbClr val="FFFFFF"/>
                </a:solidFill>
                <a:latin typeface="Consolas"/>
              </a:rPr>
              <a:t>Auto Attendant</a:t>
            </a:r>
          </a:p>
          <a:p>
            <a:pPr algn="l">
              <a:spcAft>
                <a:spcPts val="900"/>
              </a:spcAft>
            </a:pPr>
            <a:r>
              <a:rPr sz="1300" b="0" i="0">
                <a:solidFill>
                  <a:srgbClr val="00C8FF"/>
                </a:solidFill>
                <a:latin typeface="Consolas"/>
              </a:rPr>
              <a:t>        </a:t>
            </a:r>
            <a:r>
              <a:rPr sz="1300" b="0" i="0">
                <a:solidFill>
                  <a:srgbClr val="FFFFFF"/>
                </a:solidFill>
                <a:latin typeface="Consolas"/>
              </a:rPr>
              <a:t>Hunt Group · direct DN</a:t>
            </a:r>
          </a:p>
        </p:txBody>
      </p:sp>
      <p:cxnSp>
        <p:nvCxnSpPr>
          <p:cNvPr id="17" name="Connector 16"/>
          <p:cNvCxnSpPr/>
          <p:nvPr/>
        </p:nvCxnSpPr>
        <p:spPr>
          <a:xfrm>
            <a:off x="8659368" y="3401568"/>
            <a:ext cx="320040" cy="0"/>
          </a:xfrm>
          <a:prstGeom prst="line">
            <a:avLst/>
          </a:prstGeom>
          <a:ln w="317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025128" y="1371600"/>
            <a:ext cx="2560320" cy="4069080"/>
          </a:xfrm>
          <a:prstGeom prst="roundRect">
            <a:avLst>
              <a:gd name="adj" fmla="val 6428"/>
            </a:avLst>
          </a:prstGeom>
          <a:gradFill rotWithShape="1">
            <a:gsLst>
              <a:gs pos="0">
                <a:srgbClr val="06A8FF"/>
              </a:gs>
              <a:gs pos="100000">
                <a:srgbClr val="0A60FF"/>
              </a:gs>
            </a:gsLst>
            <a:lin scaled="0" ang="18900000"/>
          </a:gra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9" name="Oval 18"/>
          <p:cNvSpPr/>
          <p:nvPr/>
        </p:nvSpPr>
        <p:spPr>
          <a:xfrm>
            <a:off x="9235440" y="1554480"/>
            <a:ext cx="457200" cy="457200"/>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800" b="0" i="0">
                <a:solidFill>
                  <a:srgbClr val="06A8FF"/>
                </a:solidFill>
                <a:latin typeface="Inter Semi Bold"/>
              </a:rPr>
              <a:t>3</a:t>
            </a:r>
          </a:p>
        </p:txBody>
      </p:sp>
      <p:sp>
        <p:nvSpPr>
          <p:cNvPr id="20" name="TextBox 19"/>
          <p:cNvSpPr txBox="1"/>
          <p:nvPr/>
        </p:nvSpPr>
        <p:spPr>
          <a:xfrm>
            <a:off x="9829800" y="1554480"/>
            <a:ext cx="1645920" cy="457200"/>
          </a:xfrm>
          <a:prstGeom prst="rect">
            <a:avLst/>
          </a:prstGeom>
          <a:noFill/>
        </p:spPr>
        <p:txBody>
          <a:bodyPr wrap="square" anchor="ctr" lIns="0" tIns="0" rIns="0" bIns="0">
            <a:noAutofit/>
          </a:bodyPr>
          <a:lstStyle/>
          <a:p>
            <a:pPr algn="l">
              <a:spcAft>
                <a:spcPts val="0"/>
              </a:spcAft>
            </a:pPr>
            <a:r>
              <a:rPr sz="1500" b="0" i="0">
                <a:solidFill>
                  <a:srgbClr val="FFFFFF"/>
                </a:solidFill>
                <a:latin typeface="Inter Semi Bold"/>
              </a:rPr>
              <a:t>OUTPUT</a:t>
            </a:r>
          </a:p>
        </p:txBody>
      </p:sp>
      <p:pic>
        <p:nvPicPr>
          <p:cNvPr id="21" name="Picture 20" descr="graph_FFFFFF.png"/>
          <p:cNvPicPr>
            <a:picLocks noChangeAspect="1"/>
          </p:cNvPicPr>
          <p:nvPr/>
        </p:nvPicPr>
        <p:blipFill>
          <a:blip r:embed="rId2"/>
          <a:stretch>
            <a:fillRect/>
          </a:stretch>
        </p:blipFill>
        <p:spPr>
          <a:xfrm>
            <a:off x="9235440" y="2240280"/>
            <a:ext cx="457200" cy="457200"/>
          </a:xfrm>
          <a:prstGeom prst="rect">
            <a:avLst/>
          </a:prstGeom>
        </p:spPr>
      </p:pic>
      <p:sp>
        <p:nvSpPr>
          <p:cNvPr id="22" name="TextBox 21"/>
          <p:cNvSpPr txBox="1"/>
          <p:nvPr/>
        </p:nvSpPr>
        <p:spPr>
          <a:xfrm>
            <a:off x="9829800" y="2148840"/>
            <a:ext cx="1691640" cy="868680"/>
          </a:xfrm>
          <a:prstGeom prst="rect">
            <a:avLst/>
          </a:prstGeom>
          <a:noFill/>
        </p:spPr>
        <p:txBody>
          <a:bodyPr wrap="square" anchor="t" lIns="0" tIns="0" rIns="0" bIns="0">
            <a:noAutofit/>
          </a:bodyPr>
          <a:lstStyle/>
          <a:p>
            <a:pPr algn="l">
              <a:lnSpc>
                <a:spcPct val="95000"/>
              </a:lnSpc>
              <a:spcAft>
                <a:spcPts val="0"/>
              </a:spcAft>
            </a:pPr>
            <a:r>
              <a:rPr sz="1600" b="0" i="0">
                <a:solidFill>
                  <a:srgbClr val="FFFFFF"/>
                </a:solidFill>
                <a:latin typeface="Inter Semi Bold"/>
              </a:rPr>
              <a:t>Dependency graph</a:t>
            </a:r>
          </a:p>
        </p:txBody>
      </p:sp>
      <p:pic>
        <p:nvPicPr>
          <p:cNvPr id="23" name="Picture 22" descr="search_person_FFFFFF.png"/>
          <p:cNvPicPr>
            <a:picLocks noChangeAspect="1"/>
          </p:cNvPicPr>
          <p:nvPr/>
        </p:nvPicPr>
        <p:blipFill>
          <a:blip r:embed="rId3"/>
          <a:stretch>
            <a:fillRect/>
          </a:stretch>
        </p:blipFill>
        <p:spPr>
          <a:xfrm>
            <a:off x="9235440" y="3264408"/>
            <a:ext cx="457200" cy="457200"/>
          </a:xfrm>
          <a:prstGeom prst="rect">
            <a:avLst/>
          </a:prstGeom>
        </p:spPr>
      </p:pic>
      <p:sp>
        <p:nvSpPr>
          <p:cNvPr id="24" name="TextBox 23"/>
          <p:cNvSpPr txBox="1"/>
          <p:nvPr/>
        </p:nvSpPr>
        <p:spPr>
          <a:xfrm>
            <a:off x="9829800" y="3172968"/>
            <a:ext cx="1691640" cy="868680"/>
          </a:xfrm>
          <a:prstGeom prst="rect">
            <a:avLst/>
          </a:prstGeom>
          <a:noFill/>
        </p:spPr>
        <p:txBody>
          <a:bodyPr wrap="square" anchor="t" lIns="0" tIns="0" rIns="0" bIns="0">
            <a:noAutofit/>
          </a:bodyPr>
          <a:lstStyle/>
          <a:p>
            <a:pPr algn="l">
              <a:lnSpc>
                <a:spcPct val="95000"/>
              </a:lnSpc>
              <a:spcAft>
                <a:spcPts val="0"/>
              </a:spcAft>
            </a:pPr>
            <a:r>
              <a:rPr sz="1600" b="0" i="0">
                <a:solidFill>
                  <a:srgbClr val="FFFFFF"/>
                </a:solidFill>
                <a:latin typeface="Inter Semi Bold"/>
              </a:rPr>
              <a:t>Loop + orphan report</a:t>
            </a:r>
          </a:p>
        </p:txBody>
      </p:sp>
      <p:pic>
        <p:nvPicPr>
          <p:cNvPr id="25" name="Picture 24" descr="people_FFFFFF.png"/>
          <p:cNvPicPr>
            <a:picLocks noChangeAspect="1"/>
          </p:cNvPicPr>
          <p:nvPr/>
        </p:nvPicPr>
        <p:blipFill>
          <a:blip r:embed="rId4"/>
          <a:stretch>
            <a:fillRect/>
          </a:stretch>
        </p:blipFill>
        <p:spPr>
          <a:xfrm>
            <a:off x="9235440" y="4288536"/>
            <a:ext cx="457200" cy="457200"/>
          </a:xfrm>
          <a:prstGeom prst="rect">
            <a:avLst/>
          </a:prstGeom>
        </p:spPr>
      </p:pic>
      <p:sp>
        <p:nvSpPr>
          <p:cNvPr id="26" name="TextBox 25"/>
          <p:cNvSpPr txBox="1"/>
          <p:nvPr/>
        </p:nvSpPr>
        <p:spPr>
          <a:xfrm>
            <a:off x="9829800" y="4197096"/>
            <a:ext cx="1691640" cy="868680"/>
          </a:xfrm>
          <a:prstGeom prst="rect">
            <a:avLst/>
          </a:prstGeom>
          <a:noFill/>
        </p:spPr>
        <p:txBody>
          <a:bodyPr wrap="square" anchor="t" lIns="0" tIns="0" rIns="0" bIns="0">
            <a:noAutofit/>
          </a:bodyPr>
          <a:lstStyle/>
          <a:p>
            <a:pPr algn="l">
              <a:lnSpc>
                <a:spcPct val="95000"/>
              </a:lnSpc>
              <a:spcAft>
                <a:spcPts val="0"/>
              </a:spcAft>
            </a:pPr>
            <a:r>
              <a:rPr sz="1600" b="0" i="0">
                <a:solidFill>
                  <a:srgbClr val="FFFFFF"/>
                </a:solidFill>
                <a:latin typeface="Inter Semi Bold"/>
              </a:rPr>
              <a:t>Right-sized queue map</a:t>
            </a:r>
          </a:p>
        </p:txBody>
      </p:sp>
      <p:sp>
        <p:nvSpPr>
          <p:cNvPr id="27" name="Rounded Rectangle 26"/>
          <p:cNvSpPr/>
          <p:nvPr/>
        </p:nvSpPr>
        <p:spPr>
          <a:xfrm>
            <a:off x="609904" y="5596128"/>
            <a:ext cx="5120640" cy="566928"/>
          </a:xfrm>
          <a:prstGeom prst="roundRect">
            <a:avLst>
              <a:gd name="adj" fmla="val 50000"/>
            </a:avLst>
          </a:prstGeom>
          <a:solidFill>
            <a:srgbClr val="FFFFFF"/>
          </a:solidFill>
          <a:ln w="19050">
            <a:solidFill>
              <a:srgbClr val="FF007F"/>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28" name="Picture 27" descr="privacy_FF007F.png"/>
          <p:cNvPicPr>
            <a:picLocks noChangeAspect="1"/>
          </p:cNvPicPr>
          <p:nvPr/>
        </p:nvPicPr>
        <p:blipFill>
          <a:blip r:embed="rId5"/>
          <a:stretch>
            <a:fillRect/>
          </a:stretch>
        </p:blipFill>
        <p:spPr>
          <a:xfrm>
            <a:off x="777240" y="5669280"/>
            <a:ext cx="420624" cy="420624"/>
          </a:xfrm>
          <a:prstGeom prst="rect">
            <a:avLst/>
          </a:prstGeom>
        </p:spPr>
      </p:pic>
      <p:sp>
        <p:nvSpPr>
          <p:cNvPr id="29" name="TextBox 28"/>
          <p:cNvSpPr txBox="1"/>
          <p:nvPr/>
        </p:nvSpPr>
        <p:spPr>
          <a:xfrm>
            <a:off x="1325880" y="5596128"/>
            <a:ext cx="4343400" cy="566928"/>
          </a:xfrm>
          <a:prstGeom prst="rect">
            <a:avLst/>
          </a:prstGeom>
          <a:noFill/>
        </p:spPr>
        <p:txBody>
          <a:bodyPr wrap="none" anchor="ctr" lIns="0" tIns="0" rIns="0" bIns="0">
            <a:noAutofit/>
          </a:bodyPr>
          <a:lstStyle/>
          <a:p>
            <a:pPr algn="l">
              <a:spcAft>
                <a:spcPts val="0"/>
              </a:spcAft>
            </a:pPr>
            <a:r>
              <a:rPr sz="1500" b="0" i="0">
                <a:solidFill>
                  <a:srgbClr val="FF007F"/>
                </a:solidFill>
                <a:latin typeface="Inter Semi Bold"/>
              </a:rPr>
              <a:t>Sanitize  </a:t>
            </a:r>
            <a:r>
              <a:rPr sz="1500" b="0" i="0">
                <a:solidFill>
                  <a:srgbClr val="282828"/>
                </a:solidFill>
                <a:latin typeface="Inter Semi Bold"/>
              </a:rPr>
              <a:t>Extensions, MACs (per policy)</a:t>
            </a:r>
          </a:p>
        </p:txBody>
      </p:sp>
      <p:sp>
        <p:nvSpPr>
          <p:cNvPr id="30" name="Rounded Rectangle 29"/>
          <p:cNvSpPr/>
          <p:nvPr/>
        </p:nvSpPr>
        <p:spPr>
          <a:xfrm>
            <a:off x="5916168" y="5596128"/>
            <a:ext cx="5669280" cy="566928"/>
          </a:xfrm>
          <a:prstGeom prst="roundRect">
            <a:avLst>
              <a:gd name="adj" fmla="val 50000"/>
            </a:avLst>
          </a:prstGeom>
          <a:solidFill>
            <a:srgbClr val="0A0A0A"/>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45720" tIns="0" rIns="45720" bIns="0">
            <a:noAutofit/>
          </a:bodyPr>
          <a:lstStyle/>
          <a:p>
            <a:pPr algn="ctr">
              <a:spcAft>
                <a:spcPts val="0"/>
              </a:spcAft>
            </a:pPr>
            <a:r>
              <a:rPr sz="1600" b="0" i="0">
                <a:solidFill>
                  <a:srgbClr val="FFFFFF"/>
                </a:solidFill>
                <a:latin typeface="Inter Semi Bold"/>
              </a:rPr>
              <a:t>100+ hunt chains graphed. Zero spreadsheets.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Clean before you move</a:t>
            </a:r>
          </a:p>
        </p:txBody>
      </p:sp>
      <p:sp>
        <p:nvSpPr>
          <p:cNvPr id="3" name="TextBox 2"/>
          <p:cNvSpPr txBox="1"/>
          <p:nvPr/>
        </p:nvSpPr>
        <p:spPr>
          <a:xfrm>
            <a:off x="609904" y="256032"/>
            <a:ext cx="10515600" cy="310896"/>
          </a:xfrm>
          <a:prstGeom prst="rect">
            <a:avLst/>
          </a:prstGeom>
          <a:noFill/>
        </p:spPr>
        <p:txBody>
          <a:bodyPr wrap="square" anchor="t" lIns="0" tIns="0" rIns="0" bIns="0">
            <a:noAutofit/>
          </a:bodyPr>
          <a:lstStyle/>
          <a:p>
            <a:pPr algn="l">
              <a:spcAft>
                <a:spcPts val="0"/>
              </a:spcAft>
            </a:pPr>
            <a:r>
              <a:rPr sz="1400" b="0" i="0">
                <a:solidFill>
                  <a:srgbClr val="06A8FF"/>
                </a:solidFill>
                <a:latin typeface="Inter Semi Bold"/>
              </a:rPr>
              <a:t>PLAY 2 · WHAT WE LEARNED</a:t>
            </a:r>
          </a:p>
        </p:txBody>
      </p:sp>
      <p:sp>
        <p:nvSpPr>
          <p:cNvPr id="4" name="Rounded Rectangle 3"/>
          <p:cNvSpPr/>
          <p:nvPr/>
        </p:nvSpPr>
        <p:spPr>
          <a:xfrm>
            <a:off x="609904" y="1371600"/>
            <a:ext cx="3383280" cy="4114800"/>
          </a:xfrm>
          <a:prstGeom prst="roundRect">
            <a:avLst>
              <a:gd name="adj" fmla="val 4864"/>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5" name="TextBox 4"/>
          <p:cNvSpPr txBox="1"/>
          <p:nvPr/>
        </p:nvSpPr>
        <p:spPr>
          <a:xfrm>
            <a:off x="868680" y="1536192"/>
            <a:ext cx="2926080" cy="365760"/>
          </a:xfrm>
          <a:prstGeom prst="rect">
            <a:avLst/>
          </a:prstGeom>
          <a:noFill/>
        </p:spPr>
        <p:txBody>
          <a:bodyPr wrap="square" anchor="t" lIns="0" tIns="0" rIns="0" bIns="0">
            <a:noAutofit/>
          </a:bodyPr>
          <a:lstStyle/>
          <a:p>
            <a:pPr algn="l">
              <a:spcAft>
                <a:spcPts val="0"/>
              </a:spcAft>
            </a:pPr>
            <a:r>
              <a:rPr sz="1500" b="0" i="0">
                <a:solidFill>
                  <a:srgbClr val="6B6B6B"/>
                </a:solidFill>
                <a:latin typeface="Inter Semi Bold"/>
              </a:rPr>
              <a:t>PURGED</a:t>
            </a:r>
          </a:p>
        </p:txBody>
      </p:sp>
      <p:sp>
        <p:nvSpPr>
          <p:cNvPr id="6" name="Rounded Rectangle 5"/>
          <p:cNvSpPr/>
          <p:nvPr/>
        </p:nvSpPr>
        <p:spPr>
          <a:xfrm>
            <a:off x="868680" y="2011680"/>
            <a:ext cx="2880360" cy="914400"/>
          </a:xfrm>
          <a:prstGeom prst="roundRect">
            <a:avLst>
              <a:gd name="adj" fmla="val 12000"/>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7" name="Oval 6"/>
          <p:cNvSpPr/>
          <p:nvPr/>
        </p:nvSpPr>
        <p:spPr>
          <a:xfrm>
            <a:off x="987552" y="2304288"/>
            <a:ext cx="329184" cy="329184"/>
          </a:xfrm>
          <a:prstGeom prst="ellipse">
            <a:avLst/>
          </a:prstGeom>
          <a:solidFill>
            <a:srgbClr val="B4B9C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200" b="0" i="0">
                <a:solidFill>
                  <a:srgbClr val="FFFFFF"/>
                </a:solidFill>
                <a:latin typeface="Inter Semi Bold"/>
              </a:rPr>
              <a:t>✕</a:t>
            </a:r>
          </a:p>
        </p:txBody>
      </p:sp>
      <p:sp>
        <p:nvSpPr>
          <p:cNvPr id="8" name="TextBox 7"/>
          <p:cNvSpPr txBox="1"/>
          <p:nvPr/>
        </p:nvSpPr>
        <p:spPr>
          <a:xfrm>
            <a:off x="1444752" y="2011680"/>
            <a:ext cx="2240280" cy="914400"/>
          </a:xfrm>
          <a:prstGeom prst="rect">
            <a:avLst/>
          </a:prstGeom>
          <a:noFill/>
        </p:spPr>
        <p:txBody>
          <a:bodyPr wrap="square" anchor="ctr" lIns="0" tIns="0" rIns="0" bIns="0">
            <a:noAutofit/>
          </a:bodyPr>
          <a:lstStyle/>
          <a:p>
            <a:pPr algn="l">
              <a:lnSpc>
                <a:spcPct val="95000"/>
              </a:lnSpc>
              <a:spcAft>
                <a:spcPts val="0"/>
              </a:spcAft>
            </a:pPr>
            <a:r>
              <a:rPr sz="1600" b="0" i="0" strike="sngStrike">
                <a:solidFill>
                  <a:srgbClr val="6B6B6B"/>
                </a:solidFill>
                <a:latin typeface="Inter Semi Bold"/>
              </a:rPr>
              <a:t>2 orphaned hunt pilots</a:t>
            </a:r>
          </a:p>
        </p:txBody>
      </p:sp>
      <p:sp>
        <p:nvSpPr>
          <p:cNvPr id="9" name="Rounded Rectangle 8"/>
          <p:cNvSpPr/>
          <p:nvPr/>
        </p:nvSpPr>
        <p:spPr>
          <a:xfrm>
            <a:off x="868680" y="3127248"/>
            <a:ext cx="2880360" cy="914400"/>
          </a:xfrm>
          <a:prstGeom prst="roundRect">
            <a:avLst>
              <a:gd name="adj" fmla="val 12000"/>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0" name="Oval 9"/>
          <p:cNvSpPr/>
          <p:nvPr/>
        </p:nvSpPr>
        <p:spPr>
          <a:xfrm>
            <a:off x="987552" y="3419856"/>
            <a:ext cx="329184" cy="329184"/>
          </a:xfrm>
          <a:prstGeom prst="ellipse">
            <a:avLst/>
          </a:prstGeom>
          <a:solidFill>
            <a:srgbClr val="B4B9C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200" b="0" i="0">
                <a:solidFill>
                  <a:srgbClr val="FFFFFF"/>
                </a:solidFill>
                <a:latin typeface="Inter Semi Bold"/>
              </a:rPr>
              <a:t>✕</a:t>
            </a:r>
          </a:p>
        </p:txBody>
      </p:sp>
      <p:sp>
        <p:nvSpPr>
          <p:cNvPr id="11" name="TextBox 10"/>
          <p:cNvSpPr txBox="1"/>
          <p:nvPr/>
        </p:nvSpPr>
        <p:spPr>
          <a:xfrm>
            <a:off x="1444752" y="3127248"/>
            <a:ext cx="2240280" cy="914400"/>
          </a:xfrm>
          <a:prstGeom prst="rect">
            <a:avLst/>
          </a:prstGeom>
          <a:noFill/>
        </p:spPr>
        <p:txBody>
          <a:bodyPr wrap="square" anchor="ctr" lIns="0" tIns="0" rIns="0" bIns="0">
            <a:noAutofit/>
          </a:bodyPr>
          <a:lstStyle/>
          <a:p>
            <a:pPr algn="l">
              <a:lnSpc>
                <a:spcPct val="95000"/>
              </a:lnSpc>
              <a:spcAft>
                <a:spcPts val="0"/>
              </a:spcAft>
            </a:pPr>
            <a:r>
              <a:rPr sz="1600" b="0" i="0" strike="sngStrike">
                <a:solidFill>
                  <a:srgbClr val="6B6B6B"/>
                </a:solidFill>
                <a:latin typeface="Inter Semi Bold"/>
              </a:rPr>
              <a:t>RNA loop 8801 ⇄ 8802</a:t>
            </a:r>
          </a:p>
        </p:txBody>
      </p:sp>
      <p:sp>
        <p:nvSpPr>
          <p:cNvPr id="12" name="Rounded Rectangle 11"/>
          <p:cNvSpPr/>
          <p:nvPr/>
        </p:nvSpPr>
        <p:spPr>
          <a:xfrm>
            <a:off x="868680" y="4242816"/>
            <a:ext cx="2880360" cy="914400"/>
          </a:xfrm>
          <a:prstGeom prst="roundRect">
            <a:avLst>
              <a:gd name="adj" fmla="val 12000"/>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3" name="Oval 12"/>
          <p:cNvSpPr/>
          <p:nvPr/>
        </p:nvSpPr>
        <p:spPr>
          <a:xfrm>
            <a:off x="987552" y="4535424"/>
            <a:ext cx="329184" cy="329184"/>
          </a:xfrm>
          <a:prstGeom prst="ellipse">
            <a:avLst/>
          </a:prstGeom>
          <a:solidFill>
            <a:srgbClr val="B4B9C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200" b="0" i="0">
                <a:solidFill>
                  <a:srgbClr val="FFFFFF"/>
                </a:solidFill>
                <a:latin typeface="Inter Semi Bold"/>
              </a:rPr>
              <a:t>✕</a:t>
            </a:r>
          </a:p>
        </p:txBody>
      </p:sp>
      <p:sp>
        <p:nvSpPr>
          <p:cNvPr id="14" name="TextBox 13"/>
          <p:cNvSpPr txBox="1"/>
          <p:nvPr/>
        </p:nvSpPr>
        <p:spPr>
          <a:xfrm>
            <a:off x="1444752" y="4242816"/>
            <a:ext cx="2240280" cy="914400"/>
          </a:xfrm>
          <a:prstGeom prst="rect">
            <a:avLst/>
          </a:prstGeom>
          <a:noFill/>
        </p:spPr>
        <p:txBody>
          <a:bodyPr wrap="square" anchor="ctr" lIns="0" tIns="0" rIns="0" bIns="0">
            <a:noAutofit/>
          </a:bodyPr>
          <a:lstStyle/>
          <a:p>
            <a:pPr algn="l">
              <a:lnSpc>
                <a:spcPct val="95000"/>
              </a:lnSpc>
              <a:spcAft>
                <a:spcPts val="0"/>
              </a:spcAft>
            </a:pPr>
            <a:r>
              <a:rPr sz="1600" b="0" i="0" strike="sngStrike">
                <a:solidFill>
                  <a:srgbClr val="6B6B6B"/>
                </a:solidFill>
                <a:latin typeface="Inter Semi Bold"/>
              </a:rPr>
              <a:t>15 CUCM tables of sprawl</a:t>
            </a:r>
          </a:p>
        </p:txBody>
      </p:sp>
      <p:sp>
        <p:nvSpPr>
          <p:cNvPr id="15" name="Right Arrow 14"/>
          <p:cNvSpPr/>
          <p:nvPr/>
        </p:nvSpPr>
        <p:spPr>
          <a:xfrm>
            <a:off x="4087368" y="3017520"/>
            <a:ext cx="502920" cy="777240"/>
          </a:xfrm>
          <a:prstGeom prst="rightArrow">
            <a:avLst/>
          </a:prstGeom>
          <a:gradFill rotWithShape="1">
            <a:gsLst>
              <a:gs pos="0">
                <a:srgbClr val="06A8FF"/>
              </a:gs>
              <a:gs pos="100000">
                <a:srgbClr val="0A60FF"/>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6" name="Rounded Rectangle 15"/>
          <p:cNvSpPr/>
          <p:nvPr/>
        </p:nvSpPr>
        <p:spPr>
          <a:xfrm>
            <a:off x="4681728" y="1371600"/>
            <a:ext cx="3657600" cy="4114800"/>
          </a:xfrm>
          <a:prstGeom prst="roundRect">
            <a:avLst>
              <a:gd name="adj" fmla="val 4500"/>
            </a:avLst>
          </a:prstGeom>
          <a:gradFill rotWithShape="1">
            <a:gsLst>
              <a:gs pos="0">
                <a:srgbClr val="06A8FF"/>
              </a:gs>
              <a:gs pos="100000">
                <a:srgbClr val="0A60FF"/>
              </a:gs>
            </a:gsLst>
            <a:lin scaled="0" ang="18900000"/>
          </a:gra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7" name="TextBox 16"/>
          <p:cNvSpPr txBox="1"/>
          <p:nvPr/>
        </p:nvSpPr>
        <p:spPr>
          <a:xfrm>
            <a:off x="4937760" y="1536192"/>
            <a:ext cx="3200400" cy="365760"/>
          </a:xfrm>
          <a:prstGeom prst="rect">
            <a:avLst/>
          </a:prstGeom>
          <a:noFill/>
        </p:spPr>
        <p:txBody>
          <a:bodyPr wrap="square" anchor="t" lIns="0" tIns="0" rIns="0" bIns="0">
            <a:noAutofit/>
          </a:bodyPr>
          <a:lstStyle/>
          <a:p>
            <a:pPr algn="l">
              <a:spcAft>
                <a:spcPts val="0"/>
              </a:spcAft>
            </a:pPr>
            <a:r>
              <a:rPr sz="1500" b="0" i="0">
                <a:solidFill>
                  <a:srgbClr val="FFFFFF"/>
                </a:solidFill>
                <a:latin typeface="Inter Semi Bold"/>
              </a:rPr>
              <a:t>BUILT ON WEBEX</a:t>
            </a:r>
          </a:p>
        </p:txBody>
      </p:sp>
      <p:sp>
        <p:nvSpPr>
          <p:cNvPr id="18" name="Rounded Rectangle 17"/>
          <p:cNvSpPr/>
          <p:nvPr/>
        </p:nvSpPr>
        <p:spPr>
          <a:xfrm>
            <a:off x="4937760" y="2011680"/>
            <a:ext cx="3154680" cy="9144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19" name="Picture 18" descr="headset_06A8FF.png"/>
          <p:cNvPicPr>
            <a:picLocks noChangeAspect="1"/>
          </p:cNvPicPr>
          <p:nvPr/>
        </p:nvPicPr>
        <p:blipFill>
          <a:blip r:embed="rId2"/>
          <a:stretch>
            <a:fillRect/>
          </a:stretch>
        </p:blipFill>
        <p:spPr>
          <a:xfrm>
            <a:off x="5074920" y="2240280"/>
            <a:ext cx="457200" cy="457200"/>
          </a:xfrm>
          <a:prstGeom prst="rect">
            <a:avLst/>
          </a:prstGeom>
        </p:spPr>
      </p:pic>
      <p:sp>
        <p:nvSpPr>
          <p:cNvPr id="20" name="TextBox 19"/>
          <p:cNvSpPr txBox="1"/>
          <p:nvPr/>
        </p:nvSpPr>
        <p:spPr>
          <a:xfrm>
            <a:off x="5669280" y="2103120"/>
            <a:ext cx="2377440" cy="411480"/>
          </a:xfrm>
          <a:prstGeom prst="rect">
            <a:avLst/>
          </a:prstGeom>
          <a:noFill/>
        </p:spPr>
        <p:txBody>
          <a:bodyPr wrap="none" anchor="t" lIns="0" tIns="0" rIns="0" bIns="0">
            <a:noAutofit/>
          </a:bodyPr>
          <a:lstStyle/>
          <a:p>
            <a:pPr algn="l">
              <a:spcAft>
                <a:spcPts val="0"/>
              </a:spcAft>
            </a:pPr>
            <a:r>
              <a:rPr sz="1700" b="0" i="0">
                <a:solidFill>
                  <a:srgbClr val="0A0A0A"/>
                </a:solidFill>
                <a:latin typeface="Inter Semi Bold"/>
              </a:rPr>
              <a:t>Customer Assist</a:t>
            </a:r>
          </a:p>
        </p:txBody>
      </p:sp>
      <p:sp>
        <p:nvSpPr>
          <p:cNvPr id="21" name="TextBox 20"/>
          <p:cNvSpPr txBox="1"/>
          <p:nvPr/>
        </p:nvSpPr>
        <p:spPr>
          <a:xfrm>
            <a:off x="5669280" y="2468880"/>
            <a:ext cx="2377440" cy="411480"/>
          </a:xfrm>
          <a:prstGeom prst="rect">
            <a:avLst/>
          </a:prstGeom>
          <a:noFill/>
        </p:spPr>
        <p:txBody>
          <a:bodyPr wrap="square" anchor="t" lIns="0" tIns="0" rIns="0" bIns="0">
            <a:noAutofit/>
          </a:bodyPr>
          <a:lstStyle/>
          <a:p>
            <a:pPr algn="l">
              <a:lnSpc>
                <a:spcPct val="95000"/>
              </a:lnSpc>
              <a:spcAft>
                <a:spcPts val="0"/>
              </a:spcAft>
            </a:pPr>
            <a:r>
              <a:rPr sz="1300" b="0" i="0">
                <a:solidFill>
                  <a:srgbClr val="6B6B6B"/>
                </a:solidFill>
                <a:latin typeface="Inter"/>
              </a:rPr>
              <a:t>IT Helpdesk 4100 · Billing 5200</a:t>
            </a:r>
          </a:p>
        </p:txBody>
      </p:sp>
      <p:sp>
        <p:nvSpPr>
          <p:cNvPr id="22" name="Rounded Rectangle 21"/>
          <p:cNvSpPr/>
          <p:nvPr/>
        </p:nvSpPr>
        <p:spPr>
          <a:xfrm>
            <a:off x="4937760" y="3127248"/>
            <a:ext cx="3154680" cy="9144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23" name="Picture 22" descr="people_06A8FF.png"/>
          <p:cNvPicPr>
            <a:picLocks noChangeAspect="1"/>
          </p:cNvPicPr>
          <p:nvPr/>
        </p:nvPicPr>
        <p:blipFill>
          <a:blip r:embed="rId3"/>
          <a:stretch>
            <a:fillRect/>
          </a:stretch>
        </p:blipFill>
        <p:spPr>
          <a:xfrm>
            <a:off x="5074920" y="3355848"/>
            <a:ext cx="457200" cy="457200"/>
          </a:xfrm>
          <a:prstGeom prst="rect">
            <a:avLst/>
          </a:prstGeom>
        </p:spPr>
      </p:pic>
      <p:sp>
        <p:nvSpPr>
          <p:cNvPr id="24" name="TextBox 23"/>
          <p:cNvSpPr txBox="1"/>
          <p:nvPr/>
        </p:nvSpPr>
        <p:spPr>
          <a:xfrm>
            <a:off x="5669280" y="3218688"/>
            <a:ext cx="2377440" cy="411480"/>
          </a:xfrm>
          <a:prstGeom prst="rect">
            <a:avLst/>
          </a:prstGeom>
          <a:noFill/>
        </p:spPr>
        <p:txBody>
          <a:bodyPr wrap="none" anchor="t" lIns="0" tIns="0" rIns="0" bIns="0">
            <a:noAutofit/>
          </a:bodyPr>
          <a:lstStyle/>
          <a:p>
            <a:pPr algn="l">
              <a:spcAft>
                <a:spcPts val="0"/>
              </a:spcAft>
            </a:pPr>
            <a:r>
              <a:rPr sz="1700" b="0" i="0">
                <a:solidFill>
                  <a:srgbClr val="0A0A0A"/>
                </a:solidFill>
                <a:latin typeface="Inter Semi Bold"/>
              </a:rPr>
              <a:t>Agent screen pops</a:t>
            </a:r>
          </a:p>
        </p:txBody>
      </p:sp>
      <p:sp>
        <p:nvSpPr>
          <p:cNvPr id="25" name="TextBox 24"/>
          <p:cNvSpPr txBox="1"/>
          <p:nvPr/>
        </p:nvSpPr>
        <p:spPr>
          <a:xfrm>
            <a:off x="5669280" y="3584448"/>
            <a:ext cx="2377440" cy="411480"/>
          </a:xfrm>
          <a:prstGeom prst="rect">
            <a:avLst/>
          </a:prstGeom>
          <a:noFill/>
        </p:spPr>
        <p:txBody>
          <a:bodyPr wrap="square" anchor="t" lIns="0" tIns="0" rIns="0" bIns="0">
            <a:noAutofit/>
          </a:bodyPr>
          <a:lstStyle/>
          <a:p>
            <a:pPr algn="l">
              <a:lnSpc>
                <a:spcPct val="95000"/>
              </a:lnSpc>
              <a:spcAft>
                <a:spcPts val="0"/>
              </a:spcAft>
            </a:pPr>
            <a:r>
              <a:rPr sz="1300" b="0" i="0">
                <a:solidFill>
                  <a:srgbClr val="6B6B6B"/>
                </a:solidFill>
                <a:latin typeface="Inter"/>
              </a:rPr>
              <a:t>Caller, dialed number, reason</a:t>
            </a:r>
          </a:p>
        </p:txBody>
      </p:sp>
      <p:sp>
        <p:nvSpPr>
          <p:cNvPr id="26" name="Rounded Rectangle 25"/>
          <p:cNvSpPr/>
          <p:nvPr/>
        </p:nvSpPr>
        <p:spPr>
          <a:xfrm>
            <a:off x="4937760" y="4242816"/>
            <a:ext cx="3154680" cy="9144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27" name="Picture 26" descr="phone_06A8FF.png"/>
          <p:cNvPicPr>
            <a:picLocks noChangeAspect="1"/>
          </p:cNvPicPr>
          <p:nvPr/>
        </p:nvPicPr>
        <p:blipFill>
          <a:blip r:embed="rId4"/>
          <a:stretch>
            <a:fillRect/>
          </a:stretch>
        </p:blipFill>
        <p:spPr>
          <a:xfrm>
            <a:off x="5074920" y="4471416"/>
            <a:ext cx="457200" cy="457200"/>
          </a:xfrm>
          <a:prstGeom prst="rect">
            <a:avLst/>
          </a:prstGeom>
        </p:spPr>
      </p:pic>
      <p:sp>
        <p:nvSpPr>
          <p:cNvPr id="28" name="TextBox 27"/>
          <p:cNvSpPr txBox="1"/>
          <p:nvPr/>
        </p:nvSpPr>
        <p:spPr>
          <a:xfrm>
            <a:off x="5669280" y="4334256"/>
            <a:ext cx="2377440" cy="411480"/>
          </a:xfrm>
          <a:prstGeom prst="rect">
            <a:avLst/>
          </a:prstGeom>
          <a:noFill/>
        </p:spPr>
        <p:txBody>
          <a:bodyPr wrap="none" anchor="t" lIns="0" tIns="0" rIns="0" bIns="0">
            <a:noAutofit/>
          </a:bodyPr>
          <a:lstStyle/>
          <a:p>
            <a:pPr algn="l">
              <a:spcAft>
                <a:spcPts val="0"/>
              </a:spcAft>
            </a:pPr>
            <a:r>
              <a:rPr sz="1700" b="0" i="0">
                <a:solidFill>
                  <a:srgbClr val="0A0A0A"/>
                </a:solidFill>
                <a:latin typeface="Inter Semi Bold"/>
              </a:rPr>
              <a:t>Simple Hunt Group</a:t>
            </a:r>
          </a:p>
        </p:txBody>
      </p:sp>
      <p:sp>
        <p:nvSpPr>
          <p:cNvPr id="29" name="TextBox 28"/>
          <p:cNvSpPr txBox="1"/>
          <p:nvPr/>
        </p:nvSpPr>
        <p:spPr>
          <a:xfrm>
            <a:off x="5669280" y="4700016"/>
            <a:ext cx="2377440" cy="411480"/>
          </a:xfrm>
          <a:prstGeom prst="rect">
            <a:avLst/>
          </a:prstGeom>
          <a:noFill/>
        </p:spPr>
        <p:txBody>
          <a:bodyPr wrap="square" anchor="t" lIns="0" tIns="0" rIns="0" bIns="0">
            <a:noAutofit/>
          </a:bodyPr>
          <a:lstStyle/>
          <a:p>
            <a:pPr algn="l">
              <a:lnSpc>
                <a:spcPct val="95000"/>
              </a:lnSpc>
              <a:spcAft>
                <a:spcPts val="0"/>
              </a:spcAft>
            </a:pPr>
            <a:r>
              <a:rPr sz="1300" b="0" i="0">
                <a:solidFill>
                  <a:srgbClr val="6B6B6B"/>
                </a:solidFill>
                <a:latin typeface="Inter"/>
              </a:rPr>
              <a:t>Facilities 3000 stays basic</a:t>
            </a:r>
          </a:p>
        </p:txBody>
      </p:sp>
      <p:sp>
        <p:nvSpPr>
          <p:cNvPr id="30" name="TextBox 29"/>
          <p:cNvSpPr txBox="1"/>
          <p:nvPr/>
        </p:nvSpPr>
        <p:spPr>
          <a:xfrm>
            <a:off x="8595360" y="1417320"/>
            <a:ext cx="2926080" cy="365760"/>
          </a:xfrm>
          <a:prstGeom prst="rect">
            <a:avLst/>
          </a:prstGeom>
          <a:noFill/>
        </p:spPr>
        <p:txBody>
          <a:bodyPr wrap="square" anchor="t" lIns="0" tIns="0" rIns="0" bIns="0">
            <a:noAutofit/>
          </a:bodyPr>
          <a:lstStyle/>
          <a:p>
            <a:pPr algn="l">
              <a:spcAft>
                <a:spcPts val="0"/>
              </a:spcAft>
            </a:pPr>
            <a:r>
              <a:rPr sz="1500" b="0" i="0">
                <a:solidFill>
                  <a:srgbClr val="6B6B6B"/>
                </a:solidFill>
                <a:latin typeface="Inter Semi Bold"/>
              </a:rPr>
              <a:t>IMPACT</a:t>
            </a:r>
          </a:p>
        </p:txBody>
      </p:sp>
      <p:sp>
        <p:nvSpPr>
          <p:cNvPr id="31" name="TextBox 30"/>
          <p:cNvSpPr txBox="1"/>
          <p:nvPr/>
        </p:nvSpPr>
        <p:spPr>
          <a:xfrm>
            <a:off x="8595360" y="1828800"/>
            <a:ext cx="2990088" cy="685800"/>
          </a:xfrm>
          <a:prstGeom prst="rect">
            <a:avLst/>
          </a:prstGeom>
          <a:noFill/>
        </p:spPr>
        <p:txBody>
          <a:bodyPr wrap="none" anchor="t" lIns="0" tIns="0" rIns="0" bIns="0">
            <a:noAutofit/>
          </a:bodyPr>
          <a:lstStyle/>
          <a:p>
            <a:pPr algn="l">
              <a:spcAft>
                <a:spcPts val="0"/>
              </a:spcAft>
            </a:pPr>
            <a:r>
              <a:rPr sz="4000" b="0" i="0">
                <a:solidFill>
                  <a:srgbClr val="06A8FF"/>
                </a:solidFill>
                <a:latin typeface="Inter Semi Bold"/>
              </a:rPr>
              <a:t>0</a:t>
            </a:r>
          </a:p>
        </p:txBody>
      </p:sp>
      <p:sp>
        <p:nvSpPr>
          <p:cNvPr id="32" name="TextBox 31"/>
          <p:cNvSpPr txBox="1"/>
          <p:nvPr/>
        </p:nvSpPr>
        <p:spPr>
          <a:xfrm>
            <a:off x="8595360" y="2487168"/>
            <a:ext cx="2990088" cy="457200"/>
          </a:xfrm>
          <a:prstGeom prst="rect">
            <a:avLst/>
          </a:prstGeom>
          <a:noFill/>
        </p:spPr>
        <p:txBody>
          <a:bodyPr wrap="square" anchor="t" lIns="0" tIns="0" rIns="0" bIns="0">
            <a:noAutofit/>
          </a:bodyPr>
          <a:lstStyle/>
          <a:p>
            <a:pPr algn="l">
              <a:spcAft>
                <a:spcPts val="0"/>
              </a:spcAft>
            </a:pPr>
            <a:r>
              <a:rPr sz="1500" b="0" i="0">
                <a:solidFill>
                  <a:srgbClr val="282828"/>
                </a:solidFill>
                <a:latin typeface="Inter Semi Bold"/>
              </a:rPr>
              <a:t>garbage configs migrated</a:t>
            </a:r>
          </a:p>
        </p:txBody>
      </p:sp>
      <p:sp>
        <p:nvSpPr>
          <p:cNvPr id="33" name="TextBox 32"/>
          <p:cNvSpPr txBox="1"/>
          <p:nvPr/>
        </p:nvSpPr>
        <p:spPr>
          <a:xfrm>
            <a:off x="8595360" y="3063240"/>
            <a:ext cx="2990088" cy="685800"/>
          </a:xfrm>
          <a:prstGeom prst="rect">
            <a:avLst/>
          </a:prstGeom>
          <a:noFill/>
        </p:spPr>
        <p:txBody>
          <a:bodyPr wrap="none" anchor="t" lIns="0" tIns="0" rIns="0" bIns="0">
            <a:noAutofit/>
          </a:bodyPr>
          <a:lstStyle/>
          <a:p>
            <a:pPr algn="l">
              <a:spcAft>
                <a:spcPts val="0"/>
              </a:spcAft>
            </a:pPr>
            <a:r>
              <a:rPr sz="4000" b="0" i="0">
                <a:solidFill>
                  <a:srgbClr val="06A8FF"/>
                </a:solidFill>
                <a:latin typeface="Inter Semi Bold"/>
              </a:rPr>
              <a:t>Live</a:t>
            </a:r>
          </a:p>
        </p:txBody>
      </p:sp>
      <p:sp>
        <p:nvSpPr>
          <p:cNvPr id="34" name="TextBox 33"/>
          <p:cNvSpPr txBox="1"/>
          <p:nvPr/>
        </p:nvSpPr>
        <p:spPr>
          <a:xfrm>
            <a:off x="8595360" y="3721608"/>
            <a:ext cx="2990088" cy="457200"/>
          </a:xfrm>
          <a:prstGeom prst="rect">
            <a:avLst/>
          </a:prstGeom>
          <a:noFill/>
        </p:spPr>
        <p:txBody>
          <a:bodyPr wrap="square" anchor="t" lIns="0" tIns="0" rIns="0" bIns="0">
            <a:noAutofit/>
          </a:bodyPr>
          <a:lstStyle/>
          <a:p>
            <a:pPr algn="l">
              <a:spcAft>
                <a:spcPts val="0"/>
              </a:spcAft>
            </a:pPr>
            <a:r>
              <a:rPr sz="1500" b="0" i="0">
                <a:solidFill>
                  <a:srgbClr val="282828"/>
                </a:solidFill>
                <a:latin typeface="Inter Semi Bold"/>
              </a:rPr>
              <a:t>queue depth, agent state, SLA</a:t>
            </a:r>
          </a:p>
        </p:txBody>
      </p:sp>
      <p:sp>
        <p:nvSpPr>
          <p:cNvPr id="35" name="TextBox 34"/>
          <p:cNvSpPr txBox="1"/>
          <p:nvPr/>
        </p:nvSpPr>
        <p:spPr>
          <a:xfrm>
            <a:off x="8595360" y="4297680"/>
            <a:ext cx="2990088" cy="685800"/>
          </a:xfrm>
          <a:prstGeom prst="rect">
            <a:avLst/>
          </a:prstGeom>
          <a:noFill/>
        </p:spPr>
        <p:txBody>
          <a:bodyPr wrap="none" anchor="t" lIns="0" tIns="0" rIns="0" bIns="0">
            <a:noAutofit/>
          </a:bodyPr>
          <a:lstStyle/>
          <a:p>
            <a:pPr algn="l">
              <a:spcAft>
                <a:spcPts val="0"/>
              </a:spcAft>
            </a:pPr>
            <a:r>
              <a:rPr sz="4000" b="0" i="0">
                <a:solidFill>
                  <a:srgbClr val="06A8FF"/>
                </a:solidFill>
                <a:latin typeface="Inter Semi Bold"/>
              </a:rPr>
              <a:t>5 min</a:t>
            </a:r>
          </a:p>
        </p:txBody>
      </p:sp>
      <p:sp>
        <p:nvSpPr>
          <p:cNvPr id="36" name="TextBox 35"/>
          <p:cNvSpPr txBox="1"/>
          <p:nvPr/>
        </p:nvSpPr>
        <p:spPr>
          <a:xfrm>
            <a:off x="8595360" y="4956048"/>
            <a:ext cx="2990088" cy="457200"/>
          </a:xfrm>
          <a:prstGeom prst="rect">
            <a:avLst/>
          </a:prstGeom>
          <a:noFill/>
        </p:spPr>
        <p:txBody>
          <a:bodyPr wrap="square" anchor="t" lIns="0" tIns="0" rIns="0" bIns="0">
            <a:noAutofit/>
          </a:bodyPr>
          <a:lstStyle/>
          <a:p>
            <a:pPr algn="l">
              <a:spcAft>
                <a:spcPts val="0"/>
              </a:spcAft>
            </a:pPr>
            <a:r>
              <a:rPr sz="1500" b="0" i="0">
                <a:solidFill>
                  <a:srgbClr val="282828"/>
                </a:solidFill>
                <a:latin typeface="Inter Semi Bold"/>
              </a:rPr>
              <a:t>topology audit vs. weeks</a:t>
            </a:r>
          </a:p>
        </p:txBody>
      </p:sp>
      <p:sp>
        <p:nvSpPr>
          <p:cNvPr id="37" name="Rounded Rectangle 36"/>
          <p:cNvSpPr/>
          <p:nvPr/>
        </p:nvSpPr>
        <p:spPr>
          <a:xfrm>
            <a:off x="609904" y="5623560"/>
            <a:ext cx="10972800" cy="566928"/>
          </a:xfrm>
          <a:prstGeom prst="roundRect">
            <a:avLst>
              <a:gd name="adj" fmla="val 50000"/>
            </a:avLst>
          </a:prstGeom>
          <a:solidFill>
            <a:srgbClr val="0A0A0A"/>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45720" tIns="0" rIns="45720" bIns="0">
            <a:noAutofit/>
          </a:bodyPr>
          <a:lstStyle/>
          <a:p>
            <a:pPr algn="ctr">
              <a:spcAft>
                <a:spcPts val="0"/>
              </a:spcAft>
            </a:pPr>
            <a:r>
              <a:rPr sz="1800" b="0" i="0">
                <a:solidFill>
                  <a:srgbClr val="00C8FF"/>
                </a:solidFill>
                <a:latin typeface="Inter Semi Bold"/>
              </a:rPr>
              <a:t>Takeaway:  </a:t>
            </a:r>
            <a:r>
              <a:rPr sz="1800" b="0" i="0">
                <a:solidFill>
                  <a:srgbClr val="FFFFFF"/>
                </a:solidFill>
                <a:latin typeface="Inter Semi Bold"/>
              </a:rPr>
              <a:t>GenAI rationalizes hunt chains, so you migrate only what adds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Turn greetings into a knowledge base</a:t>
            </a:r>
          </a:p>
        </p:txBody>
      </p:sp>
      <p:sp>
        <p:nvSpPr>
          <p:cNvPr id="3" name="TextBox 2"/>
          <p:cNvSpPr txBox="1"/>
          <p:nvPr/>
        </p:nvSpPr>
        <p:spPr>
          <a:xfrm>
            <a:off x="609904" y="256032"/>
            <a:ext cx="10515600" cy="310896"/>
          </a:xfrm>
          <a:prstGeom prst="rect">
            <a:avLst/>
          </a:prstGeom>
          <a:noFill/>
        </p:spPr>
        <p:txBody>
          <a:bodyPr wrap="square" anchor="t" lIns="0" tIns="0" rIns="0" bIns="0">
            <a:noAutofit/>
          </a:bodyPr>
          <a:lstStyle/>
          <a:p>
            <a:pPr algn="l">
              <a:spcAft>
                <a:spcPts val="0"/>
              </a:spcAft>
            </a:pPr>
            <a:r>
              <a:rPr sz="1400" b="0" i="0">
                <a:solidFill>
                  <a:srgbClr val="FF007F"/>
                </a:solidFill>
                <a:latin typeface="Inter Semi Bold"/>
              </a:rPr>
              <a:t>PLAY 3 · SETUP: DATA &amp; PROMPT</a:t>
            </a:r>
          </a:p>
        </p:txBody>
      </p:sp>
      <p:sp>
        <p:nvSpPr>
          <p:cNvPr id="4" name="Rounded Rectangle 3"/>
          <p:cNvSpPr/>
          <p:nvPr/>
        </p:nvSpPr>
        <p:spPr>
          <a:xfrm>
            <a:off x="609904" y="1371600"/>
            <a:ext cx="3429000" cy="4069080"/>
          </a:xfrm>
          <a:prstGeom prst="roundRect">
            <a:avLst>
              <a:gd name="adj" fmla="val 48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5" name="Oval 4"/>
          <p:cNvSpPr/>
          <p:nvPr/>
        </p:nvSpPr>
        <p:spPr>
          <a:xfrm>
            <a:off x="822960" y="1554480"/>
            <a:ext cx="457200" cy="457200"/>
          </a:xfrm>
          <a:prstGeom prst="ellipse">
            <a:avLst/>
          </a:prstGeom>
          <a:solidFill>
            <a:srgbClr val="FF007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800" b="0" i="0">
                <a:solidFill>
                  <a:srgbClr val="FFFFFF"/>
                </a:solidFill>
                <a:latin typeface="Inter Semi Bold"/>
              </a:rPr>
              <a:t>1</a:t>
            </a:r>
          </a:p>
        </p:txBody>
      </p:sp>
      <p:sp>
        <p:nvSpPr>
          <p:cNvPr id="6" name="TextBox 5"/>
          <p:cNvSpPr txBox="1"/>
          <p:nvPr/>
        </p:nvSpPr>
        <p:spPr>
          <a:xfrm>
            <a:off x="1417320" y="1554480"/>
            <a:ext cx="2560320" cy="457200"/>
          </a:xfrm>
          <a:prstGeom prst="rect">
            <a:avLst/>
          </a:prstGeom>
          <a:noFill/>
        </p:spPr>
        <p:txBody>
          <a:bodyPr wrap="square" anchor="ctr" lIns="0" tIns="0" rIns="0" bIns="0">
            <a:noAutofit/>
          </a:bodyPr>
          <a:lstStyle/>
          <a:p>
            <a:pPr algn="l">
              <a:spcAft>
                <a:spcPts val="0"/>
              </a:spcAft>
            </a:pPr>
            <a:r>
              <a:rPr sz="1500" b="0" i="0">
                <a:solidFill>
                  <a:srgbClr val="6B6B6B"/>
                </a:solidFill>
                <a:latin typeface="Inter Semi Bold"/>
              </a:rPr>
              <a:t>DATA IN</a:t>
            </a:r>
          </a:p>
        </p:txBody>
      </p:sp>
      <p:sp>
        <p:nvSpPr>
          <p:cNvPr id="7" name="TextBox 6"/>
          <p:cNvSpPr txBox="1"/>
          <p:nvPr/>
        </p:nvSpPr>
        <p:spPr>
          <a:xfrm>
            <a:off x="822960" y="2103120"/>
            <a:ext cx="3108960" cy="411480"/>
          </a:xfrm>
          <a:prstGeom prst="rect">
            <a:avLst/>
          </a:prstGeom>
          <a:noFill/>
        </p:spPr>
        <p:txBody>
          <a:bodyPr wrap="none" anchor="t" lIns="0" tIns="0" rIns="0" bIns="0">
            <a:noAutofit/>
          </a:bodyPr>
          <a:lstStyle/>
          <a:p>
            <a:pPr algn="l">
              <a:spcAft>
                <a:spcPts val="0"/>
              </a:spcAft>
            </a:pPr>
            <a:r>
              <a:rPr sz="1800" b="0" i="0">
                <a:solidFill>
                  <a:srgbClr val="0A0A0A"/>
                </a:solidFill>
                <a:latin typeface="Inter Semi Bold"/>
              </a:rPr>
              <a:t>CallHandlerDataDump</a:t>
            </a:r>
          </a:p>
        </p:txBody>
      </p:sp>
      <p:sp>
        <p:nvSpPr>
          <p:cNvPr id="8" name="Rounded Rectangle 7"/>
          <p:cNvSpPr/>
          <p:nvPr/>
        </p:nvSpPr>
        <p:spPr>
          <a:xfrm>
            <a:off x="822960" y="2651760"/>
            <a:ext cx="301752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300" b="0" i="0">
                <a:solidFill>
                  <a:srgbClr val="282828"/>
                </a:solidFill>
                <a:latin typeface="Consolas"/>
              </a:rPr>
              <a:t>cuc_call_handlers.csv</a:t>
            </a:r>
          </a:p>
        </p:txBody>
      </p:sp>
      <p:sp>
        <p:nvSpPr>
          <p:cNvPr id="9" name="Rounded Rectangle 8"/>
          <p:cNvSpPr/>
          <p:nvPr/>
        </p:nvSpPr>
        <p:spPr>
          <a:xfrm>
            <a:off x="822960" y="3273552"/>
            <a:ext cx="301752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300" b="0" i="0">
                <a:solidFill>
                  <a:srgbClr val="282828"/>
                </a:solidFill>
                <a:latin typeface="Consolas"/>
              </a:rPr>
              <a:t>cuc_menu_entries.csv</a:t>
            </a:r>
          </a:p>
        </p:txBody>
      </p:sp>
      <p:sp>
        <p:nvSpPr>
          <p:cNvPr id="10" name="Rounded Rectangle 9"/>
          <p:cNvSpPr/>
          <p:nvPr/>
        </p:nvSpPr>
        <p:spPr>
          <a:xfrm>
            <a:off x="822960" y="3895344"/>
            <a:ext cx="301752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300" b="0" i="0">
                <a:solidFill>
                  <a:srgbClr val="282828"/>
                </a:solidFill>
                <a:latin typeface="Consolas"/>
              </a:rPr>
              <a:t>cuc_greetings_transcripts.csv</a:t>
            </a:r>
          </a:p>
        </p:txBody>
      </p:sp>
      <p:sp>
        <p:nvSpPr>
          <p:cNvPr id="11" name="Rounded Rectangle 10"/>
          <p:cNvSpPr/>
          <p:nvPr/>
        </p:nvSpPr>
        <p:spPr>
          <a:xfrm>
            <a:off x="822960" y="4517136"/>
            <a:ext cx="301752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300" b="0" i="0">
                <a:solidFill>
                  <a:srgbClr val="282828"/>
                </a:solidFill>
                <a:latin typeface="Consolas"/>
              </a:rPr>
              <a:t>cuc_company_directory.csv</a:t>
            </a:r>
          </a:p>
        </p:txBody>
      </p:sp>
      <p:cxnSp>
        <p:nvCxnSpPr>
          <p:cNvPr id="12" name="Connector 11"/>
          <p:cNvCxnSpPr/>
          <p:nvPr/>
        </p:nvCxnSpPr>
        <p:spPr>
          <a:xfrm>
            <a:off x="4087368" y="3401568"/>
            <a:ext cx="320040" cy="0"/>
          </a:xfrm>
          <a:prstGeom prst="line">
            <a:avLst/>
          </a:prstGeom>
          <a:ln w="317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453128" y="1371600"/>
            <a:ext cx="4160520" cy="4069080"/>
          </a:xfrm>
          <a:prstGeom prst="roundRect">
            <a:avLst>
              <a:gd name="adj" fmla="val 4044"/>
            </a:avLst>
          </a:prstGeom>
          <a:solidFill>
            <a:srgbClr val="0A0A0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4" name="Oval 13"/>
          <p:cNvSpPr/>
          <p:nvPr/>
        </p:nvSpPr>
        <p:spPr>
          <a:xfrm>
            <a:off x="4663440" y="1554480"/>
            <a:ext cx="457200" cy="457200"/>
          </a:xfrm>
          <a:prstGeom prst="ellipse">
            <a:avLst/>
          </a:prstGeom>
          <a:solidFill>
            <a:srgbClr val="FF007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800" b="0" i="0">
                <a:solidFill>
                  <a:srgbClr val="FFFFFF"/>
                </a:solidFill>
                <a:latin typeface="Inter Semi Bold"/>
              </a:rPr>
              <a:t>2</a:t>
            </a:r>
          </a:p>
        </p:txBody>
      </p:sp>
      <p:sp>
        <p:nvSpPr>
          <p:cNvPr id="15" name="TextBox 14"/>
          <p:cNvSpPr txBox="1"/>
          <p:nvPr/>
        </p:nvSpPr>
        <p:spPr>
          <a:xfrm>
            <a:off x="5257800" y="1554480"/>
            <a:ext cx="3200400" cy="457200"/>
          </a:xfrm>
          <a:prstGeom prst="rect">
            <a:avLst/>
          </a:prstGeom>
          <a:noFill/>
        </p:spPr>
        <p:txBody>
          <a:bodyPr wrap="square" anchor="ctr" lIns="0" tIns="0" rIns="0" bIns="0">
            <a:noAutofit/>
          </a:bodyPr>
          <a:lstStyle/>
          <a:p>
            <a:pPr algn="l">
              <a:spcAft>
                <a:spcPts val="0"/>
              </a:spcAft>
            </a:pPr>
            <a:r>
              <a:rPr sz="1500" b="0" i="0">
                <a:solidFill>
                  <a:srgbClr val="B4B9C0"/>
                </a:solidFill>
                <a:latin typeface="Inter Semi Bold"/>
              </a:rPr>
              <a:t>MASTER PROMPT</a:t>
            </a:r>
          </a:p>
        </p:txBody>
      </p:sp>
      <p:sp>
        <p:nvSpPr>
          <p:cNvPr id="16" name="TextBox 15"/>
          <p:cNvSpPr txBox="1"/>
          <p:nvPr/>
        </p:nvSpPr>
        <p:spPr>
          <a:xfrm>
            <a:off x="4663440" y="2194560"/>
            <a:ext cx="3840480" cy="3108960"/>
          </a:xfrm>
          <a:prstGeom prst="rect">
            <a:avLst/>
          </a:prstGeom>
          <a:noFill/>
        </p:spPr>
        <p:txBody>
          <a:bodyPr wrap="none" anchor="t" lIns="0" tIns="0" rIns="0" bIns="0">
            <a:noAutofit/>
          </a:bodyPr>
          <a:lstStyle/>
          <a:p>
            <a:pPr algn="l">
              <a:spcAft>
                <a:spcPts val="900"/>
              </a:spcAft>
            </a:pPr>
            <a:r>
              <a:rPr sz="1300" b="0" i="0">
                <a:solidFill>
                  <a:srgbClr val="00C8FF"/>
                </a:solidFill>
                <a:latin typeface="Consolas"/>
              </a:rPr>
              <a:t>ROLE    </a:t>
            </a:r>
            <a:r>
              <a:rPr sz="1300" b="0" i="0">
                <a:solidFill>
                  <a:srgbClr val="FFFFFF"/>
                </a:solidFill>
                <a:latin typeface="Consolas"/>
              </a:rPr>
              <a:t>Principal collab architect</a:t>
            </a:r>
          </a:p>
          <a:p>
            <a:pPr algn="l">
              <a:spcAft>
                <a:spcPts val="900"/>
              </a:spcAft>
            </a:pPr>
            <a:r>
              <a:rPr sz="1300" b="0" i="0">
                <a:solidFill>
                  <a:srgbClr val="00C8FF"/>
                </a:solidFill>
                <a:latin typeface="Consolas"/>
              </a:rPr>
              <a:t>FLATTEN </a:t>
            </a:r>
            <a:r>
              <a:rPr sz="1300" b="0" i="0">
                <a:solidFill>
                  <a:srgbClr val="FFFFFF"/>
                </a:solidFill>
                <a:latin typeface="Consolas"/>
              </a:rPr>
              <a:t>3-tier DTMF → speech</a:t>
            </a:r>
          </a:p>
          <a:p>
            <a:pPr algn="l">
              <a:spcAft>
                <a:spcPts val="900"/>
              </a:spcAft>
            </a:pPr>
            <a:r>
              <a:rPr sz="1300" b="0" i="0">
                <a:solidFill>
                  <a:srgbClr val="00C8FF"/>
                </a:solidFill>
                <a:latin typeface="Consolas"/>
              </a:rPr>
              <a:t>        </a:t>
            </a:r>
            <a:r>
              <a:rPr sz="1300" b="0" i="0">
                <a:solidFill>
                  <a:srgbClr val="FFFFFF"/>
                </a:solidFill>
                <a:latin typeface="Consolas"/>
              </a:rPr>
              <a:t>Request → destination</a:t>
            </a:r>
          </a:p>
          <a:p>
            <a:pPr algn="l">
              <a:spcAft>
                <a:spcPts val="900"/>
              </a:spcAft>
            </a:pPr>
            <a:r>
              <a:rPr sz="1300" b="0" i="0">
                <a:solidFill>
                  <a:srgbClr val="00C8FF"/>
                </a:solidFill>
                <a:latin typeface="Consolas"/>
              </a:rPr>
              <a:t>CONVERT </a:t>
            </a:r>
            <a:r>
              <a:rPr sz="1300" b="0" i="0">
                <a:solidFill>
                  <a:srgbClr val="FFFFFF"/>
                </a:solidFill>
                <a:latin typeface="Consolas"/>
              </a:rPr>
              <a:t>45s greetings → FAQ</a:t>
            </a:r>
          </a:p>
          <a:p>
            <a:pPr algn="l">
              <a:spcAft>
                <a:spcPts val="900"/>
              </a:spcAft>
            </a:pPr>
            <a:r>
              <a:rPr sz="1300" b="0" i="0">
                <a:solidFill>
                  <a:srgbClr val="00C8FF"/>
                </a:solidFill>
                <a:latin typeface="Consolas"/>
              </a:rPr>
              <a:t>ACTION  </a:t>
            </a:r>
            <a:r>
              <a:rPr sz="1300" b="0" i="0">
                <a:solidFill>
                  <a:srgbClr val="FFFFFF"/>
                </a:solidFill>
                <a:latin typeface="Consolas"/>
              </a:rPr>
              <a:t>SMS links to callers</a:t>
            </a:r>
          </a:p>
          <a:p>
            <a:pPr algn="l">
              <a:spcAft>
                <a:spcPts val="900"/>
              </a:spcAft>
            </a:pPr>
            <a:r>
              <a:rPr sz="1300" b="0" i="0">
                <a:solidFill>
                  <a:srgbClr val="00C8FF"/>
                </a:solidFill>
                <a:latin typeface="Consolas"/>
              </a:rPr>
              <a:t>TARGET  </a:t>
            </a:r>
            <a:r>
              <a:rPr sz="1300" b="0" i="0">
                <a:solidFill>
                  <a:srgbClr val="FFFFFF"/>
                </a:solidFill>
                <a:latin typeface="Consolas"/>
              </a:rPr>
              <a:t>Webex AI Receptionist</a:t>
            </a:r>
          </a:p>
        </p:txBody>
      </p:sp>
      <p:cxnSp>
        <p:nvCxnSpPr>
          <p:cNvPr id="17" name="Connector 16"/>
          <p:cNvCxnSpPr/>
          <p:nvPr/>
        </p:nvCxnSpPr>
        <p:spPr>
          <a:xfrm>
            <a:off x="8659368" y="3401568"/>
            <a:ext cx="320040" cy="0"/>
          </a:xfrm>
          <a:prstGeom prst="line">
            <a:avLst/>
          </a:prstGeom>
          <a:ln w="317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025128" y="1371600"/>
            <a:ext cx="2560320" cy="4069080"/>
          </a:xfrm>
          <a:prstGeom prst="roundRect">
            <a:avLst>
              <a:gd name="adj" fmla="val 6428"/>
            </a:avLst>
          </a:prstGeom>
          <a:gradFill rotWithShape="1">
            <a:gsLst>
              <a:gs pos="0">
                <a:srgbClr val="FF007F"/>
              </a:gs>
              <a:gs pos="100000">
                <a:srgbClr val="8A3FFC"/>
              </a:gs>
            </a:gsLst>
            <a:lin scaled="0" ang="18900000"/>
          </a:gra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9" name="Oval 18"/>
          <p:cNvSpPr/>
          <p:nvPr/>
        </p:nvSpPr>
        <p:spPr>
          <a:xfrm>
            <a:off x="9235440" y="1554480"/>
            <a:ext cx="457200" cy="457200"/>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800" b="0" i="0">
                <a:solidFill>
                  <a:srgbClr val="FF007F"/>
                </a:solidFill>
                <a:latin typeface="Inter Semi Bold"/>
              </a:rPr>
              <a:t>3</a:t>
            </a:r>
          </a:p>
        </p:txBody>
      </p:sp>
      <p:sp>
        <p:nvSpPr>
          <p:cNvPr id="20" name="TextBox 19"/>
          <p:cNvSpPr txBox="1"/>
          <p:nvPr/>
        </p:nvSpPr>
        <p:spPr>
          <a:xfrm>
            <a:off x="9829800" y="1554480"/>
            <a:ext cx="1645920" cy="457200"/>
          </a:xfrm>
          <a:prstGeom prst="rect">
            <a:avLst/>
          </a:prstGeom>
          <a:noFill/>
        </p:spPr>
        <p:txBody>
          <a:bodyPr wrap="square" anchor="ctr" lIns="0" tIns="0" rIns="0" bIns="0">
            <a:noAutofit/>
          </a:bodyPr>
          <a:lstStyle/>
          <a:p>
            <a:pPr algn="l">
              <a:spcAft>
                <a:spcPts val="0"/>
              </a:spcAft>
            </a:pPr>
            <a:r>
              <a:rPr sz="1500" b="0" i="0">
                <a:solidFill>
                  <a:srgbClr val="FFFFFF"/>
                </a:solidFill>
                <a:latin typeface="Inter Semi Bold"/>
              </a:rPr>
              <a:t>OUTPUT</a:t>
            </a:r>
          </a:p>
        </p:txBody>
      </p:sp>
      <p:pic>
        <p:nvPicPr>
          <p:cNvPr id="21" name="Picture 20" descr="chat_FFFFFF.png"/>
          <p:cNvPicPr>
            <a:picLocks noChangeAspect="1"/>
          </p:cNvPicPr>
          <p:nvPr/>
        </p:nvPicPr>
        <p:blipFill>
          <a:blip r:embed="rId2"/>
          <a:stretch>
            <a:fillRect/>
          </a:stretch>
        </p:blipFill>
        <p:spPr>
          <a:xfrm>
            <a:off x="9235440" y="2240280"/>
            <a:ext cx="457200" cy="457200"/>
          </a:xfrm>
          <a:prstGeom prst="rect">
            <a:avLst/>
          </a:prstGeom>
        </p:spPr>
      </p:pic>
      <p:sp>
        <p:nvSpPr>
          <p:cNvPr id="22" name="TextBox 21"/>
          <p:cNvSpPr txBox="1"/>
          <p:nvPr/>
        </p:nvSpPr>
        <p:spPr>
          <a:xfrm>
            <a:off x="9829800" y="2148840"/>
            <a:ext cx="1691640" cy="868680"/>
          </a:xfrm>
          <a:prstGeom prst="rect">
            <a:avLst/>
          </a:prstGeom>
          <a:noFill/>
        </p:spPr>
        <p:txBody>
          <a:bodyPr wrap="square" anchor="t" lIns="0" tIns="0" rIns="0" bIns="0">
            <a:noAutofit/>
          </a:bodyPr>
          <a:lstStyle/>
          <a:p>
            <a:pPr algn="l">
              <a:lnSpc>
                <a:spcPct val="95000"/>
              </a:lnSpc>
              <a:spcAft>
                <a:spcPts val="0"/>
              </a:spcAft>
            </a:pPr>
            <a:r>
              <a:rPr sz="1600" b="0" i="0">
                <a:solidFill>
                  <a:srgbClr val="FFFFFF"/>
                </a:solidFill>
                <a:latin typeface="Inter Semi Bold"/>
              </a:rPr>
              <a:t>AI Receptionist FAQ table</a:t>
            </a:r>
          </a:p>
        </p:txBody>
      </p:sp>
      <p:pic>
        <p:nvPicPr>
          <p:cNvPr id="23" name="Picture 22" descr="graph_FFFFFF.png"/>
          <p:cNvPicPr>
            <a:picLocks noChangeAspect="1"/>
          </p:cNvPicPr>
          <p:nvPr/>
        </p:nvPicPr>
        <p:blipFill>
          <a:blip r:embed="rId3"/>
          <a:stretch>
            <a:fillRect/>
          </a:stretch>
        </p:blipFill>
        <p:spPr>
          <a:xfrm>
            <a:off x="9235440" y="3264408"/>
            <a:ext cx="457200" cy="457200"/>
          </a:xfrm>
          <a:prstGeom prst="rect">
            <a:avLst/>
          </a:prstGeom>
        </p:spPr>
      </p:pic>
      <p:sp>
        <p:nvSpPr>
          <p:cNvPr id="24" name="TextBox 23"/>
          <p:cNvSpPr txBox="1"/>
          <p:nvPr/>
        </p:nvSpPr>
        <p:spPr>
          <a:xfrm>
            <a:off x="9829800" y="3172968"/>
            <a:ext cx="1691640" cy="868680"/>
          </a:xfrm>
          <a:prstGeom prst="rect">
            <a:avLst/>
          </a:prstGeom>
          <a:noFill/>
        </p:spPr>
        <p:txBody>
          <a:bodyPr wrap="square" anchor="t" lIns="0" tIns="0" rIns="0" bIns="0">
            <a:noAutofit/>
          </a:bodyPr>
          <a:lstStyle/>
          <a:p>
            <a:pPr algn="l">
              <a:lnSpc>
                <a:spcPct val="95000"/>
              </a:lnSpc>
              <a:spcAft>
                <a:spcPts val="0"/>
              </a:spcAft>
            </a:pPr>
            <a:r>
              <a:rPr sz="1600" b="0" i="0">
                <a:solidFill>
                  <a:srgbClr val="FFFFFF"/>
                </a:solidFill>
                <a:latin typeface="Inter Semi Bold"/>
              </a:rPr>
              <a:t>Intent → destination map</a:t>
            </a:r>
          </a:p>
        </p:txBody>
      </p:sp>
      <p:pic>
        <p:nvPicPr>
          <p:cNvPr id="25" name="Picture 24" descr="phone_FFFFFF.png"/>
          <p:cNvPicPr>
            <a:picLocks noChangeAspect="1"/>
          </p:cNvPicPr>
          <p:nvPr/>
        </p:nvPicPr>
        <p:blipFill>
          <a:blip r:embed="rId4"/>
          <a:stretch>
            <a:fillRect/>
          </a:stretch>
        </p:blipFill>
        <p:spPr>
          <a:xfrm>
            <a:off x="9235440" y="4288536"/>
            <a:ext cx="457200" cy="457200"/>
          </a:xfrm>
          <a:prstGeom prst="rect">
            <a:avLst/>
          </a:prstGeom>
        </p:spPr>
      </p:pic>
      <p:sp>
        <p:nvSpPr>
          <p:cNvPr id="26" name="TextBox 25"/>
          <p:cNvSpPr txBox="1"/>
          <p:nvPr/>
        </p:nvSpPr>
        <p:spPr>
          <a:xfrm>
            <a:off x="9829800" y="4197096"/>
            <a:ext cx="1691640" cy="868680"/>
          </a:xfrm>
          <a:prstGeom prst="rect">
            <a:avLst/>
          </a:prstGeom>
          <a:noFill/>
        </p:spPr>
        <p:txBody>
          <a:bodyPr wrap="square" anchor="t" lIns="0" tIns="0" rIns="0" bIns="0">
            <a:noAutofit/>
          </a:bodyPr>
          <a:lstStyle/>
          <a:p>
            <a:pPr algn="l">
              <a:lnSpc>
                <a:spcPct val="95000"/>
              </a:lnSpc>
              <a:spcAft>
                <a:spcPts val="0"/>
              </a:spcAft>
            </a:pPr>
            <a:r>
              <a:rPr sz="1600" b="0" i="0">
                <a:solidFill>
                  <a:srgbClr val="FFFFFF"/>
                </a:solidFill>
                <a:latin typeface="Inter Semi Bold"/>
              </a:rPr>
              <a:t>SMS follow-up actions</a:t>
            </a:r>
          </a:p>
        </p:txBody>
      </p:sp>
      <p:sp>
        <p:nvSpPr>
          <p:cNvPr id="27" name="Rounded Rectangle 26"/>
          <p:cNvSpPr/>
          <p:nvPr/>
        </p:nvSpPr>
        <p:spPr>
          <a:xfrm>
            <a:off x="609904" y="5596128"/>
            <a:ext cx="5120640" cy="566928"/>
          </a:xfrm>
          <a:prstGeom prst="roundRect">
            <a:avLst>
              <a:gd name="adj" fmla="val 50000"/>
            </a:avLst>
          </a:prstGeom>
          <a:solidFill>
            <a:srgbClr val="FFFFFF"/>
          </a:solidFill>
          <a:ln w="19050">
            <a:solidFill>
              <a:srgbClr val="FF007F"/>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28" name="Picture 27" descr="privacy_FF007F.png"/>
          <p:cNvPicPr>
            <a:picLocks noChangeAspect="1"/>
          </p:cNvPicPr>
          <p:nvPr/>
        </p:nvPicPr>
        <p:blipFill>
          <a:blip r:embed="rId5"/>
          <a:stretch>
            <a:fillRect/>
          </a:stretch>
        </p:blipFill>
        <p:spPr>
          <a:xfrm>
            <a:off x="777240" y="5669280"/>
            <a:ext cx="420624" cy="420624"/>
          </a:xfrm>
          <a:prstGeom prst="rect">
            <a:avLst/>
          </a:prstGeom>
        </p:spPr>
      </p:pic>
      <p:sp>
        <p:nvSpPr>
          <p:cNvPr id="29" name="TextBox 28"/>
          <p:cNvSpPr txBox="1"/>
          <p:nvPr/>
        </p:nvSpPr>
        <p:spPr>
          <a:xfrm>
            <a:off x="1325880" y="5596128"/>
            <a:ext cx="4343400" cy="566928"/>
          </a:xfrm>
          <a:prstGeom prst="rect">
            <a:avLst/>
          </a:prstGeom>
          <a:noFill/>
        </p:spPr>
        <p:txBody>
          <a:bodyPr wrap="none" anchor="ctr" lIns="0" tIns="0" rIns="0" bIns="0">
            <a:noAutofit/>
          </a:bodyPr>
          <a:lstStyle/>
          <a:p>
            <a:pPr algn="l">
              <a:spcAft>
                <a:spcPts val="0"/>
              </a:spcAft>
            </a:pPr>
            <a:r>
              <a:rPr sz="1500" b="0" i="0">
                <a:solidFill>
                  <a:srgbClr val="FF007F"/>
                </a:solidFill>
                <a:latin typeface="Inter Semi Bold"/>
              </a:rPr>
              <a:t>Sanitize  </a:t>
            </a:r>
            <a:r>
              <a:rPr sz="1500" b="0" i="0">
                <a:solidFill>
                  <a:srgbClr val="282828"/>
                </a:solidFill>
                <a:latin typeface="Inter Semi Bold"/>
              </a:rPr>
              <a:t>Staff cell #s → company DIDs</a:t>
            </a:r>
          </a:p>
        </p:txBody>
      </p:sp>
      <p:sp>
        <p:nvSpPr>
          <p:cNvPr id="30" name="Rounded Rectangle 29"/>
          <p:cNvSpPr/>
          <p:nvPr/>
        </p:nvSpPr>
        <p:spPr>
          <a:xfrm>
            <a:off x="5916168" y="5596128"/>
            <a:ext cx="5669280" cy="566928"/>
          </a:xfrm>
          <a:prstGeom prst="roundRect">
            <a:avLst>
              <a:gd name="adj" fmla="val 50000"/>
            </a:avLst>
          </a:prstGeom>
          <a:solidFill>
            <a:srgbClr val="0A0A0A"/>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45720" tIns="0" rIns="45720" bIns="0">
            <a:noAutofit/>
          </a:bodyPr>
          <a:lstStyle/>
          <a:p>
            <a:pPr algn="ctr">
              <a:spcAft>
                <a:spcPts val="0"/>
              </a:spcAft>
            </a:pPr>
            <a:r>
              <a:rPr sz="1600" b="0" i="0">
                <a:solidFill>
                  <a:srgbClr val="FFFFFF"/>
                </a:solidFill>
                <a:latin typeface="Inter Semi Bold"/>
              </a:rPr>
              <a:t>Static audio → 24/7 conversational Q&amp;A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Make the front door a conversation</a:t>
            </a:r>
          </a:p>
        </p:txBody>
      </p:sp>
      <p:sp>
        <p:nvSpPr>
          <p:cNvPr id="3" name="TextBox 2"/>
          <p:cNvSpPr txBox="1"/>
          <p:nvPr/>
        </p:nvSpPr>
        <p:spPr>
          <a:xfrm>
            <a:off x="609904" y="256032"/>
            <a:ext cx="10515600" cy="310896"/>
          </a:xfrm>
          <a:prstGeom prst="rect">
            <a:avLst/>
          </a:prstGeom>
          <a:noFill/>
        </p:spPr>
        <p:txBody>
          <a:bodyPr wrap="square" anchor="t" lIns="0" tIns="0" rIns="0" bIns="0">
            <a:noAutofit/>
          </a:bodyPr>
          <a:lstStyle/>
          <a:p>
            <a:pPr algn="l">
              <a:spcAft>
                <a:spcPts val="0"/>
              </a:spcAft>
            </a:pPr>
            <a:r>
              <a:rPr sz="1400" b="0" i="0">
                <a:solidFill>
                  <a:srgbClr val="FF007F"/>
                </a:solidFill>
                <a:latin typeface="Inter Semi Bold"/>
              </a:rPr>
              <a:t>PLAY 3 · WHAT WE LEARNED</a:t>
            </a:r>
          </a:p>
        </p:txBody>
      </p:sp>
      <p:sp>
        <p:nvSpPr>
          <p:cNvPr id="4" name="Rounded Rectangle 3"/>
          <p:cNvSpPr/>
          <p:nvPr/>
        </p:nvSpPr>
        <p:spPr>
          <a:xfrm>
            <a:off x="609904" y="1371600"/>
            <a:ext cx="3383280" cy="4114800"/>
          </a:xfrm>
          <a:prstGeom prst="roundRect">
            <a:avLst>
              <a:gd name="adj" fmla="val 4864"/>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5" name="TextBox 4"/>
          <p:cNvSpPr txBox="1"/>
          <p:nvPr/>
        </p:nvSpPr>
        <p:spPr>
          <a:xfrm>
            <a:off x="868680" y="1536192"/>
            <a:ext cx="2926080" cy="365760"/>
          </a:xfrm>
          <a:prstGeom prst="rect">
            <a:avLst/>
          </a:prstGeom>
          <a:noFill/>
        </p:spPr>
        <p:txBody>
          <a:bodyPr wrap="square" anchor="t" lIns="0" tIns="0" rIns="0" bIns="0">
            <a:noAutofit/>
          </a:bodyPr>
          <a:lstStyle/>
          <a:p>
            <a:pPr algn="l">
              <a:spcAft>
                <a:spcPts val="0"/>
              </a:spcAft>
            </a:pPr>
            <a:r>
              <a:rPr sz="1500" b="0" i="0">
                <a:solidFill>
                  <a:srgbClr val="6B6B6B"/>
                </a:solidFill>
                <a:latin typeface="Inter Semi Bold"/>
              </a:rPr>
              <a:t>PURGED</a:t>
            </a:r>
          </a:p>
        </p:txBody>
      </p:sp>
      <p:sp>
        <p:nvSpPr>
          <p:cNvPr id="6" name="Rounded Rectangle 5"/>
          <p:cNvSpPr/>
          <p:nvPr/>
        </p:nvSpPr>
        <p:spPr>
          <a:xfrm>
            <a:off x="868680" y="2011680"/>
            <a:ext cx="2880360" cy="914400"/>
          </a:xfrm>
          <a:prstGeom prst="roundRect">
            <a:avLst>
              <a:gd name="adj" fmla="val 12000"/>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7" name="Oval 6"/>
          <p:cNvSpPr/>
          <p:nvPr/>
        </p:nvSpPr>
        <p:spPr>
          <a:xfrm>
            <a:off x="987552" y="2304288"/>
            <a:ext cx="329184" cy="329184"/>
          </a:xfrm>
          <a:prstGeom prst="ellipse">
            <a:avLst/>
          </a:prstGeom>
          <a:solidFill>
            <a:srgbClr val="B4B9C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200" b="0" i="0">
                <a:solidFill>
                  <a:srgbClr val="FFFFFF"/>
                </a:solidFill>
                <a:latin typeface="Inter Semi Bold"/>
              </a:rPr>
              <a:t>✕</a:t>
            </a:r>
          </a:p>
        </p:txBody>
      </p:sp>
      <p:sp>
        <p:nvSpPr>
          <p:cNvPr id="8" name="TextBox 7"/>
          <p:cNvSpPr txBox="1"/>
          <p:nvPr/>
        </p:nvSpPr>
        <p:spPr>
          <a:xfrm>
            <a:off x="1444752" y="2011680"/>
            <a:ext cx="2240280" cy="914400"/>
          </a:xfrm>
          <a:prstGeom prst="rect">
            <a:avLst/>
          </a:prstGeom>
          <a:noFill/>
        </p:spPr>
        <p:txBody>
          <a:bodyPr wrap="square" anchor="ctr" lIns="0" tIns="0" rIns="0" bIns="0">
            <a:noAutofit/>
          </a:bodyPr>
          <a:lstStyle/>
          <a:p>
            <a:pPr algn="l">
              <a:lnSpc>
                <a:spcPct val="95000"/>
              </a:lnSpc>
              <a:spcAft>
                <a:spcPts val="0"/>
              </a:spcAft>
            </a:pPr>
            <a:r>
              <a:rPr sz="1600" b="0" i="0" strike="sngStrike">
                <a:solidFill>
                  <a:srgbClr val="6B6B6B"/>
                </a:solidFill>
                <a:latin typeface="Inter Semi Bold"/>
              </a:rPr>
              <a:t>45-second menu monologues</a:t>
            </a:r>
          </a:p>
        </p:txBody>
      </p:sp>
      <p:sp>
        <p:nvSpPr>
          <p:cNvPr id="9" name="Rounded Rectangle 8"/>
          <p:cNvSpPr/>
          <p:nvPr/>
        </p:nvSpPr>
        <p:spPr>
          <a:xfrm>
            <a:off x="868680" y="3127248"/>
            <a:ext cx="2880360" cy="914400"/>
          </a:xfrm>
          <a:prstGeom prst="roundRect">
            <a:avLst>
              <a:gd name="adj" fmla="val 12000"/>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0" name="Oval 9"/>
          <p:cNvSpPr/>
          <p:nvPr/>
        </p:nvSpPr>
        <p:spPr>
          <a:xfrm>
            <a:off x="987552" y="3419856"/>
            <a:ext cx="329184" cy="329184"/>
          </a:xfrm>
          <a:prstGeom prst="ellipse">
            <a:avLst/>
          </a:prstGeom>
          <a:solidFill>
            <a:srgbClr val="B4B9C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200" b="0" i="0">
                <a:solidFill>
                  <a:srgbClr val="FFFFFF"/>
                </a:solidFill>
                <a:latin typeface="Inter Semi Bold"/>
              </a:rPr>
              <a:t>✕</a:t>
            </a:r>
          </a:p>
        </p:txBody>
      </p:sp>
      <p:sp>
        <p:nvSpPr>
          <p:cNvPr id="11" name="TextBox 10"/>
          <p:cNvSpPr txBox="1"/>
          <p:nvPr/>
        </p:nvSpPr>
        <p:spPr>
          <a:xfrm>
            <a:off x="1444752" y="3127248"/>
            <a:ext cx="2240280" cy="914400"/>
          </a:xfrm>
          <a:prstGeom prst="rect">
            <a:avLst/>
          </a:prstGeom>
          <a:noFill/>
        </p:spPr>
        <p:txBody>
          <a:bodyPr wrap="square" anchor="ctr" lIns="0" tIns="0" rIns="0" bIns="0">
            <a:noAutofit/>
          </a:bodyPr>
          <a:lstStyle/>
          <a:p>
            <a:pPr algn="l">
              <a:lnSpc>
                <a:spcPct val="95000"/>
              </a:lnSpc>
              <a:spcAft>
                <a:spcPts val="0"/>
              </a:spcAft>
            </a:pPr>
            <a:r>
              <a:rPr sz="1600" b="0" i="0" strike="sngStrike">
                <a:solidFill>
                  <a:srgbClr val="6B6B6B"/>
                </a:solidFill>
                <a:latin typeface="Inter Semi Bold"/>
              </a:rPr>
              <a:t>3-tier IVR maze</a:t>
            </a:r>
          </a:p>
        </p:txBody>
      </p:sp>
      <p:sp>
        <p:nvSpPr>
          <p:cNvPr id="12" name="Rounded Rectangle 11"/>
          <p:cNvSpPr/>
          <p:nvPr/>
        </p:nvSpPr>
        <p:spPr>
          <a:xfrm>
            <a:off x="868680" y="4242816"/>
            <a:ext cx="2880360" cy="914400"/>
          </a:xfrm>
          <a:prstGeom prst="roundRect">
            <a:avLst>
              <a:gd name="adj" fmla="val 12000"/>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3" name="Oval 12"/>
          <p:cNvSpPr/>
          <p:nvPr/>
        </p:nvSpPr>
        <p:spPr>
          <a:xfrm>
            <a:off x="987552" y="4535424"/>
            <a:ext cx="329184" cy="329184"/>
          </a:xfrm>
          <a:prstGeom prst="ellipse">
            <a:avLst/>
          </a:prstGeom>
          <a:solidFill>
            <a:srgbClr val="B4B9C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200" b="0" i="0">
                <a:solidFill>
                  <a:srgbClr val="FFFFFF"/>
                </a:solidFill>
                <a:latin typeface="Inter Semi Bold"/>
              </a:rPr>
              <a:t>✕</a:t>
            </a:r>
          </a:p>
        </p:txBody>
      </p:sp>
      <p:sp>
        <p:nvSpPr>
          <p:cNvPr id="14" name="TextBox 13"/>
          <p:cNvSpPr txBox="1"/>
          <p:nvPr/>
        </p:nvSpPr>
        <p:spPr>
          <a:xfrm>
            <a:off x="1444752" y="4242816"/>
            <a:ext cx="2240280" cy="914400"/>
          </a:xfrm>
          <a:prstGeom prst="rect">
            <a:avLst/>
          </a:prstGeom>
          <a:noFill/>
        </p:spPr>
        <p:txBody>
          <a:bodyPr wrap="square" anchor="ctr" lIns="0" tIns="0" rIns="0" bIns="0">
            <a:noAutofit/>
          </a:bodyPr>
          <a:lstStyle/>
          <a:p>
            <a:pPr algn="l">
              <a:lnSpc>
                <a:spcPct val="95000"/>
              </a:lnSpc>
              <a:spcAft>
                <a:spcPts val="0"/>
              </a:spcAft>
            </a:pPr>
            <a:r>
              <a:rPr sz="1600" b="0" i="0" strike="sngStrike">
                <a:solidFill>
                  <a:srgbClr val="6B6B6B"/>
                </a:solidFill>
                <a:latin typeface="Inter Semi Bold"/>
              </a:rPr>
              <a:t>After-hours voicemail dead ends</a:t>
            </a:r>
          </a:p>
        </p:txBody>
      </p:sp>
      <p:sp>
        <p:nvSpPr>
          <p:cNvPr id="15" name="Right Arrow 14"/>
          <p:cNvSpPr/>
          <p:nvPr/>
        </p:nvSpPr>
        <p:spPr>
          <a:xfrm>
            <a:off x="4087368" y="3017520"/>
            <a:ext cx="502920" cy="777240"/>
          </a:xfrm>
          <a:prstGeom prst="rightArrow">
            <a:avLst/>
          </a:prstGeom>
          <a:gradFill rotWithShape="1">
            <a:gsLst>
              <a:gs pos="0">
                <a:srgbClr val="FF007F"/>
              </a:gs>
              <a:gs pos="100000">
                <a:srgbClr val="8A3FFC"/>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6" name="Rounded Rectangle 15"/>
          <p:cNvSpPr/>
          <p:nvPr/>
        </p:nvSpPr>
        <p:spPr>
          <a:xfrm>
            <a:off x="4681728" y="1371600"/>
            <a:ext cx="3657600" cy="4114800"/>
          </a:xfrm>
          <a:prstGeom prst="roundRect">
            <a:avLst>
              <a:gd name="adj" fmla="val 4500"/>
            </a:avLst>
          </a:prstGeom>
          <a:gradFill rotWithShape="1">
            <a:gsLst>
              <a:gs pos="0">
                <a:srgbClr val="FF007F"/>
              </a:gs>
              <a:gs pos="100000">
                <a:srgbClr val="8A3FFC"/>
              </a:gs>
            </a:gsLst>
            <a:lin scaled="0" ang="18900000"/>
          </a:gra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7" name="TextBox 16"/>
          <p:cNvSpPr txBox="1"/>
          <p:nvPr/>
        </p:nvSpPr>
        <p:spPr>
          <a:xfrm>
            <a:off x="4937760" y="1536192"/>
            <a:ext cx="3200400" cy="365760"/>
          </a:xfrm>
          <a:prstGeom prst="rect">
            <a:avLst/>
          </a:prstGeom>
          <a:noFill/>
        </p:spPr>
        <p:txBody>
          <a:bodyPr wrap="square" anchor="t" lIns="0" tIns="0" rIns="0" bIns="0">
            <a:noAutofit/>
          </a:bodyPr>
          <a:lstStyle/>
          <a:p>
            <a:pPr algn="l">
              <a:spcAft>
                <a:spcPts val="0"/>
              </a:spcAft>
            </a:pPr>
            <a:r>
              <a:rPr sz="1500" b="0" i="0">
                <a:solidFill>
                  <a:srgbClr val="FFFFFF"/>
                </a:solidFill>
                <a:latin typeface="Inter Semi Bold"/>
              </a:rPr>
              <a:t>BUILT ON WEBEX</a:t>
            </a:r>
          </a:p>
        </p:txBody>
      </p:sp>
      <p:sp>
        <p:nvSpPr>
          <p:cNvPr id="18" name="Rounded Rectangle 17"/>
          <p:cNvSpPr/>
          <p:nvPr/>
        </p:nvSpPr>
        <p:spPr>
          <a:xfrm>
            <a:off x="4937760" y="2011680"/>
            <a:ext cx="3154680" cy="9144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19" name="Picture 18" descr="mic_FF007F.png"/>
          <p:cNvPicPr>
            <a:picLocks noChangeAspect="1"/>
          </p:cNvPicPr>
          <p:nvPr/>
        </p:nvPicPr>
        <p:blipFill>
          <a:blip r:embed="rId2"/>
          <a:stretch>
            <a:fillRect/>
          </a:stretch>
        </p:blipFill>
        <p:spPr>
          <a:xfrm>
            <a:off x="5074920" y="2240280"/>
            <a:ext cx="457200" cy="457200"/>
          </a:xfrm>
          <a:prstGeom prst="rect">
            <a:avLst/>
          </a:prstGeom>
        </p:spPr>
      </p:pic>
      <p:sp>
        <p:nvSpPr>
          <p:cNvPr id="20" name="TextBox 19"/>
          <p:cNvSpPr txBox="1"/>
          <p:nvPr/>
        </p:nvSpPr>
        <p:spPr>
          <a:xfrm>
            <a:off x="5669280" y="2103120"/>
            <a:ext cx="2377440" cy="411480"/>
          </a:xfrm>
          <a:prstGeom prst="rect">
            <a:avLst/>
          </a:prstGeom>
          <a:noFill/>
        </p:spPr>
        <p:txBody>
          <a:bodyPr wrap="none" anchor="t" lIns="0" tIns="0" rIns="0" bIns="0">
            <a:noAutofit/>
          </a:bodyPr>
          <a:lstStyle/>
          <a:p>
            <a:pPr algn="l">
              <a:spcAft>
                <a:spcPts val="0"/>
              </a:spcAft>
            </a:pPr>
            <a:r>
              <a:rPr sz="1700" b="0" i="0">
                <a:solidFill>
                  <a:srgbClr val="0A0A0A"/>
                </a:solidFill>
                <a:latin typeface="Inter Semi Bold"/>
              </a:rPr>
              <a:t>24/7 AI Receptionist</a:t>
            </a:r>
          </a:p>
        </p:txBody>
      </p:sp>
      <p:sp>
        <p:nvSpPr>
          <p:cNvPr id="21" name="TextBox 20"/>
          <p:cNvSpPr txBox="1"/>
          <p:nvPr/>
        </p:nvSpPr>
        <p:spPr>
          <a:xfrm>
            <a:off x="5669280" y="2468880"/>
            <a:ext cx="2377440" cy="411480"/>
          </a:xfrm>
          <a:prstGeom prst="rect">
            <a:avLst/>
          </a:prstGeom>
          <a:noFill/>
        </p:spPr>
        <p:txBody>
          <a:bodyPr wrap="square" anchor="t" lIns="0" tIns="0" rIns="0" bIns="0">
            <a:noAutofit/>
          </a:bodyPr>
          <a:lstStyle/>
          <a:p>
            <a:pPr algn="l">
              <a:lnSpc>
                <a:spcPct val="95000"/>
              </a:lnSpc>
              <a:spcAft>
                <a:spcPts val="0"/>
              </a:spcAft>
            </a:pPr>
            <a:r>
              <a:rPr sz="1300" b="0" i="0">
                <a:solidFill>
                  <a:srgbClr val="6B6B6B"/>
                </a:solidFill>
                <a:latin typeface="Inter"/>
              </a:rPr>
              <a:t>Greets, answers, routes</a:t>
            </a:r>
          </a:p>
        </p:txBody>
      </p:sp>
      <p:sp>
        <p:nvSpPr>
          <p:cNvPr id="22" name="Rounded Rectangle 21"/>
          <p:cNvSpPr/>
          <p:nvPr/>
        </p:nvSpPr>
        <p:spPr>
          <a:xfrm>
            <a:off x="4937760" y="3127248"/>
            <a:ext cx="3154680" cy="9144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23" name="Picture 22" descr="chat_FF007F.png"/>
          <p:cNvPicPr>
            <a:picLocks noChangeAspect="1"/>
          </p:cNvPicPr>
          <p:nvPr/>
        </p:nvPicPr>
        <p:blipFill>
          <a:blip r:embed="rId3"/>
          <a:stretch>
            <a:fillRect/>
          </a:stretch>
        </p:blipFill>
        <p:spPr>
          <a:xfrm>
            <a:off x="5074920" y="3355848"/>
            <a:ext cx="457200" cy="457200"/>
          </a:xfrm>
          <a:prstGeom prst="rect">
            <a:avLst/>
          </a:prstGeom>
        </p:spPr>
      </p:pic>
      <p:sp>
        <p:nvSpPr>
          <p:cNvPr id="24" name="TextBox 23"/>
          <p:cNvSpPr txBox="1"/>
          <p:nvPr/>
        </p:nvSpPr>
        <p:spPr>
          <a:xfrm>
            <a:off x="5669280" y="3218688"/>
            <a:ext cx="2377440" cy="411480"/>
          </a:xfrm>
          <a:prstGeom prst="rect">
            <a:avLst/>
          </a:prstGeom>
          <a:noFill/>
        </p:spPr>
        <p:txBody>
          <a:bodyPr wrap="none" anchor="t" lIns="0" tIns="0" rIns="0" bIns="0">
            <a:noAutofit/>
          </a:bodyPr>
          <a:lstStyle/>
          <a:p>
            <a:pPr algn="l">
              <a:spcAft>
                <a:spcPts val="0"/>
              </a:spcAft>
            </a:pPr>
            <a:r>
              <a:rPr sz="1700" b="0" i="0">
                <a:solidFill>
                  <a:srgbClr val="0A0A0A"/>
                </a:solidFill>
                <a:latin typeface="Inter Semi Bold"/>
              </a:rPr>
              <a:t>SMS follow-up</a:t>
            </a:r>
          </a:p>
        </p:txBody>
      </p:sp>
      <p:sp>
        <p:nvSpPr>
          <p:cNvPr id="25" name="TextBox 24"/>
          <p:cNvSpPr txBox="1"/>
          <p:nvPr/>
        </p:nvSpPr>
        <p:spPr>
          <a:xfrm>
            <a:off x="5669280" y="3584448"/>
            <a:ext cx="2377440" cy="411480"/>
          </a:xfrm>
          <a:prstGeom prst="rect">
            <a:avLst/>
          </a:prstGeom>
          <a:noFill/>
        </p:spPr>
        <p:txBody>
          <a:bodyPr wrap="square" anchor="t" lIns="0" tIns="0" rIns="0" bIns="0">
            <a:noAutofit/>
          </a:bodyPr>
          <a:lstStyle/>
          <a:p>
            <a:pPr algn="l">
              <a:lnSpc>
                <a:spcPct val="95000"/>
              </a:lnSpc>
              <a:spcAft>
                <a:spcPts val="0"/>
              </a:spcAft>
            </a:pPr>
            <a:r>
              <a:rPr sz="1300" b="0" i="0">
                <a:solidFill>
                  <a:srgbClr val="6B6B6B"/>
                </a:solidFill>
                <a:latin typeface="Inter"/>
              </a:rPr>
              <a:t>Directions · parking · payments</a:t>
            </a:r>
          </a:p>
        </p:txBody>
      </p:sp>
      <p:sp>
        <p:nvSpPr>
          <p:cNvPr id="26" name="Rounded Rectangle 25"/>
          <p:cNvSpPr/>
          <p:nvPr/>
        </p:nvSpPr>
        <p:spPr>
          <a:xfrm>
            <a:off x="4937760" y="4242816"/>
            <a:ext cx="3154680" cy="9144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27" name="Picture 26" descr="headset_FF007F.png"/>
          <p:cNvPicPr>
            <a:picLocks noChangeAspect="1"/>
          </p:cNvPicPr>
          <p:nvPr/>
        </p:nvPicPr>
        <p:blipFill>
          <a:blip r:embed="rId4"/>
          <a:stretch>
            <a:fillRect/>
          </a:stretch>
        </p:blipFill>
        <p:spPr>
          <a:xfrm>
            <a:off x="5074920" y="4471416"/>
            <a:ext cx="457200" cy="457200"/>
          </a:xfrm>
          <a:prstGeom prst="rect">
            <a:avLst/>
          </a:prstGeom>
        </p:spPr>
      </p:pic>
      <p:sp>
        <p:nvSpPr>
          <p:cNvPr id="28" name="TextBox 27"/>
          <p:cNvSpPr txBox="1"/>
          <p:nvPr/>
        </p:nvSpPr>
        <p:spPr>
          <a:xfrm>
            <a:off x="5669280" y="4334256"/>
            <a:ext cx="2377440" cy="411480"/>
          </a:xfrm>
          <a:prstGeom prst="rect">
            <a:avLst/>
          </a:prstGeom>
          <a:noFill/>
        </p:spPr>
        <p:txBody>
          <a:bodyPr wrap="none" anchor="t" lIns="0" tIns="0" rIns="0" bIns="0">
            <a:noAutofit/>
          </a:bodyPr>
          <a:lstStyle/>
          <a:p>
            <a:pPr algn="l">
              <a:spcAft>
                <a:spcPts val="0"/>
              </a:spcAft>
            </a:pPr>
            <a:r>
              <a:rPr sz="1700" b="0" i="0">
                <a:solidFill>
                  <a:srgbClr val="0A0A0A"/>
                </a:solidFill>
                <a:latin typeface="Inter Semi Bold"/>
              </a:rPr>
              <a:t>Smart escalation</a:t>
            </a:r>
          </a:p>
        </p:txBody>
      </p:sp>
      <p:sp>
        <p:nvSpPr>
          <p:cNvPr id="29" name="TextBox 28"/>
          <p:cNvSpPr txBox="1"/>
          <p:nvPr/>
        </p:nvSpPr>
        <p:spPr>
          <a:xfrm>
            <a:off x="5669280" y="4700016"/>
            <a:ext cx="2377440" cy="411480"/>
          </a:xfrm>
          <a:prstGeom prst="rect">
            <a:avLst/>
          </a:prstGeom>
          <a:noFill/>
        </p:spPr>
        <p:txBody>
          <a:bodyPr wrap="square" anchor="t" lIns="0" tIns="0" rIns="0" bIns="0">
            <a:noAutofit/>
          </a:bodyPr>
          <a:lstStyle/>
          <a:p>
            <a:pPr algn="l">
              <a:lnSpc>
                <a:spcPct val="95000"/>
              </a:lnSpc>
              <a:spcAft>
                <a:spcPts val="0"/>
              </a:spcAft>
            </a:pPr>
            <a:r>
              <a:rPr sz="1300" b="0" i="0">
                <a:solidFill>
                  <a:srgbClr val="6B6B6B"/>
                </a:solidFill>
                <a:latin typeface="Inter"/>
              </a:rPr>
              <a:t>Customer Assist + screen pop</a:t>
            </a:r>
          </a:p>
        </p:txBody>
      </p:sp>
      <p:sp>
        <p:nvSpPr>
          <p:cNvPr id="30" name="TextBox 29"/>
          <p:cNvSpPr txBox="1"/>
          <p:nvPr/>
        </p:nvSpPr>
        <p:spPr>
          <a:xfrm>
            <a:off x="8595360" y="1417320"/>
            <a:ext cx="2926080" cy="365760"/>
          </a:xfrm>
          <a:prstGeom prst="rect">
            <a:avLst/>
          </a:prstGeom>
          <a:noFill/>
        </p:spPr>
        <p:txBody>
          <a:bodyPr wrap="square" anchor="t" lIns="0" tIns="0" rIns="0" bIns="0">
            <a:noAutofit/>
          </a:bodyPr>
          <a:lstStyle/>
          <a:p>
            <a:pPr algn="l">
              <a:spcAft>
                <a:spcPts val="0"/>
              </a:spcAft>
            </a:pPr>
            <a:r>
              <a:rPr sz="1500" b="0" i="0">
                <a:solidFill>
                  <a:srgbClr val="6B6B6B"/>
                </a:solidFill>
                <a:latin typeface="Inter Semi Bold"/>
              </a:rPr>
              <a:t>IMPACT</a:t>
            </a:r>
          </a:p>
        </p:txBody>
      </p:sp>
      <p:sp>
        <p:nvSpPr>
          <p:cNvPr id="31" name="TextBox 30"/>
          <p:cNvSpPr txBox="1"/>
          <p:nvPr/>
        </p:nvSpPr>
        <p:spPr>
          <a:xfrm>
            <a:off x="8595360" y="1828800"/>
            <a:ext cx="2990088" cy="685800"/>
          </a:xfrm>
          <a:prstGeom prst="rect">
            <a:avLst/>
          </a:prstGeom>
          <a:noFill/>
        </p:spPr>
        <p:txBody>
          <a:bodyPr wrap="none" anchor="t" lIns="0" tIns="0" rIns="0" bIns="0">
            <a:noAutofit/>
          </a:bodyPr>
          <a:lstStyle/>
          <a:p>
            <a:pPr algn="l">
              <a:spcAft>
                <a:spcPts val="0"/>
              </a:spcAft>
            </a:pPr>
            <a:r>
              <a:rPr sz="4000" b="0" i="0">
                <a:solidFill>
                  <a:srgbClr val="FF007F"/>
                </a:solidFill>
                <a:latin typeface="Inter Semi Bold"/>
              </a:rPr>
              <a:t>1 turn</a:t>
            </a:r>
          </a:p>
        </p:txBody>
      </p:sp>
      <p:sp>
        <p:nvSpPr>
          <p:cNvPr id="32" name="TextBox 31"/>
          <p:cNvSpPr txBox="1"/>
          <p:nvPr/>
        </p:nvSpPr>
        <p:spPr>
          <a:xfrm>
            <a:off x="8595360" y="2487168"/>
            <a:ext cx="2990088" cy="457200"/>
          </a:xfrm>
          <a:prstGeom prst="rect">
            <a:avLst/>
          </a:prstGeom>
          <a:noFill/>
        </p:spPr>
        <p:txBody>
          <a:bodyPr wrap="square" anchor="t" lIns="0" tIns="0" rIns="0" bIns="0">
            <a:noAutofit/>
          </a:bodyPr>
          <a:lstStyle/>
          <a:p>
            <a:pPr algn="l">
              <a:spcAft>
                <a:spcPts val="0"/>
              </a:spcAft>
            </a:pPr>
            <a:r>
              <a:rPr sz="1500" b="0" i="0">
                <a:solidFill>
                  <a:srgbClr val="282828"/>
                </a:solidFill>
                <a:latin typeface="Inter Semi Bold"/>
              </a:rPr>
              <a:t>to the right destination</a:t>
            </a:r>
          </a:p>
        </p:txBody>
      </p:sp>
      <p:sp>
        <p:nvSpPr>
          <p:cNvPr id="33" name="TextBox 32"/>
          <p:cNvSpPr txBox="1"/>
          <p:nvPr/>
        </p:nvSpPr>
        <p:spPr>
          <a:xfrm>
            <a:off x="8595360" y="3063240"/>
            <a:ext cx="2990088" cy="685800"/>
          </a:xfrm>
          <a:prstGeom prst="rect">
            <a:avLst/>
          </a:prstGeom>
          <a:noFill/>
        </p:spPr>
        <p:txBody>
          <a:bodyPr wrap="none" anchor="t" lIns="0" tIns="0" rIns="0" bIns="0">
            <a:noAutofit/>
          </a:bodyPr>
          <a:lstStyle/>
          <a:p>
            <a:pPr algn="l">
              <a:spcAft>
                <a:spcPts val="0"/>
              </a:spcAft>
            </a:pPr>
            <a:r>
              <a:rPr sz="4000" b="0" i="0">
                <a:solidFill>
                  <a:srgbClr val="FF007F"/>
                </a:solidFill>
                <a:latin typeface="Inter Semi Bold"/>
              </a:rPr>
              <a:t>24/7</a:t>
            </a:r>
          </a:p>
        </p:txBody>
      </p:sp>
      <p:sp>
        <p:nvSpPr>
          <p:cNvPr id="34" name="TextBox 33"/>
          <p:cNvSpPr txBox="1"/>
          <p:nvPr/>
        </p:nvSpPr>
        <p:spPr>
          <a:xfrm>
            <a:off x="8595360" y="3721608"/>
            <a:ext cx="2990088" cy="457200"/>
          </a:xfrm>
          <a:prstGeom prst="rect">
            <a:avLst/>
          </a:prstGeom>
          <a:noFill/>
        </p:spPr>
        <p:txBody>
          <a:bodyPr wrap="square" anchor="t" lIns="0" tIns="0" rIns="0" bIns="0">
            <a:noAutofit/>
          </a:bodyPr>
          <a:lstStyle/>
          <a:p>
            <a:pPr algn="l">
              <a:spcAft>
                <a:spcPts val="0"/>
              </a:spcAft>
            </a:pPr>
            <a:r>
              <a:rPr sz="1500" b="0" i="0">
                <a:solidFill>
                  <a:srgbClr val="282828"/>
                </a:solidFill>
                <a:latin typeface="Inter Semi Bold"/>
              </a:rPr>
              <a:t>answers, zero hold time</a:t>
            </a:r>
          </a:p>
        </p:txBody>
      </p:sp>
      <p:sp>
        <p:nvSpPr>
          <p:cNvPr id="35" name="TextBox 34"/>
          <p:cNvSpPr txBox="1"/>
          <p:nvPr/>
        </p:nvSpPr>
        <p:spPr>
          <a:xfrm>
            <a:off x="8595360" y="4297680"/>
            <a:ext cx="2990088" cy="685800"/>
          </a:xfrm>
          <a:prstGeom prst="rect">
            <a:avLst/>
          </a:prstGeom>
          <a:noFill/>
        </p:spPr>
        <p:txBody>
          <a:bodyPr wrap="none" anchor="t" lIns="0" tIns="0" rIns="0" bIns="0">
            <a:noAutofit/>
          </a:bodyPr>
          <a:lstStyle/>
          <a:p>
            <a:pPr algn="l">
              <a:spcAft>
                <a:spcPts val="0"/>
              </a:spcAft>
            </a:pPr>
            <a:r>
              <a:rPr sz="4000" b="0" i="0">
                <a:solidFill>
                  <a:srgbClr val="FF007F"/>
                </a:solidFill>
                <a:latin typeface="Inter Semi Bold"/>
              </a:rPr>
              <a:t>Staff</a:t>
            </a:r>
          </a:p>
        </p:txBody>
      </p:sp>
      <p:sp>
        <p:nvSpPr>
          <p:cNvPr id="36" name="TextBox 35"/>
          <p:cNvSpPr txBox="1"/>
          <p:nvPr/>
        </p:nvSpPr>
        <p:spPr>
          <a:xfrm>
            <a:off x="8595360" y="4956048"/>
            <a:ext cx="2990088" cy="457200"/>
          </a:xfrm>
          <a:prstGeom prst="rect">
            <a:avLst/>
          </a:prstGeom>
          <a:noFill/>
        </p:spPr>
        <p:txBody>
          <a:bodyPr wrap="square" anchor="t" lIns="0" tIns="0" rIns="0" bIns="0">
            <a:noAutofit/>
          </a:bodyPr>
          <a:lstStyle/>
          <a:p>
            <a:pPr algn="l">
              <a:spcAft>
                <a:spcPts val="0"/>
              </a:spcAft>
            </a:pPr>
            <a:r>
              <a:rPr sz="1500" b="0" i="0">
                <a:solidFill>
                  <a:srgbClr val="282828"/>
                </a:solidFill>
                <a:latin typeface="Inter Semi Bold"/>
              </a:rPr>
              <a:t>freed from repetitive calls</a:t>
            </a:r>
          </a:p>
        </p:txBody>
      </p:sp>
      <p:sp>
        <p:nvSpPr>
          <p:cNvPr id="37" name="Rounded Rectangle 36"/>
          <p:cNvSpPr/>
          <p:nvPr/>
        </p:nvSpPr>
        <p:spPr>
          <a:xfrm>
            <a:off x="609904" y="5623560"/>
            <a:ext cx="10972800" cy="566928"/>
          </a:xfrm>
          <a:prstGeom prst="roundRect">
            <a:avLst>
              <a:gd name="adj" fmla="val 50000"/>
            </a:avLst>
          </a:prstGeom>
          <a:solidFill>
            <a:srgbClr val="0A0A0A"/>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45720" tIns="0" rIns="45720" bIns="0">
            <a:noAutofit/>
          </a:bodyPr>
          <a:lstStyle/>
          <a:p>
            <a:pPr algn="ctr">
              <a:spcAft>
                <a:spcPts val="0"/>
              </a:spcAft>
            </a:pPr>
            <a:r>
              <a:rPr sz="1800" b="0" i="0">
                <a:solidFill>
                  <a:srgbClr val="00C8FF"/>
                </a:solidFill>
                <a:latin typeface="Inter Semi Bold"/>
              </a:rPr>
              <a:t>Takeaway:  </a:t>
            </a:r>
            <a:r>
              <a:rPr sz="1800" b="0" i="0">
                <a:solidFill>
                  <a:srgbClr val="FFFFFF"/>
                </a:solidFill>
                <a:latin typeface="Inter Semi Bold"/>
              </a:rPr>
              <a:t>Stop making callers listen. Let them talk.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Dial plan in. CUBE config out.</a:t>
            </a:r>
          </a:p>
        </p:txBody>
      </p:sp>
      <p:sp>
        <p:nvSpPr>
          <p:cNvPr id="3" name="TextBox 2"/>
          <p:cNvSpPr txBox="1"/>
          <p:nvPr/>
        </p:nvSpPr>
        <p:spPr>
          <a:xfrm>
            <a:off x="609904" y="256032"/>
            <a:ext cx="10515600" cy="310896"/>
          </a:xfrm>
          <a:prstGeom prst="rect">
            <a:avLst/>
          </a:prstGeom>
          <a:noFill/>
        </p:spPr>
        <p:txBody>
          <a:bodyPr wrap="square" anchor="t" lIns="0" tIns="0" rIns="0" bIns="0">
            <a:noAutofit/>
          </a:bodyPr>
          <a:lstStyle/>
          <a:p>
            <a:pPr algn="l">
              <a:spcAft>
                <a:spcPts val="0"/>
              </a:spcAft>
            </a:pPr>
            <a:r>
              <a:rPr sz="1400" b="0" i="0">
                <a:solidFill>
                  <a:srgbClr val="FF9000"/>
                </a:solidFill>
                <a:latin typeface="Inter Semi Bold"/>
              </a:rPr>
              <a:t>PLAY 4 · SETUP: DATA &amp; PROMPT</a:t>
            </a:r>
          </a:p>
        </p:txBody>
      </p:sp>
      <p:sp>
        <p:nvSpPr>
          <p:cNvPr id="4" name="Rounded Rectangle 3"/>
          <p:cNvSpPr/>
          <p:nvPr/>
        </p:nvSpPr>
        <p:spPr>
          <a:xfrm>
            <a:off x="609904" y="1371600"/>
            <a:ext cx="3429000" cy="4069080"/>
          </a:xfrm>
          <a:prstGeom prst="roundRect">
            <a:avLst>
              <a:gd name="adj" fmla="val 48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5" name="Oval 4"/>
          <p:cNvSpPr/>
          <p:nvPr/>
        </p:nvSpPr>
        <p:spPr>
          <a:xfrm>
            <a:off x="822960" y="1554480"/>
            <a:ext cx="457200" cy="457200"/>
          </a:xfrm>
          <a:prstGeom prst="ellipse">
            <a:avLst/>
          </a:prstGeom>
          <a:solidFill>
            <a:srgbClr val="FF900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800" b="0" i="0">
                <a:solidFill>
                  <a:srgbClr val="FFFFFF"/>
                </a:solidFill>
                <a:latin typeface="Inter Semi Bold"/>
              </a:rPr>
              <a:t>1</a:t>
            </a:r>
          </a:p>
        </p:txBody>
      </p:sp>
      <p:sp>
        <p:nvSpPr>
          <p:cNvPr id="6" name="TextBox 5"/>
          <p:cNvSpPr txBox="1"/>
          <p:nvPr/>
        </p:nvSpPr>
        <p:spPr>
          <a:xfrm>
            <a:off x="1417320" y="1554480"/>
            <a:ext cx="2560320" cy="457200"/>
          </a:xfrm>
          <a:prstGeom prst="rect">
            <a:avLst/>
          </a:prstGeom>
          <a:noFill/>
        </p:spPr>
        <p:txBody>
          <a:bodyPr wrap="square" anchor="ctr" lIns="0" tIns="0" rIns="0" bIns="0">
            <a:noAutofit/>
          </a:bodyPr>
          <a:lstStyle/>
          <a:p>
            <a:pPr algn="l">
              <a:spcAft>
                <a:spcPts val="0"/>
              </a:spcAft>
            </a:pPr>
            <a:r>
              <a:rPr sz="1500" b="0" i="0">
                <a:solidFill>
                  <a:srgbClr val="6B6B6B"/>
                </a:solidFill>
                <a:latin typeface="Inter Semi Bold"/>
              </a:rPr>
              <a:t>DATA IN</a:t>
            </a:r>
          </a:p>
        </p:txBody>
      </p:sp>
      <p:sp>
        <p:nvSpPr>
          <p:cNvPr id="7" name="TextBox 6"/>
          <p:cNvSpPr txBox="1"/>
          <p:nvPr/>
        </p:nvSpPr>
        <p:spPr>
          <a:xfrm>
            <a:off x="822960" y="2103120"/>
            <a:ext cx="3108960" cy="411480"/>
          </a:xfrm>
          <a:prstGeom prst="rect">
            <a:avLst/>
          </a:prstGeom>
          <a:noFill/>
        </p:spPr>
        <p:txBody>
          <a:bodyPr wrap="none" anchor="t" lIns="0" tIns="0" rIns="0" bIns="0">
            <a:noAutofit/>
          </a:bodyPr>
          <a:lstStyle/>
          <a:p>
            <a:pPr algn="l">
              <a:spcAft>
                <a:spcPts val="0"/>
              </a:spcAft>
            </a:pPr>
            <a:r>
              <a:rPr sz="1800" b="0" i="0">
                <a:solidFill>
                  <a:srgbClr val="0A0A0A"/>
                </a:solidFill>
                <a:latin typeface="Inter Semi Bold"/>
              </a:rPr>
              <a:t>10 CUCM BAT CSVs</a:t>
            </a:r>
          </a:p>
        </p:txBody>
      </p:sp>
      <p:sp>
        <p:nvSpPr>
          <p:cNvPr id="8" name="Rounded Rectangle 7"/>
          <p:cNvSpPr/>
          <p:nvPr/>
        </p:nvSpPr>
        <p:spPr>
          <a:xfrm>
            <a:off x="822960" y="2651760"/>
            <a:ext cx="146304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300" b="0" i="0">
                <a:solidFill>
                  <a:srgbClr val="282828"/>
                </a:solidFill>
                <a:latin typeface="Inter"/>
              </a:rPr>
              <a:t>routepattern</a:t>
            </a:r>
          </a:p>
        </p:txBody>
      </p:sp>
      <p:sp>
        <p:nvSpPr>
          <p:cNvPr id="9" name="Rounded Rectangle 8"/>
          <p:cNvSpPr/>
          <p:nvPr/>
        </p:nvSpPr>
        <p:spPr>
          <a:xfrm>
            <a:off x="2359152" y="2651760"/>
            <a:ext cx="146304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300" b="0" i="0">
                <a:solidFill>
                  <a:srgbClr val="282828"/>
                </a:solidFill>
                <a:latin typeface="Inter"/>
              </a:rPr>
              <a:t>translationpattern</a:t>
            </a:r>
          </a:p>
        </p:txBody>
      </p:sp>
      <p:sp>
        <p:nvSpPr>
          <p:cNvPr id="10" name="Rounded Rectangle 9"/>
          <p:cNvSpPr/>
          <p:nvPr/>
        </p:nvSpPr>
        <p:spPr>
          <a:xfrm>
            <a:off x="822960" y="3182112"/>
            <a:ext cx="146304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300" b="0" i="0">
                <a:solidFill>
                  <a:srgbClr val="282828"/>
                </a:solidFill>
                <a:latin typeface="Inter"/>
              </a:rPr>
              <a:t>gateway</a:t>
            </a:r>
          </a:p>
        </p:txBody>
      </p:sp>
      <p:sp>
        <p:nvSpPr>
          <p:cNvPr id="11" name="Rounded Rectangle 10"/>
          <p:cNvSpPr/>
          <p:nvPr/>
        </p:nvSpPr>
        <p:spPr>
          <a:xfrm>
            <a:off x="2359152" y="3182112"/>
            <a:ext cx="146304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300" b="0" i="0">
                <a:solidFill>
                  <a:srgbClr val="282828"/>
                </a:solidFill>
                <a:latin typeface="Inter"/>
              </a:rPr>
              <a:t>trunk</a:t>
            </a:r>
          </a:p>
        </p:txBody>
      </p:sp>
      <p:sp>
        <p:nvSpPr>
          <p:cNvPr id="12" name="Rounded Rectangle 11"/>
          <p:cNvSpPr/>
          <p:nvPr/>
        </p:nvSpPr>
        <p:spPr>
          <a:xfrm>
            <a:off x="822960" y="3712463"/>
            <a:ext cx="146304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300" b="0" i="0">
                <a:solidFill>
                  <a:srgbClr val="282828"/>
                </a:solidFill>
                <a:latin typeface="Inter"/>
              </a:rPr>
              <a:t>routegroup</a:t>
            </a:r>
          </a:p>
        </p:txBody>
      </p:sp>
      <p:sp>
        <p:nvSpPr>
          <p:cNvPr id="13" name="Rounded Rectangle 12"/>
          <p:cNvSpPr/>
          <p:nvPr/>
        </p:nvSpPr>
        <p:spPr>
          <a:xfrm>
            <a:off x="2359152" y="3712463"/>
            <a:ext cx="146304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300" b="0" i="0">
                <a:solidFill>
                  <a:srgbClr val="282828"/>
                </a:solidFill>
                <a:latin typeface="Inter"/>
              </a:rPr>
              <a:t>routelist</a:t>
            </a:r>
          </a:p>
        </p:txBody>
      </p:sp>
      <p:sp>
        <p:nvSpPr>
          <p:cNvPr id="14" name="Rounded Rectangle 13"/>
          <p:cNvSpPr/>
          <p:nvPr/>
        </p:nvSpPr>
        <p:spPr>
          <a:xfrm>
            <a:off x="822960" y="4242816"/>
            <a:ext cx="146304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300" b="0" i="0">
                <a:solidFill>
                  <a:srgbClr val="282828"/>
                </a:solidFill>
                <a:latin typeface="Inter"/>
              </a:rPr>
              <a:t>partition</a:t>
            </a:r>
          </a:p>
        </p:txBody>
      </p:sp>
      <p:sp>
        <p:nvSpPr>
          <p:cNvPr id="15" name="Rounded Rectangle 14"/>
          <p:cNvSpPr/>
          <p:nvPr/>
        </p:nvSpPr>
        <p:spPr>
          <a:xfrm>
            <a:off x="2359152" y="4242816"/>
            <a:ext cx="146304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300" b="0" i="0">
                <a:solidFill>
                  <a:srgbClr val="282828"/>
                </a:solidFill>
                <a:latin typeface="Inter"/>
              </a:rPr>
              <a:t>css</a:t>
            </a:r>
          </a:p>
        </p:txBody>
      </p:sp>
      <p:sp>
        <p:nvSpPr>
          <p:cNvPr id="16" name="Rounded Rectangle 15"/>
          <p:cNvSpPr/>
          <p:nvPr/>
        </p:nvSpPr>
        <p:spPr>
          <a:xfrm>
            <a:off x="822960" y="4773168"/>
            <a:ext cx="146304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300" b="0" i="0">
                <a:solidFill>
                  <a:srgbClr val="282828"/>
                </a:solidFill>
                <a:latin typeface="Inter"/>
              </a:rPr>
              <a:t>phone</a:t>
            </a:r>
          </a:p>
        </p:txBody>
      </p:sp>
      <p:sp>
        <p:nvSpPr>
          <p:cNvPr id="17" name="Rounded Rectangle 16"/>
          <p:cNvSpPr/>
          <p:nvPr/>
        </p:nvSpPr>
        <p:spPr>
          <a:xfrm>
            <a:off x="2359152" y="4773168"/>
            <a:ext cx="1463040" cy="438912"/>
          </a:xfrm>
          <a:prstGeom prst="roundRect">
            <a:avLst>
              <a:gd name="adj" fmla="val 20833"/>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none" lIns="36576" tIns="0" rIns="36576" bIns="0">
            <a:noAutofit/>
          </a:bodyPr>
          <a:lstStyle/>
          <a:p>
            <a:pPr algn="ctr">
              <a:spcAft>
                <a:spcPts val="0"/>
              </a:spcAft>
            </a:pPr>
            <a:r>
              <a:rPr sz="1300" b="0" i="0">
                <a:solidFill>
                  <a:srgbClr val="282828"/>
                </a:solidFill>
                <a:latin typeface="Inter"/>
              </a:rPr>
              <a:t>ctiroutepoint</a:t>
            </a:r>
          </a:p>
        </p:txBody>
      </p:sp>
      <p:cxnSp>
        <p:nvCxnSpPr>
          <p:cNvPr id="18" name="Connector 17"/>
          <p:cNvCxnSpPr/>
          <p:nvPr/>
        </p:nvCxnSpPr>
        <p:spPr>
          <a:xfrm>
            <a:off x="4087368" y="3401568"/>
            <a:ext cx="320040" cy="0"/>
          </a:xfrm>
          <a:prstGeom prst="line">
            <a:avLst/>
          </a:prstGeom>
          <a:ln w="317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453128" y="1371600"/>
            <a:ext cx="4160520" cy="4069080"/>
          </a:xfrm>
          <a:prstGeom prst="roundRect">
            <a:avLst>
              <a:gd name="adj" fmla="val 4044"/>
            </a:avLst>
          </a:prstGeom>
          <a:solidFill>
            <a:srgbClr val="0A0A0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20" name="Oval 19"/>
          <p:cNvSpPr/>
          <p:nvPr/>
        </p:nvSpPr>
        <p:spPr>
          <a:xfrm>
            <a:off x="4663440" y="1554480"/>
            <a:ext cx="457200" cy="457200"/>
          </a:xfrm>
          <a:prstGeom prst="ellipse">
            <a:avLst/>
          </a:prstGeom>
          <a:solidFill>
            <a:srgbClr val="FF900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800" b="0" i="0">
                <a:solidFill>
                  <a:srgbClr val="FFFFFF"/>
                </a:solidFill>
                <a:latin typeface="Inter Semi Bold"/>
              </a:rPr>
              <a:t>2</a:t>
            </a:r>
          </a:p>
        </p:txBody>
      </p:sp>
      <p:sp>
        <p:nvSpPr>
          <p:cNvPr id="21" name="TextBox 20"/>
          <p:cNvSpPr txBox="1"/>
          <p:nvPr/>
        </p:nvSpPr>
        <p:spPr>
          <a:xfrm>
            <a:off x="5257800" y="1554480"/>
            <a:ext cx="3200400" cy="457200"/>
          </a:xfrm>
          <a:prstGeom prst="rect">
            <a:avLst/>
          </a:prstGeom>
          <a:noFill/>
        </p:spPr>
        <p:txBody>
          <a:bodyPr wrap="square" anchor="ctr" lIns="0" tIns="0" rIns="0" bIns="0">
            <a:noAutofit/>
          </a:bodyPr>
          <a:lstStyle/>
          <a:p>
            <a:pPr algn="l">
              <a:spcAft>
                <a:spcPts val="0"/>
              </a:spcAft>
            </a:pPr>
            <a:r>
              <a:rPr sz="1500" b="0" i="0">
                <a:solidFill>
                  <a:srgbClr val="B4B9C0"/>
                </a:solidFill>
                <a:latin typeface="Inter Semi Bold"/>
              </a:rPr>
              <a:t>MASTER PROMPT</a:t>
            </a:r>
          </a:p>
        </p:txBody>
      </p:sp>
      <p:sp>
        <p:nvSpPr>
          <p:cNvPr id="22" name="TextBox 21"/>
          <p:cNvSpPr txBox="1"/>
          <p:nvPr/>
        </p:nvSpPr>
        <p:spPr>
          <a:xfrm>
            <a:off x="4663440" y="2194560"/>
            <a:ext cx="3840480" cy="3108960"/>
          </a:xfrm>
          <a:prstGeom prst="rect">
            <a:avLst/>
          </a:prstGeom>
          <a:noFill/>
        </p:spPr>
        <p:txBody>
          <a:bodyPr wrap="none" anchor="t" lIns="0" tIns="0" rIns="0" bIns="0">
            <a:noAutofit/>
          </a:bodyPr>
          <a:lstStyle/>
          <a:p>
            <a:pPr algn="l">
              <a:spcAft>
                <a:spcPts val="900"/>
              </a:spcAft>
            </a:pPr>
            <a:r>
              <a:rPr sz="1300" b="0" i="0">
                <a:solidFill>
                  <a:srgbClr val="00C8FF"/>
                </a:solidFill>
                <a:latin typeface="Consolas"/>
              </a:rPr>
              <a:t>ROLE    </a:t>
            </a:r>
            <a:r>
              <a:rPr sz="1300" b="0" i="0">
                <a:solidFill>
                  <a:srgbClr val="FFFFFF"/>
                </a:solidFill>
                <a:latin typeface="Consolas"/>
              </a:rPr>
              <a:t>Principal routing architect</a:t>
            </a:r>
          </a:p>
          <a:p>
            <a:pPr algn="l">
              <a:spcAft>
                <a:spcPts val="900"/>
              </a:spcAft>
            </a:pPr>
            <a:r>
              <a:rPr sz="1300" b="0" i="0">
                <a:solidFill>
                  <a:srgbClr val="00C8FF"/>
                </a:solidFill>
                <a:latin typeface="Consolas"/>
              </a:rPr>
              <a:t>AUDIT   </a:t>
            </a:r>
            <a:r>
              <a:rPr sz="1300" b="0" i="0">
                <a:solidFill>
                  <a:srgbClr val="FFFFFF"/>
                </a:solidFill>
                <a:latin typeface="Consolas"/>
              </a:rPr>
              <a:t>Legacy H.323 gateways</a:t>
            </a:r>
          </a:p>
          <a:p>
            <a:pPr algn="l">
              <a:spcAft>
                <a:spcPts val="900"/>
              </a:spcAft>
            </a:pPr>
            <a:r>
              <a:rPr sz="1300" b="0" i="0">
                <a:solidFill>
                  <a:srgbClr val="00C8FF"/>
                </a:solidFill>
                <a:latin typeface="Consolas"/>
              </a:rPr>
              <a:t>        </a:t>
            </a:r>
            <a:r>
              <a:rPr sz="1300" b="0" i="0">
                <a:solidFill>
                  <a:srgbClr val="FFFFFF"/>
                </a:solidFill>
                <a:latin typeface="Consolas"/>
              </a:rPr>
              <a:t>Old prefixes 91.10D, 9.01</a:t>
            </a:r>
          </a:p>
          <a:p>
            <a:pPr algn="l">
              <a:spcAft>
                <a:spcPts val="900"/>
              </a:spcAft>
            </a:pPr>
            <a:r>
              <a:rPr sz="1300" b="0" i="0">
                <a:solidFill>
                  <a:srgbClr val="00C8FF"/>
                </a:solidFill>
                <a:latin typeface="Consolas"/>
              </a:rPr>
              <a:t>NORMAL  </a:t>
            </a:r>
            <a:r>
              <a:rPr sz="1300" b="0" i="0">
                <a:solidFill>
                  <a:srgbClr val="FFFFFF"/>
                </a:solidFill>
                <a:latin typeface="Consolas"/>
              </a:rPr>
              <a:t>+E.164 hybrid matrix</a:t>
            </a:r>
          </a:p>
          <a:p>
            <a:pPr algn="l">
              <a:spcAft>
                <a:spcPts val="900"/>
              </a:spcAft>
            </a:pPr>
            <a:r>
              <a:rPr sz="1300" b="0" i="0">
                <a:solidFill>
                  <a:srgbClr val="00C8FF"/>
                </a:solidFill>
                <a:latin typeface="Consolas"/>
              </a:rPr>
              <a:t>        </a:t>
            </a:r>
            <a:r>
              <a:rPr sz="1300" b="0" i="0">
                <a:solidFill>
                  <a:srgbClr val="FFFFFF"/>
                </a:solidFill>
                <a:latin typeface="Consolas"/>
              </a:rPr>
              <a:t>on-prem ⇄ cloud users</a:t>
            </a:r>
          </a:p>
          <a:p>
            <a:pPr algn="l">
              <a:spcAft>
                <a:spcPts val="900"/>
              </a:spcAft>
            </a:pPr>
            <a:r>
              <a:rPr sz="1300" b="0" i="0">
                <a:solidFill>
                  <a:srgbClr val="00C8FF"/>
                </a:solidFill>
                <a:latin typeface="Consolas"/>
              </a:rPr>
              <a:t>CLI     </a:t>
            </a:r>
            <a:r>
              <a:rPr sz="1300" b="0" i="0">
                <a:solidFill>
                  <a:srgbClr val="FFFFFF"/>
                </a:solidFill>
                <a:latin typeface="Consolas"/>
              </a:rPr>
              <a:t>IOS-XE CUBE config</a:t>
            </a:r>
          </a:p>
          <a:p>
            <a:pPr algn="l">
              <a:spcAft>
                <a:spcPts val="900"/>
              </a:spcAft>
            </a:pPr>
            <a:r>
              <a:rPr sz="1300" b="0" i="0">
                <a:solidFill>
                  <a:srgbClr val="00C8FF"/>
                </a:solidFill>
                <a:latin typeface="Consolas"/>
              </a:rPr>
              <a:t>        </a:t>
            </a:r>
            <a:r>
              <a:rPr sz="1300" b="0" i="0">
                <a:solidFill>
                  <a:srgbClr val="FFFFFF"/>
                </a:solidFill>
                <a:latin typeface="Consolas"/>
              </a:rPr>
              <a:t>syntax-validated</a:t>
            </a:r>
          </a:p>
        </p:txBody>
      </p:sp>
      <p:cxnSp>
        <p:nvCxnSpPr>
          <p:cNvPr id="23" name="Connector 22"/>
          <p:cNvCxnSpPr/>
          <p:nvPr/>
        </p:nvCxnSpPr>
        <p:spPr>
          <a:xfrm>
            <a:off x="8659368" y="3401568"/>
            <a:ext cx="320040" cy="0"/>
          </a:xfrm>
          <a:prstGeom prst="line">
            <a:avLst/>
          </a:prstGeom>
          <a:ln w="317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25128" y="1371600"/>
            <a:ext cx="2560320" cy="4069080"/>
          </a:xfrm>
          <a:prstGeom prst="roundRect">
            <a:avLst>
              <a:gd name="adj" fmla="val 6428"/>
            </a:avLst>
          </a:prstGeom>
          <a:gradFill rotWithShape="1">
            <a:gsLst>
              <a:gs pos="0">
                <a:srgbClr val="FF9000"/>
              </a:gs>
              <a:gs pos="100000">
                <a:srgbClr val="FF007F"/>
              </a:gs>
            </a:gsLst>
            <a:lin scaled="0" ang="18900000"/>
          </a:gra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25" name="Oval 24"/>
          <p:cNvSpPr/>
          <p:nvPr/>
        </p:nvSpPr>
        <p:spPr>
          <a:xfrm>
            <a:off x="9235440" y="1554480"/>
            <a:ext cx="457200" cy="457200"/>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800" b="0" i="0">
                <a:solidFill>
                  <a:srgbClr val="FF9000"/>
                </a:solidFill>
                <a:latin typeface="Inter Semi Bold"/>
              </a:rPr>
              <a:t>3</a:t>
            </a:r>
          </a:p>
        </p:txBody>
      </p:sp>
      <p:sp>
        <p:nvSpPr>
          <p:cNvPr id="26" name="TextBox 25"/>
          <p:cNvSpPr txBox="1"/>
          <p:nvPr/>
        </p:nvSpPr>
        <p:spPr>
          <a:xfrm>
            <a:off x="9829800" y="1554480"/>
            <a:ext cx="1645920" cy="457200"/>
          </a:xfrm>
          <a:prstGeom prst="rect">
            <a:avLst/>
          </a:prstGeom>
          <a:noFill/>
        </p:spPr>
        <p:txBody>
          <a:bodyPr wrap="square" anchor="ctr" lIns="0" tIns="0" rIns="0" bIns="0">
            <a:noAutofit/>
          </a:bodyPr>
          <a:lstStyle/>
          <a:p>
            <a:pPr algn="l">
              <a:spcAft>
                <a:spcPts val="0"/>
              </a:spcAft>
            </a:pPr>
            <a:r>
              <a:rPr sz="1500" b="0" i="0">
                <a:solidFill>
                  <a:srgbClr val="FFFFFF"/>
                </a:solidFill>
                <a:latin typeface="Inter Semi Bold"/>
              </a:rPr>
              <a:t>OUTPUT</a:t>
            </a:r>
          </a:p>
        </p:txBody>
      </p:sp>
      <p:pic>
        <p:nvPicPr>
          <p:cNvPr id="27" name="Picture 26" descr="download_FFFFFF.png"/>
          <p:cNvPicPr>
            <a:picLocks noChangeAspect="1"/>
          </p:cNvPicPr>
          <p:nvPr/>
        </p:nvPicPr>
        <p:blipFill>
          <a:blip r:embed="rId2"/>
          <a:stretch>
            <a:fillRect/>
          </a:stretch>
        </p:blipFill>
        <p:spPr>
          <a:xfrm>
            <a:off x="9235440" y="2240280"/>
            <a:ext cx="457200" cy="457200"/>
          </a:xfrm>
          <a:prstGeom prst="rect">
            <a:avLst/>
          </a:prstGeom>
        </p:spPr>
      </p:pic>
      <p:sp>
        <p:nvSpPr>
          <p:cNvPr id="28" name="TextBox 27"/>
          <p:cNvSpPr txBox="1"/>
          <p:nvPr/>
        </p:nvSpPr>
        <p:spPr>
          <a:xfrm>
            <a:off x="9829800" y="2148840"/>
            <a:ext cx="1691640" cy="868680"/>
          </a:xfrm>
          <a:prstGeom prst="rect">
            <a:avLst/>
          </a:prstGeom>
          <a:noFill/>
        </p:spPr>
        <p:txBody>
          <a:bodyPr wrap="square" anchor="t" lIns="0" tIns="0" rIns="0" bIns="0">
            <a:noAutofit/>
          </a:bodyPr>
          <a:lstStyle/>
          <a:p>
            <a:pPr algn="l">
              <a:lnSpc>
                <a:spcPct val="95000"/>
              </a:lnSpc>
              <a:spcAft>
                <a:spcPts val="0"/>
              </a:spcAft>
            </a:pPr>
            <a:r>
              <a:rPr sz="1600" b="0" i="0">
                <a:solidFill>
                  <a:srgbClr val="FFFFFF"/>
                </a:solidFill>
                <a:latin typeface="Inter Semi Bold"/>
              </a:rPr>
              <a:t>CUBE dial-peers + SIP profiles</a:t>
            </a:r>
          </a:p>
        </p:txBody>
      </p:sp>
      <p:pic>
        <p:nvPicPr>
          <p:cNvPr id="29" name="Picture 28" descr="phone_FFFFFF.png"/>
          <p:cNvPicPr>
            <a:picLocks noChangeAspect="1"/>
          </p:cNvPicPr>
          <p:nvPr/>
        </p:nvPicPr>
        <p:blipFill>
          <a:blip r:embed="rId3"/>
          <a:stretch>
            <a:fillRect/>
          </a:stretch>
        </p:blipFill>
        <p:spPr>
          <a:xfrm>
            <a:off x="9235440" y="3264408"/>
            <a:ext cx="457200" cy="457200"/>
          </a:xfrm>
          <a:prstGeom prst="rect">
            <a:avLst/>
          </a:prstGeom>
        </p:spPr>
      </p:pic>
      <p:sp>
        <p:nvSpPr>
          <p:cNvPr id="30" name="TextBox 29"/>
          <p:cNvSpPr txBox="1"/>
          <p:nvPr/>
        </p:nvSpPr>
        <p:spPr>
          <a:xfrm>
            <a:off x="9829800" y="3172968"/>
            <a:ext cx="1691640" cy="868680"/>
          </a:xfrm>
          <a:prstGeom prst="rect">
            <a:avLst/>
          </a:prstGeom>
          <a:noFill/>
        </p:spPr>
        <p:txBody>
          <a:bodyPr wrap="square" anchor="t" lIns="0" tIns="0" rIns="0" bIns="0">
            <a:noAutofit/>
          </a:bodyPr>
          <a:lstStyle/>
          <a:p>
            <a:pPr algn="l">
              <a:lnSpc>
                <a:spcPct val="95000"/>
              </a:lnSpc>
              <a:spcAft>
                <a:spcPts val="0"/>
              </a:spcAft>
            </a:pPr>
            <a:r>
              <a:rPr sz="1600" b="0" i="0">
                <a:solidFill>
                  <a:srgbClr val="FFFFFF"/>
                </a:solidFill>
                <a:latin typeface="Inter Semi Bold"/>
              </a:rPr>
              <a:t>+E.164 routing matrix</a:t>
            </a:r>
          </a:p>
        </p:txBody>
      </p:sp>
      <p:pic>
        <p:nvPicPr>
          <p:cNvPr id="31" name="Picture 30" descr="search_person_FFFFFF.png"/>
          <p:cNvPicPr>
            <a:picLocks noChangeAspect="1"/>
          </p:cNvPicPr>
          <p:nvPr/>
        </p:nvPicPr>
        <p:blipFill>
          <a:blip r:embed="rId4"/>
          <a:stretch>
            <a:fillRect/>
          </a:stretch>
        </p:blipFill>
        <p:spPr>
          <a:xfrm>
            <a:off x="9235440" y="4288536"/>
            <a:ext cx="457200" cy="457200"/>
          </a:xfrm>
          <a:prstGeom prst="rect">
            <a:avLst/>
          </a:prstGeom>
        </p:spPr>
      </p:pic>
      <p:sp>
        <p:nvSpPr>
          <p:cNvPr id="32" name="TextBox 31"/>
          <p:cNvSpPr txBox="1"/>
          <p:nvPr/>
        </p:nvSpPr>
        <p:spPr>
          <a:xfrm>
            <a:off x="9829800" y="4197096"/>
            <a:ext cx="1691640" cy="868680"/>
          </a:xfrm>
          <a:prstGeom prst="rect">
            <a:avLst/>
          </a:prstGeom>
          <a:noFill/>
        </p:spPr>
        <p:txBody>
          <a:bodyPr wrap="square" anchor="t" lIns="0" tIns="0" rIns="0" bIns="0">
            <a:noAutofit/>
          </a:bodyPr>
          <a:lstStyle/>
          <a:p>
            <a:pPr algn="l">
              <a:lnSpc>
                <a:spcPct val="95000"/>
              </a:lnSpc>
              <a:spcAft>
                <a:spcPts val="0"/>
              </a:spcAft>
            </a:pPr>
            <a:r>
              <a:rPr sz="1600" b="0" i="0">
                <a:solidFill>
                  <a:srgbClr val="FFFFFF"/>
                </a:solidFill>
                <a:latin typeface="Inter Semi Bold"/>
              </a:rPr>
              <a:t>Tech-debt audit</a:t>
            </a:r>
          </a:p>
        </p:txBody>
      </p:sp>
      <p:sp>
        <p:nvSpPr>
          <p:cNvPr id="33" name="Rounded Rectangle 32"/>
          <p:cNvSpPr/>
          <p:nvPr/>
        </p:nvSpPr>
        <p:spPr>
          <a:xfrm>
            <a:off x="609904" y="5596128"/>
            <a:ext cx="5120640" cy="566928"/>
          </a:xfrm>
          <a:prstGeom prst="roundRect">
            <a:avLst>
              <a:gd name="adj" fmla="val 50000"/>
            </a:avLst>
          </a:prstGeom>
          <a:solidFill>
            <a:srgbClr val="FFFFFF"/>
          </a:solidFill>
          <a:ln w="19050">
            <a:solidFill>
              <a:srgbClr val="FF007F"/>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34" name="Picture 33" descr="privacy_FF007F.png"/>
          <p:cNvPicPr>
            <a:picLocks noChangeAspect="1"/>
          </p:cNvPicPr>
          <p:nvPr/>
        </p:nvPicPr>
        <p:blipFill>
          <a:blip r:embed="rId5"/>
          <a:stretch>
            <a:fillRect/>
          </a:stretch>
        </p:blipFill>
        <p:spPr>
          <a:xfrm>
            <a:off x="777240" y="5669280"/>
            <a:ext cx="420624" cy="420624"/>
          </a:xfrm>
          <a:prstGeom prst="rect">
            <a:avLst/>
          </a:prstGeom>
        </p:spPr>
      </p:pic>
      <p:sp>
        <p:nvSpPr>
          <p:cNvPr id="35" name="TextBox 34"/>
          <p:cNvSpPr txBox="1"/>
          <p:nvPr/>
        </p:nvSpPr>
        <p:spPr>
          <a:xfrm>
            <a:off x="1325880" y="5596128"/>
            <a:ext cx="4343400" cy="566928"/>
          </a:xfrm>
          <a:prstGeom prst="rect">
            <a:avLst/>
          </a:prstGeom>
          <a:noFill/>
        </p:spPr>
        <p:txBody>
          <a:bodyPr wrap="none" anchor="ctr" lIns="0" tIns="0" rIns="0" bIns="0">
            <a:noAutofit/>
          </a:bodyPr>
          <a:lstStyle/>
          <a:p>
            <a:pPr algn="l">
              <a:spcAft>
                <a:spcPts val="0"/>
              </a:spcAft>
            </a:pPr>
            <a:r>
              <a:rPr sz="1500" b="0" i="0">
                <a:solidFill>
                  <a:srgbClr val="FF007F"/>
                </a:solidFill>
                <a:latin typeface="Inter Semi Bold"/>
              </a:rPr>
              <a:t>Sanitize  </a:t>
            </a:r>
            <a:r>
              <a:rPr sz="1500" b="0" i="0">
                <a:solidFill>
                  <a:srgbClr val="282828"/>
                </a:solidFill>
                <a:latin typeface="Inter Semi Bold"/>
              </a:rPr>
              <a:t>Carrier IPs, trunk passwords</a:t>
            </a:r>
          </a:p>
        </p:txBody>
      </p:sp>
      <p:sp>
        <p:nvSpPr>
          <p:cNvPr id="36" name="Rounded Rectangle 35"/>
          <p:cNvSpPr/>
          <p:nvPr/>
        </p:nvSpPr>
        <p:spPr>
          <a:xfrm>
            <a:off x="5916168" y="5596128"/>
            <a:ext cx="5669280" cy="566928"/>
          </a:xfrm>
          <a:prstGeom prst="roundRect">
            <a:avLst>
              <a:gd name="adj" fmla="val 50000"/>
            </a:avLst>
          </a:prstGeom>
          <a:solidFill>
            <a:srgbClr val="0A0A0A"/>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45720" tIns="0" rIns="45720" bIns="0">
            <a:noAutofit/>
          </a:bodyPr>
          <a:lstStyle/>
          <a:p>
            <a:pPr algn="ctr">
              <a:spcAft>
                <a:spcPts val="0"/>
              </a:spcAft>
            </a:pPr>
            <a:r>
              <a:rPr sz="1600" b="0" i="0">
                <a:solidFill>
                  <a:srgbClr val="FFFFFF"/>
                </a:solidFill>
                <a:latin typeface="Inter Semi Bold"/>
              </a:rPr>
              <a:t>Production-ready CUBE CLI. Zero downtime.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Hybrid coexistence: migrate at your pace</a:t>
            </a:r>
          </a:p>
        </p:txBody>
      </p:sp>
      <p:sp>
        <p:nvSpPr>
          <p:cNvPr id="3" name="TextBox 2"/>
          <p:cNvSpPr txBox="1"/>
          <p:nvPr/>
        </p:nvSpPr>
        <p:spPr>
          <a:xfrm>
            <a:off x="609904" y="256032"/>
            <a:ext cx="10515600" cy="310896"/>
          </a:xfrm>
          <a:prstGeom prst="rect">
            <a:avLst/>
          </a:prstGeom>
          <a:noFill/>
        </p:spPr>
        <p:txBody>
          <a:bodyPr wrap="square" anchor="t" lIns="0" tIns="0" rIns="0" bIns="0">
            <a:noAutofit/>
          </a:bodyPr>
          <a:lstStyle/>
          <a:p>
            <a:pPr algn="l">
              <a:spcAft>
                <a:spcPts val="0"/>
              </a:spcAft>
            </a:pPr>
            <a:r>
              <a:rPr sz="1400" b="0" i="0">
                <a:solidFill>
                  <a:srgbClr val="FF9000"/>
                </a:solidFill>
                <a:latin typeface="Inter Semi Bold"/>
              </a:rPr>
              <a:t>PLAY 4 · WHAT WE LEARNED</a:t>
            </a:r>
          </a:p>
        </p:txBody>
      </p:sp>
      <p:sp>
        <p:nvSpPr>
          <p:cNvPr id="4" name="Rounded Rectangle 3"/>
          <p:cNvSpPr/>
          <p:nvPr/>
        </p:nvSpPr>
        <p:spPr>
          <a:xfrm>
            <a:off x="609904" y="1371600"/>
            <a:ext cx="3383280" cy="4114800"/>
          </a:xfrm>
          <a:prstGeom prst="roundRect">
            <a:avLst>
              <a:gd name="adj" fmla="val 4864"/>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5" name="TextBox 4"/>
          <p:cNvSpPr txBox="1"/>
          <p:nvPr/>
        </p:nvSpPr>
        <p:spPr>
          <a:xfrm>
            <a:off x="868680" y="1536192"/>
            <a:ext cx="2926080" cy="365760"/>
          </a:xfrm>
          <a:prstGeom prst="rect">
            <a:avLst/>
          </a:prstGeom>
          <a:noFill/>
        </p:spPr>
        <p:txBody>
          <a:bodyPr wrap="square" anchor="t" lIns="0" tIns="0" rIns="0" bIns="0">
            <a:noAutofit/>
          </a:bodyPr>
          <a:lstStyle/>
          <a:p>
            <a:pPr algn="l">
              <a:spcAft>
                <a:spcPts val="0"/>
              </a:spcAft>
            </a:pPr>
            <a:r>
              <a:rPr sz="1500" b="0" i="0">
                <a:solidFill>
                  <a:srgbClr val="6B6B6B"/>
                </a:solidFill>
                <a:latin typeface="Inter Semi Bold"/>
              </a:rPr>
              <a:t>PURGED</a:t>
            </a:r>
          </a:p>
        </p:txBody>
      </p:sp>
      <p:sp>
        <p:nvSpPr>
          <p:cNvPr id="6" name="Rounded Rectangle 5"/>
          <p:cNvSpPr/>
          <p:nvPr/>
        </p:nvSpPr>
        <p:spPr>
          <a:xfrm>
            <a:off x="868680" y="2011680"/>
            <a:ext cx="2880360" cy="914400"/>
          </a:xfrm>
          <a:prstGeom prst="roundRect">
            <a:avLst>
              <a:gd name="adj" fmla="val 12000"/>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7" name="Oval 6"/>
          <p:cNvSpPr/>
          <p:nvPr/>
        </p:nvSpPr>
        <p:spPr>
          <a:xfrm>
            <a:off x="987552" y="2304288"/>
            <a:ext cx="329184" cy="329184"/>
          </a:xfrm>
          <a:prstGeom prst="ellipse">
            <a:avLst/>
          </a:prstGeom>
          <a:solidFill>
            <a:srgbClr val="B4B9C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200" b="0" i="0">
                <a:solidFill>
                  <a:srgbClr val="FFFFFF"/>
                </a:solidFill>
                <a:latin typeface="Inter Semi Bold"/>
              </a:rPr>
              <a:t>✕</a:t>
            </a:r>
          </a:p>
        </p:txBody>
      </p:sp>
      <p:sp>
        <p:nvSpPr>
          <p:cNvPr id="8" name="TextBox 7"/>
          <p:cNvSpPr txBox="1"/>
          <p:nvPr/>
        </p:nvSpPr>
        <p:spPr>
          <a:xfrm>
            <a:off x="1444752" y="2011680"/>
            <a:ext cx="2240280" cy="914400"/>
          </a:xfrm>
          <a:prstGeom prst="rect">
            <a:avLst/>
          </a:prstGeom>
          <a:noFill/>
        </p:spPr>
        <p:txBody>
          <a:bodyPr wrap="square" anchor="ctr" lIns="0" tIns="0" rIns="0" bIns="0">
            <a:noAutofit/>
          </a:bodyPr>
          <a:lstStyle/>
          <a:p>
            <a:pPr algn="l">
              <a:lnSpc>
                <a:spcPct val="95000"/>
              </a:lnSpc>
              <a:spcAft>
                <a:spcPts val="0"/>
              </a:spcAft>
            </a:pPr>
            <a:r>
              <a:rPr sz="1600" b="0" i="0" strike="sngStrike">
                <a:solidFill>
                  <a:srgbClr val="6B6B6B"/>
                </a:solidFill>
                <a:latin typeface="Inter Semi Bold"/>
              </a:rPr>
              <a:t>H.323 / MGCP gateways</a:t>
            </a:r>
          </a:p>
        </p:txBody>
      </p:sp>
      <p:sp>
        <p:nvSpPr>
          <p:cNvPr id="9" name="Rounded Rectangle 8"/>
          <p:cNvSpPr/>
          <p:nvPr/>
        </p:nvSpPr>
        <p:spPr>
          <a:xfrm>
            <a:off x="868680" y="3127248"/>
            <a:ext cx="2880360" cy="914400"/>
          </a:xfrm>
          <a:prstGeom prst="roundRect">
            <a:avLst>
              <a:gd name="adj" fmla="val 12000"/>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0" name="Oval 9"/>
          <p:cNvSpPr/>
          <p:nvPr/>
        </p:nvSpPr>
        <p:spPr>
          <a:xfrm>
            <a:off x="987552" y="3419856"/>
            <a:ext cx="329184" cy="329184"/>
          </a:xfrm>
          <a:prstGeom prst="ellipse">
            <a:avLst/>
          </a:prstGeom>
          <a:solidFill>
            <a:srgbClr val="B4B9C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200" b="0" i="0">
                <a:solidFill>
                  <a:srgbClr val="FFFFFF"/>
                </a:solidFill>
                <a:latin typeface="Inter Semi Bold"/>
              </a:rPr>
              <a:t>✕</a:t>
            </a:r>
          </a:p>
        </p:txBody>
      </p:sp>
      <p:sp>
        <p:nvSpPr>
          <p:cNvPr id="11" name="TextBox 10"/>
          <p:cNvSpPr txBox="1"/>
          <p:nvPr/>
        </p:nvSpPr>
        <p:spPr>
          <a:xfrm>
            <a:off x="1444752" y="3127248"/>
            <a:ext cx="2240280" cy="914400"/>
          </a:xfrm>
          <a:prstGeom prst="rect">
            <a:avLst/>
          </a:prstGeom>
          <a:noFill/>
        </p:spPr>
        <p:txBody>
          <a:bodyPr wrap="square" anchor="ctr" lIns="0" tIns="0" rIns="0" bIns="0">
            <a:noAutofit/>
          </a:bodyPr>
          <a:lstStyle/>
          <a:p>
            <a:pPr algn="l">
              <a:lnSpc>
                <a:spcPct val="95000"/>
              </a:lnSpc>
              <a:spcAft>
                <a:spcPts val="0"/>
              </a:spcAft>
            </a:pPr>
            <a:r>
              <a:rPr sz="1600" b="0" i="0" strike="sngStrike">
                <a:solidFill>
                  <a:srgbClr val="6B6B6B"/>
                </a:solidFill>
                <a:latin typeface="Inter Semi Bold"/>
              </a:rPr>
              <a:t>Steering prefixes 91.10D, 9.</a:t>
            </a:r>
          </a:p>
        </p:txBody>
      </p:sp>
      <p:sp>
        <p:nvSpPr>
          <p:cNvPr id="12" name="Rounded Rectangle 11"/>
          <p:cNvSpPr/>
          <p:nvPr/>
        </p:nvSpPr>
        <p:spPr>
          <a:xfrm>
            <a:off x="868680" y="4242816"/>
            <a:ext cx="2880360" cy="914400"/>
          </a:xfrm>
          <a:prstGeom prst="roundRect">
            <a:avLst>
              <a:gd name="adj" fmla="val 12000"/>
            </a:avLst>
          </a:prstGeom>
          <a:solidFill>
            <a:srgbClr val="FFFFFF"/>
          </a:solidFill>
          <a:ln w="12700">
            <a:solidFill>
              <a:srgbClr val="D6D6D6"/>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3" name="Oval 12"/>
          <p:cNvSpPr/>
          <p:nvPr/>
        </p:nvSpPr>
        <p:spPr>
          <a:xfrm>
            <a:off x="987552" y="4535424"/>
            <a:ext cx="329184" cy="329184"/>
          </a:xfrm>
          <a:prstGeom prst="ellipse">
            <a:avLst/>
          </a:prstGeom>
          <a:solidFill>
            <a:srgbClr val="B4B9C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spcAft>
                <a:spcPts val="0"/>
              </a:spcAft>
            </a:pPr>
            <a:r>
              <a:rPr sz="1200" b="0" i="0">
                <a:solidFill>
                  <a:srgbClr val="FFFFFF"/>
                </a:solidFill>
                <a:latin typeface="Inter Semi Bold"/>
              </a:rPr>
              <a:t>✕</a:t>
            </a:r>
          </a:p>
        </p:txBody>
      </p:sp>
      <p:sp>
        <p:nvSpPr>
          <p:cNvPr id="14" name="TextBox 13"/>
          <p:cNvSpPr txBox="1"/>
          <p:nvPr/>
        </p:nvSpPr>
        <p:spPr>
          <a:xfrm>
            <a:off x="1444752" y="4242816"/>
            <a:ext cx="2240280" cy="914400"/>
          </a:xfrm>
          <a:prstGeom prst="rect">
            <a:avLst/>
          </a:prstGeom>
          <a:noFill/>
        </p:spPr>
        <p:txBody>
          <a:bodyPr wrap="square" anchor="ctr" lIns="0" tIns="0" rIns="0" bIns="0">
            <a:noAutofit/>
          </a:bodyPr>
          <a:lstStyle/>
          <a:p>
            <a:pPr algn="l">
              <a:lnSpc>
                <a:spcPct val="95000"/>
              </a:lnSpc>
              <a:spcAft>
                <a:spcPts val="0"/>
              </a:spcAft>
            </a:pPr>
            <a:r>
              <a:rPr sz="1600" b="0" i="0" strike="sngStrike">
                <a:solidFill>
                  <a:srgbClr val="6B6B6B"/>
                </a:solidFill>
                <a:latin typeface="Inter Semi Bold"/>
              </a:rPr>
              <a:t>Hundreds of CSS / partitions</a:t>
            </a:r>
          </a:p>
        </p:txBody>
      </p:sp>
      <p:sp>
        <p:nvSpPr>
          <p:cNvPr id="15" name="Right Arrow 14"/>
          <p:cNvSpPr/>
          <p:nvPr/>
        </p:nvSpPr>
        <p:spPr>
          <a:xfrm>
            <a:off x="4087368" y="3017520"/>
            <a:ext cx="502920" cy="777240"/>
          </a:xfrm>
          <a:prstGeom prst="rightArrow">
            <a:avLst/>
          </a:prstGeom>
          <a:gradFill rotWithShape="1">
            <a:gsLst>
              <a:gs pos="0">
                <a:srgbClr val="FF9000"/>
              </a:gs>
              <a:gs pos="100000">
                <a:srgbClr val="FF007F"/>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6" name="Rounded Rectangle 15"/>
          <p:cNvSpPr/>
          <p:nvPr/>
        </p:nvSpPr>
        <p:spPr>
          <a:xfrm>
            <a:off x="4681728" y="1371600"/>
            <a:ext cx="3657600" cy="4114800"/>
          </a:xfrm>
          <a:prstGeom prst="roundRect">
            <a:avLst>
              <a:gd name="adj" fmla="val 4500"/>
            </a:avLst>
          </a:prstGeom>
          <a:gradFill rotWithShape="1">
            <a:gsLst>
              <a:gs pos="0">
                <a:srgbClr val="FF9000"/>
              </a:gs>
              <a:gs pos="100000">
                <a:srgbClr val="FF007F"/>
              </a:gs>
            </a:gsLst>
            <a:lin scaled="0" ang="18900000"/>
          </a:gra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sp>
        <p:nvSpPr>
          <p:cNvPr id="17" name="TextBox 16"/>
          <p:cNvSpPr txBox="1"/>
          <p:nvPr/>
        </p:nvSpPr>
        <p:spPr>
          <a:xfrm>
            <a:off x="4937760" y="1536192"/>
            <a:ext cx="3200400" cy="365760"/>
          </a:xfrm>
          <a:prstGeom prst="rect">
            <a:avLst/>
          </a:prstGeom>
          <a:noFill/>
        </p:spPr>
        <p:txBody>
          <a:bodyPr wrap="square" anchor="t" lIns="0" tIns="0" rIns="0" bIns="0">
            <a:noAutofit/>
          </a:bodyPr>
          <a:lstStyle/>
          <a:p>
            <a:pPr algn="l">
              <a:spcAft>
                <a:spcPts val="0"/>
              </a:spcAft>
            </a:pPr>
            <a:r>
              <a:rPr sz="1500" b="0" i="0">
                <a:solidFill>
                  <a:srgbClr val="FFFFFF"/>
                </a:solidFill>
                <a:latin typeface="Inter Semi Bold"/>
              </a:rPr>
              <a:t>BUILT ON WEBEX</a:t>
            </a:r>
          </a:p>
        </p:txBody>
      </p:sp>
      <p:sp>
        <p:nvSpPr>
          <p:cNvPr id="18" name="Rounded Rectangle 17"/>
          <p:cNvSpPr/>
          <p:nvPr/>
        </p:nvSpPr>
        <p:spPr>
          <a:xfrm>
            <a:off x="4937760" y="2011680"/>
            <a:ext cx="3154680" cy="9144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19" name="Picture 18" descr="integration_FF9000.png"/>
          <p:cNvPicPr>
            <a:picLocks noChangeAspect="1"/>
          </p:cNvPicPr>
          <p:nvPr/>
        </p:nvPicPr>
        <p:blipFill>
          <a:blip r:embed="rId2"/>
          <a:stretch>
            <a:fillRect/>
          </a:stretch>
        </p:blipFill>
        <p:spPr>
          <a:xfrm>
            <a:off x="5074920" y="2240280"/>
            <a:ext cx="457200" cy="457200"/>
          </a:xfrm>
          <a:prstGeom prst="rect">
            <a:avLst/>
          </a:prstGeom>
        </p:spPr>
      </p:pic>
      <p:sp>
        <p:nvSpPr>
          <p:cNvPr id="20" name="TextBox 19"/>
          <p:cNvSpPr txBox="1"/>
          <p:nvPr/>
        </p:nvSpPr>
        <p:spPr>
          <a:xfrm>
            <a:off x="5669280" y="2103120"/>
            <a:ext cx="2377440" cy="411480"/>
          </a:xfrm>
          <a:prstGeom prst="rect">
            <a:avLst/>
          </a:prstGeom>
          <a:noFill/>
        </p:spPr>
        <p:txBody>
          <a:bodyPr wrap="none" anchor="t" lIns="0" tIns="0" rIns="0" bIns="0">
            <a:noAutofit/>
          </a:bodyPr>
          <a:lstStyle/>
          <a:p>
            <a:pPr algn="l">
              <a:spcAft>
                <a:spcPts val="0"/>
              </a:spcAft>
            </a:pPr>
            <a:r>
              <a:rPr sz="1700" b="0" i="0">
                <a:solidFill>
                  <a:srgbClr val="0A0A0A"/>
                </a:solidFill>
                <a:latin typeface="Inter Semi Bold"/>
              </a:rPr>
              <a:t>CUBE Local Gateway</a:t>
            </a:r>
          </a:p>
        </p:txBody>
      </p:sp>
      <p:sp>
        <p:nvSpPr>
          <p:cNvPr id="21" name="TextBox 20"/>
          <p:cNvSpPr txBox="1"/>
          <p:nvPr/>
        </p:nvSpPr>
        <p:spPr>
          <a:xfrm>
            <a:off x="5669280" y="2468880"/>
            <a:ext cx="2377440" cy="411480"/>
          </a:xfrm>
          <a:prstGeom prst="rect">
            <a:avLst/>
          </a:prstGeom>
          <a:noFill/>
        </p:spPr>
        <p:txBody>
          <a:bodyPr wrap="square" anchor="t" lIns="0" tIns="0" rIns="0" bIns="0">
            <a:noAutofit/>
          </a:bodyPr>
          <a:lstStyle/>
          <a:p>
            <a:pPr algn="l">
              <a:lnSpc>
                <a:spcPct val="95000"/>
              </a:lnSpc>
              <a:spcAft>
                <a:spcPts val="0"/>
              </a:spcAft>
            </a:pPr>
            <a:r>
              <a:rPr sz="1300" b="0" i="0">
                <a:solidFill>
                  <a:srgbClr val="6B6B6B"/>
                </a:solidFill>
                <a:latin typeface="Inter"/>
              </a:rPr>
              <a:t>Generated CLI · TLS / SRTP</a:t>
            </a:r>
          </a:p>
        </p:txBody>
      </p:sp>
      <p:sp>
        <p:nvSpPr>
          <p:cNvPr id="22" name="Rounded Rectangle 21"/>
          <p:cNvSpPr/>
          <p:nvPr/>
        </p:nvSpPr>
        <p:spPr>
          <a:xfrm>
            <a:off x="4937760" y="3127248"/>
            <a:ext cx="3154680" cy="9144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23" name="Picture 22" descr="phone_FF9000.png"/>
          <p:cNvPicPr>
            <a:picLocks noChangeAspect="1"/>
          </p:cNvPicPr>
          <p:nvPr/>
        </p:nvPicPr>
        <p:blipFill>
          <a:blip r:embed="rId3"/>
          <a:stretch>
            <a:fillRect/>
          </a:stretch>
        </p:blipFill>
        <p:spPr>
          <a:xfrm>
            <a:off x="5074920" y="3355848"/>
            <a:ext cx="457200" cy="457200"/>
          </a:xfrm>
          <a:prstGeom prst="rect">
            <a:avLst/>
          </a:prstGeom>
        </p:spPr>
      </p:pic>
      <p:sp>
        <p:nvSpPr>
          <p:cNvPr id="24" name="TextBox 23"/>
          <p:cNvSpPr txBox="1"/>
          <p:nvPr/>
        </p:nvSpPr>
        <p:spPr>
          <a:xfrm>
            <a:off x="5669280" y="3218688"/>
            <a:ext cx="2377440" cy="411480"/>
          </a:xfrm>
          <a:prstGeom prst="rect">
            <a:avLst/>
          </a:prstGeom>
          <a:noFill/>
        </p:spPr>
        <p:txBody>
          <a:bodyPr wrap="none" anchor="t" lIns="0" tIns="0" rIns="0" bIns="0">
            <a:noAutofit/>
          </a:bodyPr>
          <a:lstStyle/>
          <a:p>
            <a:pPr algn="l">
              <a:spcAft>
                <a:spcPts val="0"/>
              </a:spcAft>
            </a:pPr>
            <a:r>
              <a:rPr sz="1700" b="0" i="0">
                <a:solidFill>
                  <a:srgbClr val="0A0A0A"/>
                </a:solidFill>
                <a:latin typeface="Inter Semi Bold"/>
              </a:rPr>
              <a:t>Hybrid dialing</a:t>
            </a:r>
          </a:p>
        </p:txBody>
      </p:sp>
      <p:sp>
        <p:nvSpPr>
          <p:cNvPr id="25" name="TextBox 24"/>
          <p:cNvSpPr txBox="1"/>
          <p:nvPr/>
        </p:nvSpPr>
        <p:spPr>
          <a:xfrm>
            <a:off x="5669280" y="3584448"/>
            <a:ext cx="2377440" cy="411480"/>
          </a:xfrm>
          <a:prstGeom prst="rect">
            <a:avLst/>
          </a:prstGeom>
          <a:noFill/>
        </p:spPr>
        <p:txBody>
          <a:bodyPr wrap="square" anchor="t" lIns="0" tIns="0" rIns="0" bIns="0">
            <a:noAutofit/>
          </a:bodyPr>
          <a:lstStyle/>
          <a:p>
            <a:pPr algn="l">
              <a:lnSpc>
                <a:spcPct val="95000"/>
              </a:lnSpc>
              <a:spcAft>
                <a:spcPts val="0"/>
              </a:spcAft>
            </a:pPr>
            <a:r>
              <a:rPr sz="1300" b="0" i="0">
                <a:solidFill>
                  <a:srgbClr val="6B6B6B"/>
                </a:solidFill>
                <a:latin typeface="Inter"/>
              </a:rPr>
              <a:t>+197255560XX ⇄ +197255570XX</a:t>
            </a:r>
          </a:p>
        </p:txBody>
      </p:sp>
      <p:sp>
        <p:nvSpPr>
          <p:cNvPr id="26" name="Rounded Rectangle 25"/>
          <p:cNvSpPr/>
          <p:nvPr/>
        </p:nvSpPr>
        <p:spPr>
          <a:xfrm>
            <a:off x="4937760" y="4242816"/>
            <a:ext cx="3154680" cy="9144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54864" rIns="109728" bIns="54864">
            <a:noAutofit/>
          </a:bodyPr>
          <a:lstStyle/>
          <a:p>
            <a:pPr algn="ctr">
              <a:spcAft>
                <a:spcPts val="0"/>
              </a:spcAft>
            </a:pPr>
            <a:r>
              <a:rPr sz="1800" b="0" i="0">
                <a:solidFill>
                  <a:srgbClr val="0A0A0A"/>
                </a:solidFill>
                <a:latin typeface="Inter"/>
              </a:rPr>
              <a:t/>
            </a:r>
          </a:p>
        </p:txBody>
      </p:sp>
      <p:pic>
        <p:nvPicPr>
          <p:cNvPr id="27" name="Picture 26" descr="transcript_FF9000.png"/>
          <p:cNvPicPr>
            <a:picLocks noChangeAspect="1"/>
          </p:cNvPicPr>
          <p:nvPr/>
        </p:nvPicPr>
        <p:blipFill>
          <a:blip r:embed="rId4"/>
          <a:stretch>
            <a:fillRect/>
          </a:stretch>
        </p:blipFill>
        <p:spPr>
          <a:xfrm>
            <a:off x="5074920" y="4471416"/>
            <a:ext cx="457200" cy="457200"/>
          </a:xfrm>
          <a:prstGeom prst="rect">
            <a:avLst/>
          </a:prstGeom>
        </p:spPr>
      </p:pic>
      <p:sp>
        <p:nvSpPr>
          <p:cNvPr id="28" name="TextBox 27"/>
          <p:cNvSpPr txBox="1"/>
          <p:nvPr/>
        </p:nvSpPr>
        <p:spPr>
          <a:xfrm>
            <a:off x="5669280" y="4334256"/>
            <a:ext cx="2377440" cy="411480"/>
          </a:xfrm>
          <a:prstGeom prst="rect">
            <a:avLst/>
          </a:prstGeom>
          <a:noFill/>
        </p:spPr>
        <p:txBody>
          <a:bodyPr wrap="none" anchor="t" lIns="0" tIns="0" rIns="0" bIns="0">
            <a:noAutofit/>
          </a:bodyPr>
          <a:lstStyle/>
          <a:p>
            <a:pPr algn="l">
              <a:spcAft>
                <a:spcPts val="0"/>
              </a:spcAft>
            </a:pPr>
            <a:r>
              <a:rPr sz="1700" b="0" i="0">
                <a:solidFill>
                  <a:srgbClr val="0A0A0A"/>
                </a:solidFill>
                <a:latin typeface="Inter Semi Bold"/>
              </a:rPr>
              <a:t>Voicemail AI</a:t>
            </a:r>
          </a:p>
        </p:txBody>
      </p:sp>
      <p:sp>
        <p:nvSpPr>
          <p:cNvPr id="29" name="TextBox 28"/>
          <p:cNvSpPr txBox="1"/>
          <p:nvPr/>
        </p:nvSpPr>
        <p:spPr>
          <a:xfrm>
            <a:off x="5669280" y="4700016"/>
            <a:ext cx="2377440" cy="411480"/>
          </a:xfrm>
          <a:prstGeom prst="rect">
            <a:avLst/>
          </a:prstGeom>
          <a:noFill/>
        </p:spPr>
        <p:txBody>
          <a:bodyPr wrap="square" anchor="t" lIns="0" tIns="0" rIns="0" bIns="0">
            <a:noAutofit/>
          </a:bodyPr>
          <a:lstStyle/>
          <a:p>
            <a:pPr algn="l">
              <a:lnSpc>
                <a:spcPct val="95000"/>
              </a:lnSpc>
              <a:spcAft>
                <a:spcPts val="0"/>
              </a:spcAft>
            </a:pPr>
            <a:r>
              <a:rPr sz="1300" b="0" i="0">
                <a:solidFill>
                  <a:srgbClr val="6B6B6B"/>
                </a:solidFill>
                <a:latin typeface="Inter"/>
              </a:rPr>
              <a:t>Transcripts to email + Webex App</a:t>
            </a:r>
          </a:p>
        </p:txBody>
      </p:sp>
      <p:sp>
        <p:nvSpPr>
          <p:cNvPr id="30" name="TextBox 29"/>
          <p:cNvSpPr txBox="1"/>
          <p:nvPr/>
        </p:nvSpPr>
        <p:spPr>
          <a:xfrm>
            <a:off x="8595360" y="1417320"/>
            <a:ext cx="2926080" cy="365760"/>
          </a:xfrm>
          <a:prstGeom prst="rect">
            <a:avLst/>
          </a:prstGeom>
          <a:noFill/>
        </p:spPr>
        <p:txBody>
          <a:bodyPr wrap="square" anchor="t" lIns="0" tIns="0" rIns="0" bIns="0">
            <a:noAutofit/>
          </a:bodyPr>
          <a:lstStyle/>
          <a:p>
            <a:pPr algn="l">
              <a:spcAft>
                <a:spcPts val="0"/>
              </a:spcAft>
            </a:pPr>
            <a:r>
              <a:rPr sz="1500" b="0" i="0">
                <a:solidFill>
                  <a:srgbClr val="6B6B6B"/>
                </a:solidFill>
                <a:latin typeface="Inter Semi Bold"/>
              </a:rPr>
              <a:t>IMPACT</a:t>
            </a:r>
          </a:p>
        </p:txBody>
      </p:sp>
      <p:sp>
        <p:nvSpPr>
          <p:cNvPr id="31" name="TextBox 30"/>
          <p:cNvSpPr txBox="1"/>
          <p:nvPr/>
        </p:nvSpPr>
        <p:spPr>
          <a:xfrm>
            <a:off x="8595360" y="1828800"/>
            <a:ext cx="2990088" cy="685800"/>
          </a:xfrm>
          <a:prstGeom prst="rect">
            <a:avLst/>
          </a:prstGeom>
          <a:noFill/>
        </p:spPr>
        <p:txBody>
          <a:bodyPr wrap="none" anchor="t" lIns="0" tIns="0" rIns="0" bIns="0">
            <a:noAutofit/>
          </a:bodyPr>
          <a:lstStyle/>
          <a:p>
            <a:pPr algn="l">
              <a:spcAft>
                <a:spcPts val="0"/>
              </a:spcAft>
            </a:pPr>
            <a:r>
              <a:rPr sz="4000" b="0" i="0">
                <a:solidFill>
                  <a:srgbClr val="FF9000"/>
                </a:solidFill>
                <a:latin typeface="Inter Semi Bold"/>
              </a:rPr>
              <a:t>0</a:t>
            </a:r>
          </a:p>
        </p:txBody>
      </p:sp>
      <p:sp>
        <p:nvSpPr>
          <p:cNvPr id="32" name="TextBox 31"/>
          <p:cNvSpPr txBox="1"/>
          <p:nvPr/>
        </p:nvSpPr>
        <p:spPr>
          <a:xfrm>
            <a:off x="8595360" y="2487168"/>
            <a:ext cx="2990088" cy="457200"/>
          </a:xfrm>
          <a:prstGeom prst="rect">
            <a:avLst/>
          </a:prstGeom>
          <a:noFill/>
        </p:spPr>
        <p:txBody>
          <a:bodyPr wrap="square" anchor="t" lIns="0" tIns="0" rIns="0" bIns="0">
            <a:noAutofit/>
          </a:bodyPr>
          <a:lstStyle/>
          <a:p>
            <a:pPr algn="l">
              <a:spcAft>
                <a:spcPts val="0"/>
              </a:spcAft>
            </a:pPr>
            <a:r>
              <a:rPr sz="1500" b="0" i="0">
                <a:solidFill>
                  <a:srgbClr val="282828"/>
                </a:solidFill>
                <a:latin typeface="Inter Semi Bold"/>
              </a:rPr>
              <a:t>downtime, dept-by-dept</a:t>
            </a:r>
          </a:p>
        </p:txBody>
      </p:sp>
      <p:sp>
        <p:nvSpPr>
          <p:cNvPr id="33" name="TextBox 32"/>
          <p:cNvSpPr txBox="1"/>
          <p:nvPr/>
        </p:nvSpPr>
        <p:spPr>
          <a:xfrm>
            <a:off x="8595360" y="3063240"/>
            <a:ext cx="2990088" cy="685800"/>
          </a:xfrm>
          <a:prstGeom prst="rect">
            <a:avLst/>
          </a:prstGeom>
          <a:noFill/>
        </p:spPr>
        <p:txBody>
          <a:bodyPr wrap="none" anchor="t" lIns="0" tIns="0" rIns="0" bIns="0">
            <a:noAutofit/>
          </a:bodyPr>
          <a:lstStyle/>
          <a:p>
            <a:pPr algn="l">
              <a:spcAft>
                <a:spcPts val="0"/>
              </a:spcAft>
            </a:pPr>
            <a:r>
              <a:rPr sz="4000" b="0" i="0">
                <a:solidFill>
                  <a:srgbClr val="FF9000"/>
                </a:solidFill>
                <a:latin typeface="Inter Semi Bold"/>
              </a:rPr>
              <a:t>1</a:t>
            </a:r>
          </a:p>
        </p:txBody>
      </p:sp>
      <p:sp>
        <p:nvSpPr>
          <p:cNvPr id="34" name="TextBox 33"/>
          <p:cNvSpPr txBox="1"/>
          <p:nvPr/>
        </p:nvSpPr>
        <p:spPr>
          <a:xfrm>
            <a:off x="8595360" y="3721608"/>
            <a:ext cx="2990088" cy="457200"/>
          </a:xfrm>
          <a:prstGeom prst="rect">
            <a:avLst/>
          </a:prstGeom>
          <a:noFill/>
        </p:spPr>
        <p:txBody>
          <a:bodyPr wrap="square" anchor="t" lIns="0" tIns="0" rIns="0" bIns="0">
            <a:noAutofit/>
          </a:bodyPr>
          <a:lstStyle/>
          <a:p>
            <a:pPr algn="l">
              <a:spcAft>
                <a:spcPts val="0"/>
              </a:spcAft>
            </a:pPr>
            <a:r>
              <a:rPr sz="1500" b="0" i="0">
                <a:solidFill>
                  <a:srgbClr val="282828"/>
                </a:solidFill>
                <a:latin typeface="Inter Semi Bold"/>
              </a:rPr>
              <a:t>shared PSTN trunk</a:t>
            </a:r>
          </a:p>
        </p:txBody>
      </p:sp>
      <p:sp>
        <p:nvSpPr>
          <p:cNvPr id="35" name="TextBox 34"/>
          <p:cNvSpPr txBox="1"/>
          <p:nvPr/>
        </p:nvSpPr>
        <p:spPr>
          <a:xfrm>
            <a:off x="8595360" y="4297680"/>
            <a:ext cx="2990088" cy="685800"/>
          </a:xfrm>
          <a:prstGeom prst="rect">
            <a:avLst/>
          </a:prstGeom>
          <a:noFill/>
        </p:spPr>
        <p:txBody>
          <a:bodyPr wrap="none" anchor="t" lIns="0" tIns="0" rIns="0" bIns="0">
            <a:noAutofit/>
          </a:bodyPr>
          <a:lstStyle/>
          <a:p>
            <a:pPr algn="l">
              <a:spcAft>
                <a:spcPts val="0"/>
              </a:spcAft>
            </a:pPr>
            <a:r>
              <a:rPr sz="4000" b="0" i="0">
                <a:solidFill>
                  <a:srgbClr val="FF9000"/>
                </a:solidFill>
                <a:latin typeface="Inter Semi Bold"/>
              </a:rPr>
              <a:t>Minutes</a:t>
            </a:r>
          </a:p>
        </p:txBody>
      </p:sp>
      <p:sp>
        <p:nvSpPr>
          <p:cNvPr id="36" name="TextBox 35"/>
          <p:cNvSpPr txBox="1"/>
          <p:nvPr/>
        </p:nvSpPr>
        <p:spPr>
          <a:xfrm>
            <a:off x="8595360" y="4956048"/>
            <a:ext cx="2990088" cy="457200"/>
          </a:xfrm>
          <a:prstGeom prst="rect">
            <a:avLst/>
          </a:prstGeom>
          <a:noFill/>
        </p:spPr>
        <p:txBody>
          <a:bodyPr wrap="square" anchor="t" lIns="0" tIns="0" rIns="0" bIns="0">
            <a:noAutofit/>
          </a:bodyPr>
          <a:lstStyle/>
          <a:p>
            <a:pPr algn="l">
              <a:spcAft>
                <a:spcPts val="0"/>
              </a:spcAft>
            </a:pPr>
            <a:r>
              <a:rPr sz="1500" b="0" i="0">
                <a:solidFill>
                  <a:srgbClr val="282828"/>
                </a:solidFill>
                <a:latin typeface="Inter Semi Bold"/>
              </a:rPr>
              <a:t>not weeks of dial-peers</a:t>
            </a:r>
          </a:p>
        </p:txBody>
      </p:sp>
      <p:sp>
        <p:nvSpPr>
          <p:cNvPr id="37" name="Rounded Rectangle 36"/>
          <p:cNvSpPr/>
          <p:nvPr/>
        </p:nvSpPr>
        <p:spPr>
          <a:xfrm>
            <a:off x="609904" y="5623560"/>
            <a:ext cx="10972800" cy="566928"/>
          </a:xfrm>
          <a:prstGeom prst="roundRect">
            <a:avLst>
              <a:gd name="adj" fmla="val 50000"/>
            </a:avLst>
          </a:prstGeom>
          <a:solidFill>
            <a:srgbClr val="0A0A0A"/>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45720" tIns="0" rIns="45720" bIns="0">
            <a:noAutofit/>
          </a:bodyPr>
          <a:lstStyle/>
          <a:p>
            <a:pPr algn="ctr">
              <a:spcAft>
                <a:spcPts val="0"/>
              </a:spcAft>
            </a:pPr>
            <a:r>
              <a:rPr sz="1800" b="0" i="0">
                <a:solidFill>
                  <a:srgbClr val="00C8FF"/>
                </a:solidFill>
                <a:latin typeface="Inter Semi Bold"/>
              </a:rPr>
              <a:t>Takeaway:  </a:t>
            </a:r>
            <a:r>
              <a:rPr sz="1800" b="0" i="0">
                <a:solidFill>
                  <a:srgbClr val="FFFFFF"/>
                </a:solidFill>
                <a:latin typeface="Inter Semi Bold"/>
              </a:rPr>
              <a:t>Migrate thousands of users at your own pace, without disruption.</a:t>
            </a:r>
          </a:p>
        </p:txBody>
      </p:sp>
    </p:spTree>
  </p:cSld>
  <p:clrMapOvr>
    <a:masterClrMapping/>
  </p:clrMapOvr>
</p:sld>
</file>

<file path=ppt/theme/theme1.xml><?xml version="1.0" encoding="utf-8"?>
<a:theme xmlns:a="http://schemas.openxmlformats.org/drawingml/2006/main" name="WebexOne 2026 PowerPoint Light Template">
  <a:themeElements>
    <a:clrScheme name="Custom 28">
      <a:dk1>
        <a:srgbClr val="0A0A0A"/>
      </a:dk1>
      <a:lt1>
        <a:srgbClr val="FFFFFF"/>
      </a:lt1>
      <a:dk2>
        <a:srgbClr val="282828"/>
      </a:dk2>
      <a:lt2>
        <a:srgbClr val="B4B9C0"/>
      </a:lt2>
      <a:accent1>
        <a:srgbClr val="06A8FF"/>
      </a:accent1>
      <a:accent2>
        <a:srgbClr val="0A60FF"/>
      </a:accent2>
      <a:accent3>
        <a:srgbClr val="FF007F"/>
      </a:accent3>
      <a:accent4>
        <a:srgbClr val="FF9000"/>
      </a:accent4>
      <a:accent5>
        <a:srgbClr val="D6D6D6"/>
      </a:accent5>
      <a:accent6>
        <a:srgbClr val="6B6B6B"/>
      </a:accent6>
      <a:hlink>
        <a:srgbClr val="6B6B6B"/>
      </a:hlink>
      <a:folHlink>
        <a:srgbClr val="282828"/>
      </a:folHlink>
    </a:clrScheme>
    <a:fontScheme name="Inter">
      <a:majorFont>
        <a:latin typeface="Inter Semi Bold"/>
        <a:ea typeface=""/>
        <a:cs typeface=""/>
      </a:majorFont>
      <a:minorFont>
        <a:latin typeface="Inte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5875">
          <a:solidFill>
            <a:schemeClr val="bg2"/>
          </a:solidFill>
        </a:ln>
        <a:effectLst/>
      </a:spPr>
      <a:bodyPr wrap="square" lIns="182880" tIns="182880" rIns="182880" bIns="182880" rtlCol="0" anchor="t" anchorCtr="0">
        <a:noAutofit/>
      </a:bodyPr>
      <a:lstStyle>
        <a:defPPr marL="182880" indent="-182880" algn="l">
          <a:buFont typeface="Arial" panose="020B0604020202020204" pitchFamily="34" charset="0"/>
          <a:buChar char="•"/>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WebexOne 2026 PowerPoint Light Template.potx" id="{50867DEA-FD50-4FDB-BFA5-F9657A707C61}" vid="{284EE5F9-B6B5-4615-8F97-E9BF46CD8C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2C28EF3FA65B49B2077972AEAE2A07" ma:contentTypeVersion="14" ma:contentTypeDescription="Create a new document." ma:contentTypeScope="" ma:versionID="9527ecbbb40c07acc53a29fb6f0d9a23">
  <xsd:schema xmlns:xsd="http://www.w3.org/2001/XMLSchema" xmlns:xs="http://www.w3.org/2001/XMLSchema" xmlns:p="http://schemas.microsoft.com/office/2006/metadata/properties" xmlns:ns2="86a32b10-81ff-4a0f-8d3d-2adc436414f2" xmlns:ns3="a3139f05-2a65-4fcf-a932-c2e4371cb372" targetNamespace="http://schemas.microsoft.com/office/2006/metadata/properties" ma:root="true" ma:fieldsID="dad5bdb63a3089e944de9a870a4c78cd" ns2:_="" ns3:_="">
    <xsd:import namespace="86a32b10-81ff-4a0f-8d3d-2adc436414f2"/>
    <xsd:import namespace="a3139f05-2a65-4fcf-a932-c2e4371cb37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Don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a32b10-81ff-4a0f-8d3d-2adc436414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Done" ma:index="21" nillable="true" ma:displayName="Done" ma:default="1" ma:format="Dropdown" ma:internalName="Don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a3139f05-2a65-4fcf-a932-c2e4371cb372"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ae55187-e50c-49b5-a322-8135a809e3a2}" ma:internalName="TaxCatchAll" ma:showField="CatchAllData" ma:web="a3139f05-2a65-4fcf-a932-c2e4371cb37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a3139f05-2a65-4fcf-a932-c2e4371cb372" xsi:nil="true"/>
    <lcf76f155ced4ddcb4097134ff3c332f xmlns="86a32b10-81ff-4a0f-8d3d-2adc436414f2">
      <Terms xmlns="http://schemas.microsoft.com/office/infopath/2007/PartnerControls"/>
    </lcf76f155ced4ddcb4097134ff3c332f>
    <Done xmlns="86a32b10-81ff-4a0f-8d3d-2adc436414f2">true</Don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48DC6FF-0376-4B72-9168-0DCEF23C72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a32b10-81ff-4a0f-8d3d-2adc436414f2"/>
    <ds:schemaRef ds:uri="a3139f05-2a65-4fcf-a932-c2e4371cb3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A7E153-DE13-44BB-9579-5F5838E74080}">
  <ds:schemaRefs>
    <ds:schemaRef ds:uri="http://schemas.microsoft.com/office/2006/metadata/properties"/>
    <ds:schemaRef ds:uri="e1d428bc-13f4-449c-9f48-a89f2c9cd5e6"/>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a4217139-10e9-43ec-90fc-0a5606dbd6cd"/>
    <ds:schemaRef ds:uri="http://www.w3.org/XML/1998/namespace"/>
    <ds:schemaRef ds:uri="http://purl.org/dc/dcmitype/"/>
    <ds:schemaRef ds:uri="http://purl.org/dc/terms/"/>
    <ds:schemaRef ds:uri="a3139f05-2a65-4fcf-a932-c2e4371cb372"/>
    <ds:schemaRef ds:uri="86a32b10-81ff-4a0f-8d3d-2adc436414f2"/>
  </ds:schemaRefs>
</ds:datastoreItem>
</file>

<file path=customXml/itemProps3.xml><?xml version="1.0" encoding="utf-8"?>
<ds:datastoreItem xmlns:ds="http://schemas.openxmlformats.org/officeDocument/2006/customXml" ds:itemID="{D4FF658D-B6DA-4331-8045-D8421E6B85D5}">
  <ds:schemaRefs>
    <ds:schemaRef ds:uri="http://schemas.microsoft.com/sharepoint/v3/contenttype/forms"/>
  </ds:schemaRefs>
</ds:datastoreItem>
</file>

<file path=docMetadata/LabelInfo.xml><?xml version="1.0" encoding="utf-8"?>
<clbl:labelList xmlns:clbl="http://schemas.microsoft.com/office/2020/mipLabelMetadata">
  <clbl:label id="{a189e4fd-a2fa-47bf-9b21-17f706ee2968}" enabled="1" method="Privileged" siteId="{5ae1af62-9505-4097-a69a-c1553ef7840e}" removed="0"/>
</clbl:labelList>
</file>

<file path=docProps/app.xml><?xml version="1.0" encoding="utf-8"?>
<Properties xmlns="http://schemas.openxmlformats.org/officeDocument/2006/extended-properties" xmlns:vt="http://schemas.openxmlformats.org/officeDocument/2006/docPropsVTypes">
  <Template>WebexOne 2026 PowerPoint Light Template</Template>
  <TotalTime>7</TotalTime>
  <Words>773</Words>
  <Application>Microsoft Macintosh PowerPoint</Application>
  <PresentationFormat>Widescreen</PresentationFormat>
  <Paragraphs>171</Paragraphs>
  <Slides>16</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Inter Light</vt:lpstr>
      <vt:lpstr>CiscoSansTT Light</vt:lpstr>
      <vt:lpstr>Inter Medium</vt:lpstr>
      <vt:lpstr>Aptos</vt:lpstr>
      <vt:lpstr>Inter Semi Bold</vt:lpstr>
      <vt:lpstr>Arial</vt:lpstr>
      <vt:lpstr>MS PGothic</vt:lpstr>
      <vt:lpstr>CiscoSansTT</vt:lpstr>
      <vt:lpstr>Inter</vt:lpstr>
      <vt:lpstr>WebexOne 2026 PowerPoint Light Template</vt:lpstr>
      <vt:lpstr>WebexOne 2026 light template</vt:lpstr>
      <vt:lpstr>Contents</vt:lpstr>
      <vt:lpstr>01 About the template</vt:lpstr>
      <vt:lpstr>WebexOne template overview and usage instructions</vt:lpstr>
      <vt:lpstr>Colors</vt:lpstr>
      <vt:lpstr>02 Promo Slides</vt:lpstr>
      <vt:lpstr>03 Layout examples</vt:lpstr>
      <vt:lpstr>Presentation title placeholder with two speakers</vt:lpstr>
      <vt:lpstr>Container style</vt:lpstr>
      <vt:lpstr>Big statement slide lorem ipsum dolor sit amet.</vt:lpstr>
      <vt:lpstr>Unified branch priorities</vt:lpstr>
      <vt:lpstr>04 Section Slides</vt:lpstr>
      <vt:lpstr>04 Section Slides</vt:lpstr>
      <vt:lpstr>05 Resources</vt:lpstr>
      <vt:lpstr>Marketing icons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Russ LaFleur (rlafleur)</dc:creator>
  <cp:keywords/>
  <dc:description/>
  <cp:lastModifiedBy>Stephanie Ross (stepross)</cp:lastModifiedBy>
  <cp:revision>17</cp:revision>
  <dcterms:created xsi:type="dcterms:W3CDTF">2026-06-24T15:32:04Z</dcterms:created>
  <dcterms:modified xsi:type="dcterms:W3CDTF">2026-09-28T15:39:44Z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2025-05-12T19:46:53Z</vt:lpwstr>
  </property>
  <property fmtid="{D5CDD505-2E9C-101B-9397-08002B2CF9AE}" pid="4" name="MSIP_Label_c8f49a32-fde3-48a5-9266-b5b0972a22dc_Method">
    <vt:lpwstr>Privileged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2f9f8416-086e-4373-9089-7cbb07ba9e4f</vt:lpwstr>
  </property>
  <property fmtid="{D5CDD505-2E9C-101B-9397-08002B2CF9AE}" pid="8" name="MSIP_Label_c8f49a32-fde3-48a5-9266-b5b0972a22dc_ContentBits">
    <vt:lpwstr>2</vt:lpwstr>
  </property>
  <property fmtid="{D5CDD505-2E9C-101B-9397-08002B2CF9AE}" pid="9" name="MSIP_Label_c8f49a32-fde3-48a5-9266-b5b0972a22dc_Tag">
    <vt:lpwstr>10, 0, 1, 1</vt:lpwstr>
  </property>
  <property fmtid="{D5CDD505-2E9C-101B-9397-08002B2CF9AE}" pid="10" name="ClassificationContentMarkingFooterLocations">
    <vt:lpwstr>Cisco GSX Light 06-25-2025:8</vt:lpwstr>
  </property>
  <property fmtid="{D5CDD505-2E9C-101B-9397-08002B2CF9AE}" pid="11" name="ClassificationContentMarkingFooterText">
    <vt:lpwstr>-</vt:lpwstr>
  </property>
  <property fmtid="{D5CDD505-2E9C-101B-9397-08002B2CF9AE}" pid="12" name="ContentTypeId">
    <vt:lpwstr>0x010100AF2C28EF3FA65B49B2077972AEAE2A07</vt:lpwstr>
  </property>
  <property fmtid="{D5CDD505-2E9C-101B-9397-08002B2CF9AE}" pid="13" name="MediaServiceImageTags">
    <vt:lpwstr/>
  </property>
</Properties>
</file>